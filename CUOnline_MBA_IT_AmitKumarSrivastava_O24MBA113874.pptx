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96" r:id="rId3"/>
    <p:sldId id="298"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9" r:id="rId4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7989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59B9B-19F0-6B2E-C58B-88B92DC532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D730C7-EF9B-CFB8-7B6A-6E14B8A1F0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A6CDF0-A537-2908-B7D6-6DCB36C017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3DC85F-ED43-0268-3FA3-C207DDDFE083}"/>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329510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03053-2F17-5C74-74CE-52B971E1E6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C9E255-462F-8BAC-AACA-D98FB35FE1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CD0FA-5D30-0D4F-9908-F25E89CCFE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C53B85-B2D0-EE64-49B9-8AD570E8CB7E}"/>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0665543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E2380-51E3-43F2-6AE6-F8F7F13AD1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C6FCDC-4190-79D7-DE2E-48FCE78B5F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BC7ED0-463C-EA05-7BF9-0894D71ACB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32D64D-EF3E-1789-DB4D-9A0A8E73EAB2}"/>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222184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1A3A5C"/>
            </a:solidFill>
            <a:prstDash val="solid"/>
          </a:ln>
        </p:spPr>
      </p:sp>
      <p:sp>
        <p:nvSpPr>
          <p:cNvPr id="3" name="Shape 1"/>
          <p:cNvSpPr/>
          <p:nvPr/>
        </p:nvSpPr>
        <p:spPr>
          <a:xfrm>
            <a:off x="0" y="457200"/>
            <a:ext cx="9144000" cy="0"/>
          </a:xfrm>
          <a:prstGeom prst="line">
            <a:avLst/>
          </a:prstGeom>
          <a:noFill/>
          <a:ln w="6350">
            <a:solidFill>
              <a:srgbClr val="1A3A5C"/>
            </a:solidFill>
            <a:prstDash val="solid"/>
          </a:ln>
        </p:spPr>
      </p:sp>
      <p:sp>
        <p:nvSpPr>
          <p:cNvPr id="4" name="Shape 2"/>
          <p:cNvSpPr/>
          <p:nvPr/>
        </p:nvSpPr>
        <p:spPr>
          <a:xfrm>
            <a:off x="0" y="914400"/>
            <a:ext cx="9144000" cy="0"/>
          </a:xfrm>
          <a:prstGeom prst="line">
            <a:avLst/>
          </a:prstGeom>
          <a:noFill/>
          <a:ln w="6350">
            <a:solidFill>
              <a:srgbClr val="1A3A5C"/>
            </a:solidFill>
            <a:prstDash val="solid"/>
          </a:ln>
        </p:spPr>
      </p:sp>
      <p:sp>
        <p:nvSpPr>
          <p:cNvPr id="5" name="Shape 3"/>
          <p:cNvSpPr/>
          <p:nvPr/>
        </p:nvSpPr>
        <p:spPr>
          <a:xfrm>
            <a:off x="0" y="1371600"/>
            <a:ext cx="9144000" cy="0"/>
          </a:xfrm>
          <a:prstGeom prst="line">
            <a:avLst/>
          </a:prstGeom>
          <a:noFill/>
          <a:ln w="6350">
            <a:solidFill>
              <a:srgbClr val="1A3A5C"/>
            </a:solidFill>
            <a:prstDash val="solid"/>
          </a:ln>
        </p:spPr>
      </p:sp>
      <p:sp>
        <p:nvSpPr>
          <p:cNvPr id="6" name="Shape 4"/>
          <p:cNvSpPr/>
          <p:nvPr/>
        </p:nvSpPr>
        <p:spPr>
          <a:xfrm>
            <a:off x="0" y="1828800"/>
            <a:ext cx="9144000" cy="0"/>
          </a:xfrm>
          <a:prstGeom prst="line">
            <a:avLst/>
          </a:prstGeom>
          <a:noFill/>
          <a:ln w="6350">
            <a:solidFill>
              <a:srgbClr val="1A3A5C"/>
            </a:solidFill>
            <a:prstDash val="solid"/>
          </a:ln>
        </p:spPr>
      </p:sp>
      <p:sp>
        <p:nvSpPr>
          <p:cNvPr id="7" name="Shape 5"/>
          <p:cNvSpPr/>
          <p:nvPr/>
        </p:nvSpPr>
        <p:spPr>
          <a:xfrm>
            <a:off x="0" y="2286000"/>
            <a:ext cx="9144000" cy="0"/>
          </a:xfrm>
          <a:prstGeom prst="line">
            <a:avLst/>
          </a:prstGeom>
          <a:noFill/>
          <a:ln w="6350">
            <a:solidFill>
              <a:srgbClr val="1A3A5C"/>
            </a:solidFill>
            <a:prstDash val="solid"/>
          </a:ln>
        </p:spPr>
      </p:sp>
      <p:sp>
        <p:nvSpPr>
          <p:cNvPr id="8" name="Shape 6"/>
          <p:cNvSpPr/>
          <p:nvPr/>
        </p:nvSpPr>
        <p:spPr>
          <a:xfrm>
            <a:off x="0" y="2743200"/>
            <a:ext cx="9144000" cy="0"/>
          </a:xfrm>
          <a:prstGeom prst="line">
            <a:avLst/>
          </a:prstGeom>
          <a:noFill/>
          <a:ln w="6350">
            <a:solidFill>
              <a:srgbClr val="1A3A5C"/>
            </a:solidFill>
            <a:prstDash val="solid"/>
          </a:ln>
        </p:spPr>
      </p:sp>
      <p:sp>
        <p:nvSpPr>
          <p:cNvPr id="9" name="Shape 7"/>
          <p:cNvSpPr/>
          <p:nvPr/>
        </p:nvSpPr>
        <p:spPr>
          <a:xfrm>
            <a:off x="0" y="3200400"/>
            <a:ext cx="9144000" cy="0"/>
          </a:xfrm>
          <a:prstGeom prst="line">
            <a:avLst/>
          </a:prstGeom>
          <a:noFill/>
          <a:ln w="6350">
            <a:solidFill>
              <a:srgbClr val="1A3A5C"/>
            </a:solidFill>
            <a:prstDash val="solid"/>
          </a:ln>
        </p:spPr>
      </p:sp>
      <p:sp>
        <p:nvSpPr>
          <p:cNvPr id="10" name="Shape 8"/>
          <p:cNvSpPr/>
          <p:nvPr/>
        </p:nvSpPr>
        <p:spPr>
          <a:xfrm>
            <a:off x="0" y="3657600"/>
            <a:ext cx="9144000" cy="0"/>
          </a:xfrm>
          <a:prstGeom prst="line">
            <a:avLst/>
          </a:prstGeom>
          <a:noFill/>
          <a:ln w="6350">
            <a:solidFill>
              <a:srgbClr val="1A3A5C"/>
            </a:solidFill>
            <a:prstDash val="solid"/>
          </a:ln>
        </p:spPr>
      </p:sp>
      <p:sp>
        <p:nvSpPr>
          <p:cNvPr id="11" name="Shape 9"/>
          <p:cNvSpPr/>
          <p:nvPr/>
        </p:nvSpPr>
        <p:spPr>
          <a:xfrm>
            <a:off x="0" y="4114800"/>
            <a:ext cx="9144000" cy="0"/>
          </a:xfrm>
          <a:prstGeom prst="line">
            <a:avLst/>
          </a:prstGeom>
          <a:noFill/>
          <a:ln w="6350">
            <a:solidFill>
              <a:srgbClr val="1A3A5C"/>
            </a:solidFill>
            <a:prstDash val="solid"/>
          </a:ln>
        </p:spPr>
      </p:sp>
      <p:sp>
        <p:nvSpPr>
          <p:cNvPr id="12" name="Shape 10"/>
          <p:cNvSpPr/>
          <p:nvPr/>
        </p:nvSpPr>
        <p:spPr>
          <a:xfrm>
            <a:off x="0" y="4572000"/>
            <a:ext cx="9144000" cy="0"/>
          </a:xfrm>
          <a:prstGeom prst="line">
            <a:avLst/>
          </a:prstGeom>
          <a:noFill/>
          <a:ln w="6350">
            <a:solidFill>
              <a:srgbClr val="1A3A5C"/>
            </a:solidFill>
            <a:prstDash val="solid"/>
          </a:ln>
        </p:spPr>
        <p:txBody>
          <a:bodyPr/>
          <a:lstStyle/>
          <a:p>
            <a:r>
              <a:rPr lang="en-US" dirty="0"/>
              <a:t>ss</a:t>
            </a:r>
            <a:endParaRPr lang="en-IN" dirty="0"/>
          </a:p>
        </p:txBody>
      </p:sp>
      <p:sp>
        <p:nvSpPr>
          <p:cNvPr id="13" name="Shape 11"/>
          <p:cNvSpPr/>
          <p:nvPr/>
        </p:nvSpPr>
        <p:spPr>
          <a:xfrm>
            <a:off x="0" y="5029200"/>
            <a:ext cx="9144000" cy="0"/>
          </a:xfrm>
          <a:prstGeom prst="line">
            <a:avLst/>
          </a:prstGeom>
          <a:noFill/>
          <a:ln w="6350">
            <a:solidFill>
              <a:srgbClr val="1A3A5C"/>
            </a:solidFill>
            <a:prstDash val="solid"/>
          </a:ln>
        </p:spPr>
      </p:sp>
      <p:sp>
        <p:nvSpPr>
          <p:cNvPr id="14" name="Shape 12"/>
          <p:cNvSpPr/>
          <p:nvPr/>
        </p:nvSpPr>
        <p:spPr>
          <a:xfrm>
            <a:off x="0" y="0"/>
            <a:ext cx="0" cy="5143500"/>
          </a:xfrm>
          <a:prstGeom prst="line">
            <a:avLst/>
          </a:prstGeom>
          <a:noFill/>
          <a:ln w="6350">
            <a:solidFill>
              <a:srgbClr val="1A3A5C"/>
            </a:solidFill>
            <a:prstDash val="solid"/>
          </a:ln>
        </p:spPr>
      </p:sp>
      <p:sp>
        <p:nvSpPr>
          <p:cNvPr id="15" name="Shape 13"/>
          <p:cNvSpPr/>
          <p:nvPr/>
        </p:nvSpPr>
        <p:spPr>
          <a:xfrm>
            <a:off x="457200" y="0"/>
            <a:ext cx="0" cy="5143500"/>
          </a:xfrm>
          <a:prstGeom prst="line">
            <a:avLst/>
          </a:prstGeom>
          <a:noFill/>
          <a:ln w="6350">
            <a:solidFill>
              <a:srgbClr val="1A3A5C"/>
            </a:solidFill>
            <a:prstDash val="solid"/>
          </a:ln>
        </p:spPr>
      </p:sp>
      <p:sp>
        <p:nvSpPr>
          <p:cNvPr id="16" name="Shape 14"/>
          <p:cNvSpPr/>
          <p:nvPr/>
        </p:nvSpPr>
        <p:spPr>
          <a:xfrm>
            <a:off x="914400" y="0"/>
            <a:ext cx="0" cy="5143500"/>
          </a:xfrm>
          <a:prstGeom prst="line">
            <a:avLst/>
          </a:prstGeom>
          <a:noFill/>
          <a:ln w="6350">
            <a:solidFill>
              <a:srgbClr val="1A3A5C"/>
            </a:solidFill>
            <a:prstDash val="solid"/>
          </a:ln>
        </p:spPr>
      </p:sp>
      <p:sp>
        <p:nvSpPr>
          <p:cNvPr id="17" name="Shape 15"/>
          <p:cNvSpPr/>
          <p:nvPr/>
        </p:nvSpPr>
        <p:spPr>
          <a:xfrm>
            <a:off x="1371600" y="0"/>
            <a:ext cx="0" cy="5143500"/>
          </a:xfrm>
          <a:prstGeom prst="line">
            <a:avLst/>
          </a:prstGeom>
          <a:noFill/>
          <a:ln w="6350">
            <a:solidFill>
              <a:srgbClr val="1A3A5C"/>
            </a:solidFill>
            <a:prstDash val="solid"/>
          </a:ln>
        </p:spPr>
      </p:sp>
      <p:sp>
        <p:nvSpPr>
          <p:cNvPr id="18" name="Shape 16"/>
          <p:cNvSpPr/>
          <p:nvPr/>
        </p:nvSpPr>
        <p:spPr>
          <a:xfrm>
            <a:off x="1828800" y="0"/>
            <a:ext cx="0" cy="5143500"/>
          </a:xfrm>
          <a:prstGeom prst="line">
            <a:avLst/>
          </a:prstGeom>
          <a:noFill/>
          <a:ln w="6350">
            <a:solidFill>
              <a:srgbClr val="1A3A5C"/>
            </a:solidFill>
            <a:prstDash val="solid"/>
          </a:ln>
        </p:spPr>
      </p:sp>
      <p:sp>
        <p:nvSpPr>
          <p:cNvPr id="19" name="Shape 17"/>
          <p:cNvSpPr/>
          <p:nvPr/>
        </p:nvSpPr>
        <p:spPr>
          <a:xfrm>
            <a:off x="2286000" y="0"/>
            <a:ext cx="0" cy="5143500"/>
          </a:xfrm>
          <a:prstGeom prst="line">
            <a:avLst/>
          </a:prstGeom>
          <a:noFill/>
          <a:ln w="6350">
            <a:solidFill>
              <a:srgbClr val="1A3A5C"/>
            </a:solidFill>
            <a:prstDash val="solid"/>
          </a:ln>
        </p:spPr>
      </p:sp>
      <p:sp>
        <p:nvSpPr>
          <p:cNvPr id="20" name="Shape 18"/>
          <p:cNvSpPr/>
          <p:nvPr/>
        </p:nvSpPr>
        <p:spPr>
          <a:xfrm>
            <a:off x="2743200" y="0"/>
            <a:ext cx="0" cy="5143500"/>
          </a:xfrm>
          <a:prstGeom prst="line">
            <a:avLst/>
          </a:prstGeom>
          <a:noFill/>
          <a:ln w="6350">
            <a:solidFill>
              <a:srgbClr val="1A3A5C"/>
            </a:solidFill>
            <a:prstDash val="solid"/>
          </a:ln>
        </p:spPr>
      </p:sp>
      <p:sp>
        <p:nvSpPr>
          <p:cNvPr id="21" name="Shape 19"/>
          <p:cNvSpPr/>
          <p:nvPr/>
        </p:nvSpPr>
        <p:spPr>
          <a:xfrm>
            <a:off x="3200400" y="0"/>
            <a:ext cx="0" cy="5143500"/>
          </a:xfrm>
          <a:prstGeom prst="line">
            <a:avLst/>
          </a:prstGeom>
          <a:noFill/>
          <a:ln w="6350">
            <a:solidFill>
              <a:srgbClr val="1A3A5C"/>
            </a:solidFill>
            <a:prstDash val="solid"/>
          </a:ln>
        </p:spPr>
      </p:sp>
      <p:sp>
        <p:nvSpPr>
          <p:cNvPr id="22" name="Shape 20"/>
          <p:cNvSpPr/>
          <p:nvPr/>
        </p:nvSpPr>
        <p:spPr>
          <a:xfrm>
            <a:off x="3657600" y="0"/>
            <a:ext cx="0" cy="5143500"/>
          </a:xfrm>
          <a:prstGeom prst="line">
            <a:avLst/>
          </a:prstGeom>
          <a:noFill/>
          <a:ln w="6350">
            <a:solidFill>
              <a:srgbClr val="1A3A5C"/>
            </a:solidFill>
            <a:prstDash val="solid"/>
          </a:ln>
        </p:spPr>
      </p:sp>
      <p:sp>
        <p:nvSpPr>
          <p:cNvPr id="23" name="Shape 21"/>
          <p:cNvSpPr/>
          <p:nvPr/>
        </p:nvSpPr>
        <p:spPr>
          <a:xfrm>
            <a:off x="4114800" y="0"/>
            <a:ext cx="0" cy="5143500"/>
          </a:xfrm>
          <a:prstGeom prst="line">
            <a:avLst/>
          </a:prstGeom>
          <a:noFill/>
          <a:ln w="6350">
            <a:solidFill>
              <a:srgbClr val="1A3A5C"/>
            </a:solidFill>
            <a:prstDash val="solid"/>
          </a:ln>
        </p:spPr>
      </p:sp>
      <p:sp>
        <p:nvSpPr>
          <p:cNvPr id="24" name="Shape 22"/>
          <p:cNvSpPr/>
          <p:nvPr/>
        </p:nvSpPr>
        <p:spPr>
          <a:xfrm>
            <a:off x="4572000" y="0"/>
            <a:ext cx="0" cy="5143500"/>
          </a:xfrm>
          <a:prstGeom prst="line">
            <a:avLst/>
          </a:prstGeom>
          <a:noFill/>
          <a:ln w="6350">
            <a:solidFill>
              <a:srgbClr val="1A3A5C"/>
            </a:solidFill>
            <a:prstDash val="solid"/>
          </a:ln>
        </p:spPr>
      </p:sp>
      <p:sp>
        <p:nvSpPr>
          <p:cNvPr id="25" name="Shape 23"/>
          <p:cNvSpPr/>
          <p:nvPr/>
        </p:nvSpPr>
        <p:spPr>
          <a:xfrm>
            <a:off x="5029200" y="0"/>
            <a:ext cx="0" cy="5143500"/>
          </a:xfrm>
          <a:prstGeom prst="line">
            <a:avLst/>
          </a:prstGeom>
          <a:noFill/>
          <a:ln w="6350">
            <a:solidFill>
              <a:srgbClr val="1A3A5C"/>
            </a:solidFill>
            <a:prstDash val="solid"/>
          </a:ln>
        </p:spPr>
      </p:sp>
      <p:sp>
        <p:nvSpPr>
          <p:cNvPr id="26" name="Shape 24"/>
          <p:cNvSpPr/>
          <p:nvPr/>
        </p:nvSpPr>
        <p:spPr>
          <a:xfrm>
            <a:off x="5486400" y="0"/>
            <a:ext cx="0" cy="5143500"/>
          </a:xfrm>
          <a:prstGeom prst="line">
            <a:avLst/>
          </a:prstGeom>
          <a:noFill/>
          <a:ln w="6350">
            <a:solidFill>
              <a:srgbClr val="1A3A5C"/>
            </a:solidFill>
            <a:prstDash val="solid"/>
          </a:ln>
        </p:spPr>
      </p:sp>
      <p:sp>
        <p:nvSpPr>
          <p:cNvPr id="27" name="Shape 25"/>
          <p:cNvSpPr/>
          <p:nvPr/>
        </p:nvSpPr>
        <p:spPr>
          <a:xfrm>
            <a:off x="5943600" y="0"/>
            <a:ext cx="0" cy="5143500"/>
          </a:xfrm>
          <a:prstGeom prst="line">
            <a:avLst/>
          </a:prstGeom>
          <a:noFill/>
          <a:ln w="6350">
            <a:solidFill>
              <a:srgbClr val="1A3A5C"/>
            </a:solidFill>
            <a:prstDash val="solid"/>
          </a:ln>
        </p:spPr>
      </p:sp>
      <p:sp>
        <p:nvSpPr>
          <p:cNvPr id="28" name="Shape 26"/>
          <p:cNvSpPr/>
          <p:nvPr/>
        </p:nvSpPr>
        <p:spPr>
          <a:xfrm>
            <a:off x="6400800" y="0"/>
            <a:ext cx="0" cy="5143500"/>
          </a:xfrm>
          <a:prstGeom prst="line">
            <a:avLst/>
          </a:prstGeom>
          <a:noFill/>
          <a:ln w="6350">
            <a:solidFill>
              <a:srgbClr val="1A3A5C"/>
            </a:solidFill>
            <a:prstDash val="solid"/>
          </a:ln>
        </p:spPr>
      </p:sp>
      <p:sp>
        <p:nvSpPr>
          <p:cNvPr id="29" name="Shape 27"/>
          <p:cNvSpPr/>
          <p:nvPr/>
        </p:nvSpPr>
        <p:spPr>
          <a:xfrm>
            <a:off x="6858000" y="0"/>
            <a:ext cx="0" cy="5143500"/>
          </a:xfrm>
          <a:prstGeom prst="line">
            <a:avLst/>
          </a:prstGeom>
          <a:noFill/>
          <a:ln w="6350">
            <a:solidFill>
              <a:srgbClr val="1A3A5C"/>
            </a:solidFill>
            <a:prstDash val="solid"/>
          </a:ln>
        </p:spPr>
      </p:sp>
      <p:sp>
        <p:nvSpPr>
          <p:cNvPr id="30" name="Shape 28"/>
          <p:cNvSpPr/>
          <p:nvPr/>
        </p:nvSpPr>
        <p:spPr>
          <a:xfrm>
            <a:off x="7315200" y="0"/>
            <a:ext cx="0" cy="5143500"/>
          </a:xfrm>
          <a:prstGeom prst="line">
            <a:avLst/>
          </a:prstGeom>
          <a:noFill/>
          <a:ln w="6350">
            <a:solidFill>
              <a:srgbClr val="1A3A5C"/>
            </a:solidFill>
            <a:prstDash val="solid"/>
          </a:ln>
        </p:spPr>
      </p:sp>
      <p:sp>
        <p:nvSpPr>
          <p:cNvPr id="31" name="Shape 29"/>
          <p:cNvSpPr/>
          <p:nvPr/>
        </p:nvSpPr>
        <p:spPr>
          <a:xfrm>
            <a:off x="7772400" y="64008"/>
            <a:ext cx="0" cy="5143500"/>
          </a:xfrm>
          <a:prstGeom prst="line">
            <a:avLst/>
          </a:prstGeom>
          <a:noFill/>
          <a:ln w="6350">
            <a:solidFill>
              <a:srgbClr val="1A3A5C"/>
            </a:solidFill>
            <a:prstDash val="solid"/>
          </a:ln>
        </p:spPr>
      </p:sp>
      <p:sp>
        <p:nvSpPr>
          <p:cNvPr id="32" name="Shape 30"/>
          <p:cNvSpPr/>
          <p:nvPr/>
        </p:nvSpPr>
        <p:spPr>
          <a:xfrm>
            <a:off x="8229600" y="0"/>
            <a:ext cx="0" cy="5143500"/>
          </a:xfrm>
          <a:prstGeom prst="line">
            <a:avLst/>
          </a:prstGeom>
          <a:noFill/>
          <a:ln w="6350">
            <a:solidFill>
              <a:srgbClr val="1A3A5C"/>
            </a:solidFill>
            <a:prstDash val="solid"/>
          </a:ln>
        </p:spPr>
      </p:sp>
      <p:sp>
        <p:nvSpPr>
          <p:cNvPr id="33" name="Shape 31"/>
          <p:cNvSpPr/>
          <p:nvPr/>
        </p:nvSpPr>
        <p:spPr>
          <a:xfrm>
            <a:off x="8686800" y="0"/>
            <a:ext cx="0" cy="5143500"/>
          </a:xfrm>
          <a:prstGeom prst="line">
            <a:avLst/>
          </a:prstGeom>
          <a:noFill/>
          <a:ln w="6350">
            <a:solidFill>
              <a:srgbClr val="1A3A5C"/>
            </a:solidFill>
            <a:prstDash val="solid"/>
          </a:ln>
        </p:spPr>
      </p:sp>
      <p:sp>
        <p:nvSpPr>
          <p:cNvPr id="34" name="Shape 32"/>
          <p:cNvSpPr/>
          <p:nvPr/>
        </p:nvSpPr>
        <p:spPr>
          <a:xfrm>
            <a:off x="9144000" y="0"/>
            <a:ext cx="0" cy="5143500"/>
          </a:xfrm>
          <a:prstGeom prst="line">
            <a:avLst/>
          </a:prstGeom>
          <a:noFill/>
          <a:ln w="6350">
            <a:solidFill>
              <a:srgbClr val="1A3A5C"/>
            </a:solidFill>
            <a:prstDash val="solid"/>
          </a:ln>
        </p:spPr>
      </p:sp>
      <p:sp>
        <p:nvSpPr>
          <p:cNvPr id="36" name="Shape 34"/>
          <p:cNvSpPr/>
          <p:nvPr/>
        </p:nvSpPr>
        <p:spPr>
          <a:xfrm>
            <a:off x="0" y="0"/>
            <a:ext cx="9144000" cy="64008"/>
          </a:xfrm>
          <a:prstGeom prst="rect">
            <a:avLst/>
          </a:prstGeom>
          <a:solidFill>
            <a:srgbClr val="00B4D8"/>
          </a:solidFill>
          <a:ln w="12700">
            <a:solidFill>
              <a:srgbClr val="00B4D8"/>
            </a:solidFill>
            <a:prstDash val="solid"/>
          </a:ln>
        </p:spPr>
      </p:sp>
      <p:sp>
        <p:nvSpPr>
          <p:cNvPr id="37" name="Shape 35"/>
          <p:cNvSpPr/>
          <p:nvPr/>
        </p:nvSpPr>
        <p:spPr>
          <a:xfrm>
            <a:off x="0" y="64008"/>
            <a:ext cx="54864" cy="5079492"/>
          </a:xfrm>
          <a:prstGeom prst="rect">
            <a:avLst/>
          </a:prstGeom>
          <a:solidFill>
            <a:srgbClr val="0077B6"/>
          </a:solidFill>
          <a:ln w="12700">
            <a:solidFill>
              <a:srgbClr val="0077B6"/>
            </a:solidFill>
            <a:prstDash val="solid"/>
          </a:ln>
        </p:spPr>
      </p:sp>
      <p:sp>
        <p:nvSpPr>
          <p:cNvPr id="38" name="Shape 36"/>
          <p:cNvSpPr/>
          <p:nvPr/>
        </p:nvSpPr>
        <p:spPr>
          <a:xfrm>
            <a:off x="548640" y="1005840"/>
            <a:ext cx="2926080" cy="2926080"/>
          </a:xfrm>
          <a:prstGeom prst="roundRect">
            <a:avLst>
              <a:gd name="adj" fmla="val 6250"/>
            </a:avLst>
          </a:prstGeom>
          <a:solidFill>
            <a:srgbClr val="0D2B55">
              <a:alpha val="80000"/>
            </a:srgbClr>
          </a:solidFill>
          <a:ln w="25400">
            <a:solidFill>
              <a:srgbClr val="00B4D8"/>
            </a:solidFill>
            <a:prstDash val="solid"/>
          </a:ln>
        </p:spPr>
      </p:sp>
      <p:sp>
        <p:nvSpPr>
          <p:cNvPr id="39" name="Text 37"/>
          <p:cNvSpPr/>
          <p:nvPr/>
        </p:nvSpPr>
        <p:spPr>
          <a:xfrm>
            <a:off x="548640" y="1188720"/>
            <a:ext cx="2926080" cy="2560320"/>
          </a:xfrm>
          <a:prstGeom prst="rect">
            <a:avLst/>
          </a:prstGeom>
          <a:noFill/>
          <a:ln/>
        </p:spPr>
        <p:txBody>
          <a:bodyPr wrap="square" rtlCol="0" anchor="ctr"/>
          <a:lstStyle/>
          <a:p>
            <a:pPr marL="0" indent="0" algn="ctr">
              <a:buNone/>
            </a:pPr>
            <a:endParaRPr lang="en-US" sz="9000" dirty="0"/>
          </a:p>
        </p:txBody>
      </p:sp>
      <p:sp>
        <p:nvSpPr>
          <p:cNvPr id="40" name="Text 38"/>
          <p:cNvSpPr/>
          <p:nvPr/>
        </p:nvSpPr>
        <p:spPr>
          <a:xfrm>
            <a:off x="3945994" y="295422"/>
            <a:ext cx="5212080" cy="640080"/>
          </a:xfrm>
          <a:prstGeom prst="rect">
            <a:avLst/>
          </a:prstGeom>
          <a:noFill/>
          <a:ln/>
        </p:spPr>
        <p:txBody>
          <a:bodyPr wrap="square" rtlCol="0" anchor="ctr"/>
          <a:lstStyle/>
          <a:p>
            <a:pPr marL="0" indent="0">
              <a:buNone/>
            </a:pPr>
            <a:r>
              <a:rPr lang="en-US" sz="2200" b="1" kern="0" spc="400" dirty="0">
                <a:solidFill>
                  <a:srgbClr val="8B9DC3"/>
                </a:solidFill>
                <a:latin typeface="Calibri" pitchFamily="34" charset="0"/>
                <a:ea typeface="Calibri" pitchFamily="34" charset="-122"/>
                <a:cs typeface="Calibri" pitchFamily="34" charset="-120"/>
              </a:rPr>
              <a:t>THE ROLE OF AI IN</a:t>
            </a:r>
            <a:endParaRPr lang="en-US" sz="2200" dirty="0"/>
          </a:p>
        </p:txBody>
      </p:sp>
      <p:sp>
        <p:nvSpPr>
          <p:cNvPr id="41" name="Text 39"/>
          <p:cNvSpPr/>
          <p:nvPr/>
        </p:nvSpPr>
        <p:spPr>
          <a:xfrm>
            <a:off x="3945994" y="742065"/>
            <a:ext cx="5212080" cy="1828800"/>
          </a:xfrm>
          <a:prstGeom prst="rect">
            <a:avLst/>
          </a:prstGeom>
          <a:noFill/>
          <a:ln/>
        </p:spPr>
        <p:txBody>
          <a:bodyPr wrap="square" rtlCol="0" anchor="ctr"/>
          <a:lstStyle/>
          <a:p>
            <a:pPr marL="0" indent="0">
              <a:lnSpc>
                <a:spcPct val="110000"/>
              </a:lnSpc>
              <a:buNone/>
            </a:pPr>
            <a:r>
              <a:rPr lang="en-US" sz="3400" b="1" dirty="0">
                <a:solidFill>
                  <a:srgbClr val="FFFFFF"/>
                </a:solidFill>
                <a:latin typeface="Calibri" pitchFamily="34" charset="0"/>
                <a:ea typeface="Calibri" pitchFamily="34" charset="-122"/>
                <a:cs typeface="Calibri" pitchFamily="34" charset="-120"/>
              </a:rPr>
              <a:t>ENHANCING</a:t>
            </a:r>
            <a:endParaRPr lang="en-US" sz="3400" dirty="0"/>
          </a:p>
          <a:p>
            <a:pPr marL="0" indent="0">
              <a:lnSpc>
                <a:spcPct val="110000"/>
              </a:lnSpc>
              <a:buNone/>
            </a:pPr>
            <a:r>
              <a:rPr lang="en-US" sz="3400" b="1" dirty="0">
                <a:solidFill>
                  <a:srgbClr val="FFFFFF"/>
                </a:solidFill>
                <a:latin typeface="Calibri" pitchFamily="34" charset="0"/>
                <a:ea typeface="Calibri" pitchFamily="34" charset="-122"/>
                <a:cs typeface="Calibri" pitchFamily="34" charset="-120"/>
              </a:rPr>
              <a:t>CYBERSECURITY</a:t>
            </a:r>
            <a:endParaRPr lang="en-US" sz="3400" dirty="0"/>
          </a:p>
          <a:p>
            <a:pPr marL="0" indent="0">
              <a:lnSpc>
                <a:spcPct val="110000"/>
              </a:lnSpc>
              <a:buNone/>
            </a:pPr>
            <a:r>
              <a:rPr lang="en-US" sz="3400" b="1" dirty="0">
                <a:solidFill>
                  <a:srgbClr val="FFFFFF"/>
                </a:solidFill>
                <a:latin typeface="Calibri" pitchFamily="34" charset="0"/>
                <a:ea typeface="Calibri" pitchFamily="34" charset="-122"/>
                <a:cs typeface="Calibri" pitchFamily="34" charset="-120"/>
              </a:rPr>
              <a:t>MEASURES</a:t>
            </a:r>
            <a:endParaRPr lang="en-US" sz="3400" dirty="0"/>
          </a:p>
        </p:txBody>
      </p:sp>
      <p:sp>
        <p:nvSpPr>
          <p:cNvPr id="42" name="Shape 40"/>
          <p:cNvSpPr/>
          <p:nvPr/>
        </p:nvSpPr>
        <p:spPr>
          <a:xfrm flipV="1">
            <a:off x="4051495" y="2507565"/>
            <a:ext cx="3657595" cy="45719"/>
          </a:xfrm>
          <a:prstGeom prst="rect">
            <a:avLst/>
          </a:prstGeom>
          <a:solidFill>
            <a:srgbClr val="00B4D8"/>
          </a:solidFill>
          <a:ln w="12700">
            <a:solidFill>
              <a:srgbClr val="00B4D8"/>
            </a:solidFill>
            <a:prstDash val="solid"/>
          </a:ln>
        </p:spPr>
      </p:sp>
      <p:grpSp>
        <p:nvGrpSpPr>
          <p:cNvPr id="48" name="Group 47">
            <a:extLst>
              <a:ext uri="{FF2B5EF4-FFF2-40B4-BE49-F238E27FC236}">
                <a16:creationId xmlns:a16="http://schemas.microsoft.com/office/drawing/2014/main" id="{B5181EE7-D3F9-CCE9-73AA-A79E5BAA22E3}"/>
              </a:ext>
            </a:extLst>
          </p:cNvPr>
          <p:cNvGrpSpPr/>
          <p:nvPr/>
        </p:nvGrpSpPr>
        <p:grpSpPr>
          <a:xfrm>
            <a:off x="3945994" y="2528663"/>
            <a:ext cx="5212080" cy="960120"/>
            <a:chOff x="3657600" y="2338747"/>
            <a:chExt cx="5212080" cy="960120"/>
          </a:xfrm>
        </p:grpSpPr>
        <p:sp>
          <p:nvSpPr>
            <p:cNvPr id="43" name="Text 41"/>
            <p:cNvSpPr/>
            <p:nvPr/>
          </p:nvSpPr>
          <p:spPr>
            <a:xfrm>
              <a:off x="3657600" y="2338747"/>
              <a:ext cx="5212080" cy="320040"/>
            </a:xfrm>
            <a:prstGeom prst="rect">
              <a:avLst/>
            </a:prstGeom>
            <a:noFill/>
            <a:ln/>
          </p:spPr>
          <p:txBody>
            <a:bodyPr wrap="square" rtlCol="0" anchor="ctr"/>
            <a:lstStyle/>
            <a:p>
              <a:pPr marL="0" indent="0">
                <a:buNone/>
              </a:pPr>
              <a:r>
                <a:rPr lang="en-US" sz="1200" b="1" dirty="0">
                  <a:solidFill>
                    <a:srgbClr val="8B9DC3"/>
                  </a:solidFill>
                  <a:latin typeface="Calibri" pitchFamily="34" charset="0"/>
                  <a:ea typeface="Calibri" pitchFamily="34" charset="-122"/>
                  <a:cs typeface="Calibri" pitchFamily="34" charset="-120"/>
                </a:rPr>
                <a:t>Course Code: 23ONMBR-767  |  MBA 4th Semester</a:t>
              </a:r>
              <a:endParaRPr lang="en-US" sz="1200" b="1" dirty="0"/>
            </a:p>
          </p:txBody>
        </p:sp>
        <p:sp>
          <p:nvSpPr>
            <p:cNvPr id="44" name="Text 42"/>
            <p:cNvSpPr/>
            <p:nvPr/>
          </p:nvSpPr>
          <p:spPr>
            <a:xfrm>
              <a:off x="3657600" y="2658787"/>
              <a:ext cx="5212080" cy="274320"/>
            </a:xfrm>
            <a:prstGeom prst="rect">
              <a:avLst/>
            </a:prstGeom>
            <a:noFill/>
            <a:ln/>
          </p:spPr>
          <p:txBody>
            <a:bodyPr wrap="square"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Specialization: Information Technology</a:t>
              </a:r>
              <a:endParaRPr lang="en-US" sz="1200" b="1" dirty="0"/>
            </a:p>
          </p:txBody>
        </p:sp>
        <p:sp>
          <p:nvSpPr>
            <p:cNvPr id="45" name="Text 43"/>
            <p:cNvSpPr/>
            <p:nvPr/>
          </p:nvSpPr>
          <p:spPr>
            <a:xfrm>
              <a:off x="3657600" y="3024547"/>
              <a:ext cx="5212080" cy="274320"/>
            </a:xfrm>
            <a:prstGeom prst="rect">
              <a:avLst/>
            </a:prstGeom>
            <a:noFill/>
            <a:ln/>
          </p:spPr>
          <p:txBody>
            <a:bodyPr wrap="square" rtlCol="0" anchor="ctr"/>
            <a:lstStyle/>
            <a:p>
              <a:pPr marL="0" indent="0">
                <a:buNone/>
              </a:pPr>
              <a:r>
                <a:rPr lang="en-US" sz="1100" b="1" dirty="0">
                  <a:solidFill>
                    <a:srgbClr val="8B9DC3"/>
                  </a:solidFill>
                  <a:latin typeface="Calibri" pitchFamily="34" charset="0"/>
                  <a:ea typeface="Calibri" pitchFamily="34" charset="-122"/>
                  <a:cs typeface="Calibri" pitchFamily="34" charset="-120"/>
                </a:rPr>
                <a:t>Chandigarh University  |  CU Online</a:t>
              </a:r>
              <a:endParaRPr lang="en-US" sz="1100" b="1" dirty="0"/>
            </a:p>
          </p:txBody>
        </p:sp>
      </p:grpSp>
      <p:sp>
        <p:nvSpPr>
          <p:cNvPr id="46" name="Shape 44"/>
          <p:cNvSpPr/>
          <p:nvPr/>
        </p:nvSpPr>
        <p:spPr>
          <a:xfrm>
            <a:off x="0" y="4983480"/>
            <a:ext cx="9144000" cy="160020"/>
          </a:xfrm>
          <a:prstGeom prst="rect">
            <a:avLst/>
          </a:prstGeom>
          <a:solidFill>
            <a:srgbClr val="0D2B55"/>
          </a:solidFill>
          <a:ln w="12700">
            <a:solidFill>
              <a:srgbClr val="0D2B55"/>
            </a:solidFill>
            <a:prstDash val="solid"/>
          </a:ln>
        </p:spPr>
      </p:sp>
      <p:sp>
        <p:nvSpPr>
          <p:cNvPr id="47" name="Text 4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Academic Research Project  •  Information Technology</a:t>
            </a:r>
            <a:endParaRPr lang="en-US" sz="900" dirty="0"/>
          </a:p>
        </p:txBody>
      </p:sp>
      <p:pic>
        <p:nvPicPr>
          <p:cNvPr id="49" name="Picture 48">
            <a:extLst>
              <a:ext uri="{FF2B5EF4-FFF2-40B4-BE49-F238E27FC236}">
                <a16:creationId xmlns:a16="http://schemas.microsoft.com/office/drawing/2014/main" id="{8D144240-0C1C-981F-72C8-52BD38C2578F}"/>
              </a:ext>
            </a:extLst>
          </p:cNvPr>
          <p:cNvPicPr>
            <a:picLocks noChangeAspect="1"/>
          </p:cNvPicPr>
          <p:nvPr/>
        </p:nvPicPr>
        <p:blipFill>
          <a:blip r:embed="rId3"/>
          <a:stretch>
            <a:fillRect/>
          </a:stretch>
        </p:blipFill>
        <p:spPr>
          <a:xfrm>
            <a:off x="1140613" y="1014631"/>
            <a:ext cx="1814179" cy="2903221"/>
          </a:xfrm>
          <a:prstGeom prst="rect">
            <a:avLst/>
          </a:prstGeom>
        </p:spPr>
      </p:pic>
      <p:sp>
        <p:nvSpPr>
          <p:cNvPr id="53" name="TextBox 52">
            <a:extLst>
              <a:ext uri="{FF2B5EF4-FFF2-40B4-BE49-F238E27FC236}">
                <a16:creationId xmlns:a16="http://schemas.microsoft.com/office/drawing/2014/main" id="{9A4D0D16-EC29-3353-24ED-66FEF74DC926}"/>
              </a:ext>
            </a:extLst>
          </p:cNvPr>
          <p:cNvSpPr txBox="1"/>
          <p:nvPr/>
        </p:nvSpPr>
        <p:spPr>
          <a:xfrm>
            <a:off x="6791176" y="4146887"/>
            <a:ext cx="2215664" cy="646331"/>
          </a:xfrm>
          <a:prstGeom prst="rect">
            <a:avLst/>
          </a:prstGeom>
          <a:noFill/>
        </p:spPr>
        <p:txBody>
          <a:bodyPr wrap="square" rtlCol="0">
            <a:spAutoFit/>
          </a:bodyPr>
          <a:lstStyle/>
          <a:p>
            <a:r>
              <a:rPr lang="en-US" sz="1200" b="1" dirty="0">
                <a:solidFill>
                  <a:schemeClr val="bg1"/>
                </a:solidFill>
                <a:latin typeface="Calibri" pitchFamily="34" charset="0"/>
                <a:ea typeface="Calibri" pitchFamily="34" charset="-122"/>
                <a:cs typeface="Calibri" pitchFamily="34" charset="-120"/>
              </a:rPr>
              <a:t>              </a:t>
            </a:r>
            <a:r>
              <a:rPr lang="en-US" sz="1200" b="1" dirty="0">
                <a:solidFill>
                  <a:srgbClr val="00B4D8"/>
                </a:solidFill>
                <a:latin typeface="Calibri" pitchFamily="34" charset="0"/>
                <a:ea typeface="Calibri" pitchFamily="34" charset="-122"/>
                <a:cs typeface="Calibri" pitchFamily="34" charset="-120"/>
              </a:rPr>
              <a:t>Submitted by:</a:t>
            </a:r>
            <a:br>
              <a:rPr lang="en-US" dirty="0">
                <a:solidFill>
                  <a:schemeClr val="bg1"/>
                </a:solidFill>
              </a:rPr>
            </a:br>
            <a:r>
              <a:rPr lang="en-US" sz="1200" dirty="0">
                <a:solidFill>
                  <a:schemeClr val="bg1"/>
                </a:solidFill>
                <a:latin typeface="Calibri" pitchFamily="34" charset="0"/>
                <a:ea typeface="Calibri" pitchFamily="34" charset="-122"/>
                <a:cs typeface="Calibri" pitchFamily="34" charset="-120"/>
              </a:rPr>
              <a:t>Name: Amit Kumar Srivastava</a:t>
            </a:r>
            <a:br>
              <a:rPr lang="en-US" sz="1200" dirty="0">
                <a:solidFill>
                  <a:schemeClr val="bg1"/>
                </a:solidFill>
                <a:latin typeface="Calibri" pitchFamily="34" charset="0"/>
                <a:ea typeface="Calibri" pitchFamily="34" charset="-122"/>
                <a:cs typeface="Calibri" pitchFamily="34" charset="-120"/>
              </a:rPr>
            </a:br>
            <a:r>
              <a:rPr lang="en-US" sz="1200" dirty="0">
                <a:solidFill>
                  <a:schemeClr val="bg1"/>
                </a:solidFill>
                <a:latin typeface="Calibri" pitchFamily="34" charset="0"/>
                <a:ea typeface="Calibri" pitchFamily="34" charset="-122"/>
                <a:cs typeface="Calibri" pitchFamily="34" charset="-120"/>
              </a:rPr>
              <a:t>UID: 024MBA113874</a:t>
            </a:r>
          </a:p>
        </p:txBody>
      </p:sp>
      <p:sp>
        <p:nvSpPr>
          <p:cNvPr id="35" name="TextBox 34">
            <a:extLst>
              <a:ext uri="{FF2B5EF4-FFF2-40B4-BE49-F238E27FC236}">
                <a16:creationId xmlns:a16="http://schemas.microsoft.com/office/drawing/2014/main" id="{EDE693D7-A5BF-2E2B-3BD5-CCD92ADCE470}"/>
              </a:ext>
            </a:extLst>
          </p:cNvPr>
          <p:cNvSpPr txBox="1"/>
          <p:nvPr/>
        </p:nvSpPr>
        <p:spPr>
          <a:xfrm>
            <a:off x="3953019" y="3821381"/>
            <a:ext cx="2215664" cy="261610"/>
          </a:xfrm>
          <a:prstGeom prst="rect">
            <a:avLst/>
          </a:prstGeom>
          <a:noFill/>
        </p:spPr>
        <p:txBody>
          <a:bodyPr wrap="square" rtlCol="0">
            <a:spAutoFit/>
          </a:bodyPr>
          <a:lstStyle/>
          <a:p>
            <a:r>
              <a:rPr lang="en-US" sz="1100" b="1" dirty="0">
                <a:solidFill>
                  <a:srgbClr val="8B9DC3"/>
                </a:solidFill>
                <a:latin typeface="Calibri" pitchFamily="34" charset="0"/>
                <a:ea typeface="Calibri" pitchFamily="34" charset="-122"/>
                <a:cs typeface="Calibri" pitchFamily="34" charset="-120"/>
              </a:rPr>
              <a:t>Academic Year:  2024-2025</a:t>
            </a:r>
          </a:p>
        </p:txBody>
      </p:sp>
      <p:sp>
        <p:nvSpPr>
          <p:cNvPr id="50" name="TextBox 49">
            <a:extLst>
              <a:ext uri="{FF2B5EF4-FFF2-40B4-BE49-F238E27FC236}">
                <a16:creationId xmlns:a16="http://schemas.microsoft.com/office/drawing/2014/main" id="{C37FD6DC-8C9F-FCCA-7F9A-8E502D001661}"/>
              </a:ext>
            </a:extLst>
          </p:cNvPr>
          <p:cNvSpPr txBox="1"/>
          <p:nvPr/>
        </p:nvSpPr>
        <p:spPr>
          <a:xfrm>
            <a:off x="3943636" y="3551749"/>
            <a:ext cx="4588417" cy="276999"/>
          </a:xfrm>
          <a:prstGeom prst="rect">
            <a:avLst/>
          </a:prstGeom>
          <a:noFill/>
        </p:spPr>
        <p:txBody>
          <a:bodyPr wrap="square" rtlCol="0">
            <a:spAutoFit/>
          </a:bodyPr>
          <a:lstStyle/>
          <a:p>
            <a:r>
              <a:rPr lang="en-US" sz="1200" b="1" dirty="0">
                <a:solidFill>
                  <a:srgbClr val="00B4D8"/>
                </a:solidFill>
                <a:latin typeface="Calibri" pitchFamily="34" charset="0"/>
                <a:ea typeface="Calibri" pitchFamily="34" charset="-122"/>
                <a:cs typeface="Calibri" pitchFamily="34" charset="-120"/>
              </a:rPr>
              <a:t>Course Coordinator:  Dr Monika Singh, Professor &amp; AD</a:t>
            </a:r>
            <a:endParaRPr lang="en-US" sz="1200" dirty="0">
              <a:solidFill>
                <a:schemeClr val="bg1"/>
              </a:solidFill>
              <a:latin typeface="Calibri" pitchFamily="34" charset="0"/>
              <a:ea typeface="Calibri" pitchFamily="34" charset="-122"/>
              <a:cs typeface="Calibri"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299CB4FD-C5DF-5648-0C43-3BF549A66DE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F83CD39-00C3-23EC-A943-CD244804B7BA}"/>
              </a:ext>
            </a:extLst>
          </p:cNvPr>
          <p:cNvSpPr/>
          <p:nvPr/>
        </p:nvSpPr>
        <p:spPr>
          <a:xfrm>
            <a:off x="0" y="0"/>
            <a:ext cx="9144000" cy="64008"/>
          </a:xfrm>
          <a:prstGeom prst="rect">
            <a:avLst/>
          </a:prstGeom>
          <a:solidFill>
            <a:srgbClr val="00B4D8"/>
          </a:solidFill>
          <a:ln w="12700">
            <a:solidFill>
              <a:srgbClr val="00B4D8"/>
            </a:solidFill>
            <a:prstDash val="solid"/>
          </a:ln>
        </p:spPr>
      </p:sp>
      <p:sp>
        <p:nvSpPr>
          <p:cNvPr id="55" name="Shape 53">
            <a:extLst>
              <a:ext uri="{FF2B5EF4-FFF2-40B4-BE49-F238E27FC236}">
                <a16:creationId xmlns:a16="http://schemas.microsoft.com/office/drawing/2014/main" id="{137F43AD-3A24-4A04-2B73-05455236CE77}"/>
              </a:ext>
            </a:extLst>
          </p:cNvPr>
          <p:cNvSpPr/>
          <p:nvPr/>
        </p:nvSpPr>
        <p:spPr>
          <a:xfrm>
            <a:off x="0" y="4983480"/>
            <a:ext cx="9144000" cy="160020"/>
          </a:xfrm>
          <a:prstGeom prst="rect">
            <a:avLst/>
          </a:prstGeom>
          <a:solidFill>
            <a:srgbClr val="0D2B55"/>
          </a:solidFill>
          <a:ln w="12700">
            <a:solidFill>
              <a:srgbClr val="0D2B55"/>
            </a:solidFill>
            <a:prstDash val="solid"/>
          </a:ln>
        </p:spPr>
      </p:sp>
      <p:sp>
        <p:nvSpPr>
          <p:cNvPr id="56" name="Text 54">
            <a:extLst>
              <a:ext uri="{FF2B5EF4-FFF2-40B4-BE49-F238E27FC236}">
                <a16:creationId xmlns:a16="http://schemas.microsoft.com/office/drawing/2014/main" id="{F7787A75-A757-552B-2ED4-BB58DEBA6DF8}"/>
              </a:ext>
            </a:extLst>
          </p:cNvPr>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11" name="Text 1">
            <a:extLst>
              <a:ext uri="{FF2B5EF4-FFF2-40B4-BE49-F238E27FC236}">
                <a16:creationId xmlns:a16="http://schemas.microsoft.com/office/drawing/2014/main" id="{7B199B80-82A5-8A46-D70B-B2E64CAD0B25}"/>
              </a:ext>
            </a:extLst>
          </p:cNvPr>
          <p:cNvSpPr/>
          <p:nvPr/>
        </p:nvSpPr>
        <p:spPr>
          <a:xfrm>
            <a:off x="457200" y="182880"/>
            <a:ext cx="8229600" cy="50292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Declaration</a:t>
            </a:r>
            <a:endParaRPr lang="en-US" sz="2800" dirty="0"/>
          </a:p>
        </p:txBody>
      </p:sp>
      <p:sp>
        <p:nvSpPr>
          <p:cNvPr id="12" name="Text 7">
            <a:extLst>
              <a:ext uri="{FF2B5EF4-FFF2-40B4-BE49-F238E27FC236}">
                <a16:creationId xmlns:a16="http://schemas.microsoft.com/office/drawing/2014/main" id="{CE5B8B83-4D49-0F26-51F7-2E21B6376AE2}"/>
              </a:ext>
            </a:extLst>
          </p:cNvPr>
          <p:cNvSpPr/>
          <p:nvPr/>
        </p:nvSpPr>
        <p:spPr>
          <a:xfrm>
            <a:off x="365760" y="1078992"/>
            <a:ext cx="8412480" cy="1005840"/>
          </a:xfrm>
          <a:prstGeom prst="rect">
            <a:avLst/>
          </a:prstGeom>
          <a:noFill/>
          <a:ln/>
        </p:spPr>
        <p:txBody>
          <a:bodyPr wrap="square" rtlCol="0" anchor="ctr"/>
          <a:lstStyle/>
          <a:p>
            <a:pPr marL="0" indent="0">
              <a:buNone/>
            </a:pPr>
            <a:endParaRPr lang="en-US" sz="1300" dirty="0"/>
          </a:p>
        </p:txBody>
      </p:sp>
      <p:sp>
        <p:nvSpPr>
          <p:cNvPr id="14" name="TextBox 13">
            <a:extLst>
              <a:ext uri="{FF2B5EF4-FFF2-40B4-BE49-F238E27FC236}">
                <a16:creationId xmlns:a16="http://schemas.microsoft.com/office/drawing/2014/main" id="{7954859F-E1F4-D76B-467B-9A493D8E6570}"/>
              </a:ext>
            </a:extLst>
          </p:cNvPr>
          <p:cNvSpPr txBox="1"/>
          <p:nvPr/>
        </p:nvSpPr>
        <p:spPr>
          <a:xfrm>
            <a:off x="626012" y="1308296"/>
            <a:ext cx="7786469" cy="3062377"/>
          </a:xfrm>
          <a:prstGeom prst="rect">
            <a:avLst/>
          </a:prstGeom>
          <a:noFill/>
        </p:spPr>
        <p:txBody>
          <a:bodyPr wrap="square" rtlCol="0">
            <a:spAutoFit/>
          </a:bodyPr>
          <a:lstStyle/>
          <a:p>
            <a:pPr algn="just">
              <a:lnSpc>
                <a:spcPct val="150000"/>
              </a:lnSpc>
            </a:pPr>
            <a:r>
              <a:rPr lang="en-US" sz="1200" dirty="0">
                <a:solidFill>
                  <a:schemeClr val="bg1"/>
                </a:solidFill>
                <a:latin typeface="Calibri" pitchFamily="34" charset="0"/>
                <a:ea typeface="Calibri" pitchFamily="34" charset="-122"/>
                <a:cs typeface="Calibri" pitchFamily="34" charset="-120"/>
              </a:rPr>
              <a:t>I hereby declare that the project titled “The Role of Artificial Intelligence in Enhancing Cybersecurity Measures” is my original work, carried out under the guidance of Dr. Monika Singh, Professor &amp; Academic Director, CU Online. It has not been submitted elsewhere for any degree or diploma, and all sources have been duly acknowledged. The plagiarism level has been maintained within university guidelines.</a:t>
            </a:r>
          </a:p>
          <a:p>
            <a:pPr algn="just"/>
            <a:endParaRPr lang="en-US" sz="1200" dirty="0">
              <a:solidFill>
                <a:schemeClr val="bg1"/>
              </a:solidFill>
              <a:latin typeface="Calibri" pitchFamily="34" charset="0"/>
              <a:ea typeface="Calibri" pitchFamily="34" charset="-122"/>
              <a:cs typeface="Calibri" pitchFamily="34" charset="-120"/>
            </a:endParaRPr>
          </a:p>
          <a:p>
            <a:pPr algn="just"/>
            <a:endParaRPr lang="en-US" sz="1200" dirty="0">
              <a:solidFill>
                <a:schemeClr val="bg1"/>
              </a:solidFill>
              <a:latin typeface="Calibri" pitchFamily="34" charset="0"/>
              <a:ea typeface="Calibri" pitchFamily="34" charset="-122"/>
              <a:cs typeface="Calibri" pitchFamily="34" charset="-120"/>
            </a:endParaRPr>
          </a:p>
          <a:p>
            <a:pPr algn="just"/>
            <a:r>
              <a:rPr lang="en-US" sz="1200" dirty="0">
                <a:solidFill>
                  <a:schemeClr val="bg1"/>
                </a:solidFill>
                <a:latin typeface="Calibri" pitchFamily="34" charset="0"/>
                <a:ea typeface="Calibri" pitchFamily="34" charset="-122"/>
                <a:cs typeface="Calibri" pitchFamily="34" charset="-120"/>
              </a:rPr>
              <a:t>Name:  Amit Kumar Srivastava</a:t>
            </a:r>
          </a:p>
          <a:p>
            <a:pPr algn="just"/>
            <a:endParaRPr lang="en-US" sz="1200" dirty="0">
              <a:solidFill>
                <a:schemeClr val="bg1"/>
              </a:solidFill>
              <a:latin typeface="Calibri" pitchFamily="34" charset="0"/>
              <a:ea typeface="Calibri" pitchFamily="34" charset="-122"/>
              <a:cs typeface="Calibri" pitchFamily="34" charset="-120"/>
            </a:endParaRPr>
          </a:p>
          <a:p>
            <a:pPr algn="just"/>
            <a:r>
              <a:rPr lang="en-US" sz="1200" dirty="0">
                <a:solidFill>
                  <a:schemeClr val="bg1"/>
                </a:solidFill>
                <a:latin typeface="Calibri" pitchFamily="34" charset="0"/>
                <a:ea typeface="Calibri" pitchFamily="34" charset="-122"/>
                <a:cs typeface="Calibri" pitchFamily="34" charset="-120"/>
              </a:rPr>
              <a:t>UID:  O24MBA113874</a:t>
            </a:r>
          </a:p>
          <a:p>
            <a:pPr algn="just"/>
            <a:endParaRPr lang="en-US" sz="1200" dirty="0">
              <a:solidFill>
                <a:schemeClr val="bg1"/>
              </a:solidFill>
              <a:latin typeface="Calibri" pitchFamily="34" charset="0"/>
              <a:ea typeface="Calibri" pitchFamily="34" charset="-122"/>
              <a:cs typeface="Calibri" pitchFamily="34" charset="-120"/>
            </a:endParaRPr>
          </a:p>
          <a:p>
            <a:pPr algn="just"/>
            <a:r>
              <a:rPr lang="en-US" sz="1200" dirty="0">
                <a:solidFill>
                  <a:schemeClr val="bg1"/>
                </a:solidFill>
                <a:latin typeface="Calibri" pitchFamily="34" charset="0"/>
                <a:ea typeface="Calibri" pitchFamily="34" charset="-122"/>
                <a:cs typeface="Calibri" pitchFamily="34" charset="-120"/>
              </a:rPr>
              <a:t>Signature:   </a:t>
            </a:r>
          </a:p>
          <a:p>
            <a:pPr algn="just"/>
            <a:endParaRPr lang="en-US" sz="1200" dirty="0">
              <a:solidFill>
                <a:schemeClr val="bg1"/>
              </a:solidFill>
              <a:latin typeface="Calibri" pitchFamily="34" charset="0"/>
              <a:ea typeface="Calibri" pitchFamily="34" charset="-122"/>
              <a:cs typeface="Calibri" pitchFamily="34" charset="-120"/>
            </a:endParaRPr>
          </a:p>
          <a:p>
            <a:pPr algn="just"/>
            <a:r>
              <a:rPr lang="en-US" sz="1200" dirty="0">
                <a:solidFill>
                  <a:schemeClr val="bg1"/>
                </a:solidFill>
                <a:latin typeface="Calibri" pitchFamily="34" charset="0"/>
                <a:ea typeface="Calibri" pitchFamily="34" charset="-122"/>
                <a:cs typeface="Calibri" pitchFamily="34" charset="-120"/>
              </a:rPr>
              <a:t>Date:   </a:t>
            </a:r>
          </a:p>
          <a:p>
            <a:pPr algn="just"/>
            <a:endParaRPr lang="en-IN" sz="1300" dirty="0">
              <a:solidFill>
                <a:schemeClr val="bg1"/>
              </a:solidFill>
            </a:endParaRPr>
          </a:p>
        </p:txBody>
      </p:sp>
      <p:sp>
        <p:nvSpPr>
          <p:cNvPr id="3" name="Shape 2">
            <a:extLst>
              <a:ext uri="{FF2B5EF4-FFF2-40B4-BE49-F238E27FC236}">
                <a16:creationId xmlns:a16="http://schemas.microsoft.com/office/drawing/2014/main" id="{350F5D9B-7E71-3585-C0E2-6ED8E037B8D2}"/>
              </a:ext>
            </a:extLst>
          </p:cNvPr>
          <p:cNvSpPr/>
          <p:nvPr/>
        </p:nvSpPr>
        <p:spPr>
          <a:xfrm>
            <a:off x="3657600" y="642892"/>
            <a:ext cx="1871007" cy="54864"/>
          </a:xfrm>
          <a:prstGeom prst="rect">
            <a:avLst/>
          </a:prstGeom>
          <a:solidFill>
            <a:srgbClr val="00B4D8"/>
          </a:solidFill>
          <a:ln w="12700">
            <a:solidFill>
              <a:srgbClr val="00B4D8"/>
            </a:solidFill>
            <a:prstDash val="solid"/>
          </a:ln>
        </p:spPr>
      </p:sp>
    </p:spTree>
    <p:extLst>
      <p:ext uri="{BB962C8B-B14F-4D97-AF65-F5344CB8AC3E}">
        <p14:creationId xmlns:p14="http://schemas.microsoft.com/office/powerpoint/2010/main" val="3861329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E8631D33-A5DD-F60A-9039-0F1B7DFEE9A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3ACB8D6-56A5-9E81-A214-6B3D388488DA}"/>
              </a:ext>
            </a:extLst>
          </p:cNvPr>
          <p:cNvSpPr/>
          <p:nvPr/>
        </p:nvSpPr>
        <p:spPr>
          <a:xfrm>
            <a:off x="0" y="0"/>
            <a:ext cx="9144000" cy="64008"/>
          </a:xfrm>
          <a:prstGeom prst="rect">
            <a:avLst/>
          </a:prstGeom>
          <a:solidFill>
            <a:srgbClr val="00B4D8"/>
          </a:solidFill>
          <a:ln w="12700">
            <a:solidFill>
              <a:srgbClr val="00B4D8"/>
            </a:solidFill>
            <a:prstDash val="solid"/>
          </a:ln>
        </p:spPr>
      </p:sp>
      <p:sp>
        <p:nvSpPr>
          <p:cNvPr id="55" name="Shape 53">
            <a:extLst>
              <a:ext uri="{FF2B5EF4-FFF2-40B4-BE49-F238E27FC236}">
                <a16:creationId xmlns:a16="http://schemas.microsoft.com/office/drawing/2014/main" id="{BBD6BE2E-52FA-7DA7-85A4-D5303C5B21B7}"/>
              </a:ext>
            </a:extLst>
          </p:cNvPr>
          <p:cNvSpPr/>
          <p:nvPr/>
        </p:nvSpPr>
        <p:spPr>
          <a:xfrm>
            <a:off x="0" y="4983480"/>
            <a:ext cx="9144000" cy="160020"/>
          </a:xfrm>
          <a:prstGeom prst="rect">
            <a:avLst/>
          </a:prstGeom>
          <a:solidFill>
            <a:srgbClr val="0D2B55"/>
          </a:solidFill>
          <a:ln w="12700">
            <a:solidFill>
              <a:srgbClr val="0D2B55"/>
            </a:solidFill>
            <a:prstDash val="solid"/>
          </a:ln>
        </p:spPr>
      </p:sp>
      <p:sp>
        <p:nvSpPr>
          <p:cNvPr id="56" name="Text 54">
            <a:extLst>
              <a:ext uri="{FF2B5EF4-FFF2-40B4-BE49-F238E27FC236}">
                <a16:creationId xmlns:a16="http://schemas.microsoft.com/office/drawing/2014/main" id="{025CFF97-2D72-011C-07D9-0E85C854002F}"/>
              </a:ext>
            </a:extLst>
          </p:cNvPr>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3" name="TextBox 2">
            <a:extLst>
              <a:ext uri="{FF2B5EF4-FFF2-40B4-BE49-F238E27FC236}">
                <a16:creationId xmlns:a16="http://schemas.microsoft.com/office/drawing/2014/main" id="{69EB6550-F5A5-9C0C-17BD-91A6A1773C79}"/>
              </a:ext>
            </a:extLst>
          </p:cNvPr>
          <p:cNvSpPr txBox="1"/>
          <p:nvPr/>
        </p:nvSpPr>
        <p:spPr>
          <a:xfrm>
            <a:off x="626012" y="1012871"/>
            <a:ext cx="7786469" cy="3154710"/>
          </a:xfrm>
          <a:prstGeom prst="rect">
            <a:avLst/>
          </a:prstGeom>
          <a:noFill/>
        </p:spPr>
        <p:txBody>
          <a:bodyPr wrap="square" rtlCol="0">
            <a:spAutoFit/>
          </a:bodyPr>
          <a:lstStyle/>
          <a:p>
            <a:pPr algn="just">
              <a:lnSpc>
                <a:spcPct val="150000"/>
              </a:lnSpc>
            </a:pPr>
            <a:r>
              <a:rPr lang="en-US" sz="1200" dirty="0">
                <a:solidFill>
                  <a:schemeClr val="bg1"/>
                </a:solidFill>
                <a:latin typeface="Calibri" pitchFamily="34" charset="0"/>
                <a:ea typeface="Calibri" pitchFamily="34" charset="-122"/>
                <a:cs typeface="Calibri" pitchFamily="34" charset="-120"/>
              </a:rPr>
              <a:t>Cyber threats have grown too complex for traditional security systems. This study examines how Artificial Intelligence (AI) enhances cybersecurity through machine learning, deep learning, natural language processing, and behavioral analytics. Using surveys of 120 IT security professionals and interviews with CISOs, findings show AI reduces detection time by up to 74% and response time by 60%. Most organizations have adopted AI tools, and leaders view them as critical for future strategies. Key challenges include explainability, integration, and skill gaps. The study recommends phased AI adoption, governance frameworks, and talent development, while highlighting future research in adversarial AI defense and quantum computing.</a:t>
            </a:r>
          </a:p>
          <a:p>
            <a:pPr algn="just"/>
            <a:endParaRPr lang="en-US" sz="1200" dirty="0">
              <a:solidFill>
                <a:schemeClr val="bg1"/>
              </a:solidFill>
              <a:latin typeface="Calibri" pitchFamily="34" charset="0"/>
              <a:ea typeface="Calibri" pitchFamily="34" charset="-122"/>
              <a:cs typeface="Calibri" pitchFamily="34" charset="-120"/>
            </a:endParaRPr>
          </a:p>
          <a:p>
            <a:pPr algn="just"/>
            <a:endParaRPr lang="en-US" sz="1200" dirty="0">
              <a:solidFill>
                <a:schemeClr val="bg1"/>
              </a:solidFill>
              <a:latin typeface="Calibri" pitchFamily="34" charset="0"/>
              <a:ea typeface="Calibri" pitchFamily="34" charset="-122"/>
              <a:cs typeface="Calibri" pitchFamily="34" charset="-120"/>
            </a:endParaRPr>
          </a:p>
          <a:p>
            <a:pPr algn="just"/>
            <a:endParaRPr lang="en-US" sz="1200" dirty="0">
              <a:solidFill>
                <a:schemeClr val="bg1"/>
              </a:solidFill>
              <a:latin typeface="Calibri" pitchFamily="34" charset="0"/>
              <a:ea typeface="Calibri" pitchFamily="34" charset="-122"/>
              <a:cs typeface="Calibri" pitchFamily="34" charset="-120"/>
            </a:endParaRPr>
          </a:p>
          <a:p>
            <a:pPr algn="just"/>
            <a:r>
              <a:rPr lang="en-US" sz="1200" b="1" dirty="0">
                <a:solidFill>
                  <a:schemeClr val="bg1"/>
                </a:solidFill>
                <a:latin typeface="Calibri" pitchFamily="34" charset="0"/>
                <a:ea typeface="Calibri" pitchFamily="34" charset="-122"/>
                <a:cs typeface="Calibri" pitchFamily="34" charset="-120"/>
              </a:rPr>
              <a:t>Keywords: Artificial Intelligence, Cybersecurity, Machine Learning, Deep Learning, Threat Detection, Behavioral Analytics, Security Operations</a:t>
            </a:r>
          </a:p>
          <a:p>
            <a:pPr algn="just"/>
            <a:endParaRPr lang="en-IN" sz="1300" dirty="0">
              <a:solidFill>
                <a:schemeClr val="bg1"/>
              </a:solidFill>
            </a:endParaRPr>
          </a:p>
        </p:txBody>
      </p:sp>
      <p:sp>
        <p:nvSpPr>
          <p:cNvPr id="4" name="Text 1">
            <a:extLst>
              <a:ext uri="{FF2B5EF4-FFF2-40B4-BE49-F238E27FC236}">
                <a16:creationId xmlns:a16="http://schemas.microsoft.com/office/drawing/2014/main" id="{DE19344E-E679-E647-C18D-A34B92D32434}"/>
              </a:ext>
            </a:extLst>
          </p:cNvPr>
          <p:cNvSpPr/>
          <p:nvPr/>
        </p:nvSpPr>
        <p:spPr>
          <a:xfrm>
            <a:off x="457200" y="182880"/>
            <a:ext cx="8229600" cy="50292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Abstract</a:t>
            </a:r>
            <a:endParaRPr lang="en-US" sz="2800" dirty="0"/>
          </a:p>
        </p:txBody>
      </p:sp>
      <p:sp>
        <p:nvSpPr>
          <p:cNvPr id="5" name="Shape 2">
            <a:extLst>
              <a:ext uri="{FF2B5EF4-FFF2-40B4-BE49-F238E27FC236}">
                <a16:creationId xmlns:a16="http://schemas.microsoft.com/office/drawing/2014/main" id="{8913A2D5-8061-0213-B972-67ADC8FC1773}"/>
              </a:ext>
            </a:extLst>
          </p:cNvPr>
          <p:cNvSpPr/>
          <p:nvPr/>
        </p:nvSpPr>
        <p:spPr>
          <a:xfrm>
            <a:off x="3657600" y="642892"/>
            <a:ext cx="1871007" cy="54864"/>
          </a:xfrm>
          <a:prstGeom prst="rect">
            <a:avLst/>
          </a:prstGeom>
          <a:solidFill>
            <a:srgbClr val="00B4D8"/>
          </a:solidFill>
          <a:ln w="12700">
            <a:solidFill>
              <a:srgbClr val="00B4D8"/>
            </a:solidFill>
            <a:prstDash val="solid"/>
          </a:ln>
        </p:spPr>
      </p:sp>
    </p:spTree>
    <p:extLst>
      <p:ext uri="{BB962C8B-B14F-4D97-AF65-F5344CB8AC3E}">
        <p14:creationId xmlns:p14="http://schemas.microsoft.com/office/powerpoint/2010/main" val="3385216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B4D8"/>
          </a:solidFill>
          <a:ln w="12700">
            <a:solidFill>
              <a:srgbClr val="00B4D8"/>
            </a:solidFill>
            <a:prstDash val="solid"/>
          </a:ln>
        </p:spPr>
      </p:sp>
      <p:grpSp>
        <p:nvGrpSpPr>
          <p:cNvPr id="57" name="Group 56">
            <a:extLst>
              <a:ext uri="{FF2B5EF4-FFF2-40B4-BE49-F238E27FC236}">
                <a16:creationId xmlns:a16="http://schemas.microsoft.com/office/drawing/2014/main" id="{450CCE1E-9234-EA36-275A-32B5568B8A4A}"/>
              </a:ext>
            </a:extLst>
          </p:cNvPr>
          <p:cNvGrpSpPr/>
          <p:nvPr/>
        </p:nvGrpSpPr>
        <p:grpSpPr>
          <a:xfrm>
            <a:off x="457200" y="182880"/>
            <a:ext cx="8229600" cy="585216"/>
            <a:chOff x="457200" y="182880"/>
            <a:chExt cx="8229600" cy="585216"/>
          </a:xfrm>
        </p:grpSpPr>
        <p:sp>
          <p:nvSpPr>
            <p:cNvPr id="3" name="Text 1"/>
            <p:cNvSpPr/>
            <p:nvPr/>
          </p:nvSpPr>
          <p:spPr>
            <a:xfrm>
              <a:off x="457200" y="182880"/>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TABLE OF CONTENTS</a:t>
              </a:r>
              <a:endParaRPr lang="en-US" sz="2800" dirty="0"/>
            </a:p>
          </p:txBody>
        </p:sp>
        <p:sp>
          <p:nvSpPr>
            <p:cNvPr id="4" name="Shape 2"/>
            <p:cNvSpPr/>
            <p:nvPr/>
          </p:nvSpPr>
          <p:spPr>
            <a:xfrm>
              <a:off x="548642" y="713232"/>
              <a:ext cx="3127248" cy="54864"/>
            </a:xfrm>
            <a:prstGeom prst="rect">
              <a:avLst/>
            </a:prstGeom>
            <a:solidFill>
              <a:srgbClr val="00B4D8"/>
            </a:solidFill>
            <a:ln w="12700">
              <a:solidFill>
                <a:srgbClr val="00B4D8"/>
              </a:solidFill>
              <a:prstDash val="solid"/>
            </a:ln>
          </p:spPr>
        </p:sp>
      </p:grpSp>
      <p:sp>
        <p:nvSpPr>
          <p:cNvPr id="5" name="Shape 3"/>
          <p:cNvSpPr/>
          <p:nvPr/>
        </p:nvSpPr>
        <p:spPr>
          <a:xfrm>
            <a:off x="274320" y="914400"/>
            <a:ext cx="411480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6" name="Shape 4"/>
          <p:cNvSpPr/>
          <p:nvPr/>
        </p:nvSpPr>
        <p:spPr>
          <a:xfrm>
            <a:off x="274320" y="914400"/>
            <a:ext cx="502920" cy="658368"/>
          </a:xfrm>
          <a:prstGeom prst="rect">
            <a:avLst/>
          </a:prstGeom>
          <a:solidFill>
            <a:srgbClr val="0077B6"/>
          </a:solidFill>
          <a:ln w="12700">
            <a:solidFill>
              <a:srgbClr val="0077B6"/>
            </a:solidFill>
            <a:prstDash val="solid"/>
          </a:ln>
        </p:spPr>
      </p:sp>
      <p:sp>
        <p:nvSpPr>
          <p:cNvPr id="7" name="Text 5"/>
          <p:cNvSpPr/>
          <p:nvPr/>
        </p:nvSpPr>
        <p:spPr>
          <a:xfrm>
            <a:off x="274320" y="914400"/>
            <a:ext cx="502920" cy="65836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8" name="Text 6"/>
          <p:cNvSpPr/>
          <p:nvPr/>
        </p:nvSpPr>
        <p:spPr>
          <a:xfrm>
            <a:off x="841248" y="960120"/>
            <a:ext cx="27432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Introduction &amp; Background</a:t>
            </a:r>
            <a:endParaRPr lang="en-US" sz="1300" dirty="0"/>
          </a:p>
        </p:txBody>
      </p:sp>
      <p:sp>
        <p:nvSpPr>
          <p:cNvPr id="9" name="Text 7"/>
          <p:cNvSpPr/>
          <p:nvPr/>
        </p:nvSpPr>
        <p:spPr>
          <a:xfrm>
            <a:off x="841248" y="1298448"/>
            <a:ext cx="2743200" cy="228600"/>
          </a:xfrm>
          <a:prstGeom prst="rect">
            <a:avLst/>
          </a:prstGeom>
          <a:noFill/>
          <a:ln/>
        </p:spPr>
        <p:txBody>
          <a:bodyPr wrap="square" lIns="0" tIns="0" rIns="0" bIns="0" rtlCol="0" anchor="ctr"/>
          <a:lstStyle/>
          <a:p>
            <a:pPr marL="0" indent="0">
              <a:buNone/>
            </a:pPr>
            <a:r>
              <a:rPr lang="en-US" sz="1000" dirty="0">
                <a:solidFill>
                  <a:srgbClr val="8B9DC3"/>
                </a:solidFill>
                <a:latin typeface="Calibri" pitchFamily="34" charset="0"/>
                <a:ea typeface="Calibri" pitchFamily="34" charset="-122"/>
                <a:cs typeface="Calibri" pitchFamily="34" charset="-120"/>
              </a:rPr>
              <a:t>Slides 3–5</a:t>
            </a:r>
            <a:endParaRPr lang="en-US" sz="1000" dirty="0"/>
          </a:p>
        </p:txBody>
      </p:sp>
      <p:sp>
        <p:nvSpPr>
          <p:cNvPr id="10" name="Shape 8"/>
          <p:cNvSpPr/>
          <p:nvPr/>
        </p:nvSpPr>
        <p:spPr>
          <a:xfrm>
            <a:off x="274320" y="1719072"/>
            <a:ext cx="411480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1" name="Shape 9"/>
          <p:cNvSpPr/>
          <p:nvPr/>
        </p:nvSpPr>
        <p:spPr>
          <a:xfrm>
            <a:off x="274320" y="1719072"/>
            <a:ext cx="502920" cy="658368"/>
          </a:xfrm>
          <a:prstGeom prst="rect">
            <a:avLst/>
          </a:prstGeom>
          <a:solidFill>
            <a:srgbClr val="0077B6"/>
          </a:solidFill>
          <a:ln w="12700">
            <a:solidFill>
              <a:srgbClr val="0077B6"/>
            </a:solidFill>
            <a:prstDash val="solid"/>
          </a:ln>
        </p:spPr>
      </p:sp>
      <p:sp>
        <p:nvSpPr>
          <p:cNvPr id="12" name="Text 10"/>
          <p:cNvSpPr/>
          <p:nvPr/>
        </p:nvSpPr>
        <p:spPr>
          <a:xfrm>
            <a:off x="274320" y="1719072"/>
            <a:ext cx="502920" cy="65836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3" name="Text 11"/>
          <p:cNvSpPr/>
          <p:nvPr/>
        </p:nvSpPr>
        <p:spPr>
          <a:xfrm>
            <a:off x="841248" y="1764792"/>
            <a:ext cx="27432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Literature Review</a:t>
            </a:r>
            <a:endParaRPr lang="en-US" sz="1300" dirty="0"/>
          </a:p>
        </p:txBody>
      </p:sp>
      <p:sp>
        <p:nvSpPr>
          <p:cNvPr id="14" name="Text 12"/>
          <p:cNvSpPr/>
          <p:nvPr/>
        </p:nvSpPr>
        <p:spPr>
          <a:xfrm>
            <a:off x="841248" y="2103120"/>
            <a:ext cx="2743200" cy="228600"/>
          </a:xfrm>
          <a:prstGeom prst="rect">
            <a:avLst/>
          </a:prstGeom>
          <a:noFill/>
          <a:ln/>
        </p:spPr>
        <p:txBody>
          <a:bodyPr wrap="square" lIns="0" tIns="0" rIns="0" bIns="0" rtlCol="0" anchor="ctr"/>
          <a:lstStyle/>
          <a:p>
            <a:pPr marL="0" indent="0">
              <a:buNone/>
            </a:pPr>
            <a:r>
              <a:rPr lang="en-US" sz="1000" dirty="0">
                <a:solidFill>
                  <a:srgbClr val="8B9DC3"/>
                </a:solidFill>
                <a:latin typeface="Calibri" pitchFamily="34" charset="0"/>
                <a:ea typeface="Calibri" pitchFamily="34" charset="-122"/>
                <a:cs typeface="Calibri" pitchFamily="34" charset="-120"/>
              </a:rPr>
              <a:t>Slides 6–9</a:t>
            </a:r>
            <a:endParaRPr lang="en-US" sz="1000" dirty="0"/>
          </a:p>
        </p:txBody>
      </p:sp>
      <p:sp>
        <p:nvSpPr>
          <p:cNvPr id="15" name="Shape 13"/>
          <p:cNvSpPr/>
          <p:nvPr/>
        </p:nvSpPr>
        <p:spPr>
          <a:xfrm>
            <a:off x="274320" y="2523744"/>
            <a:ext cx="411480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6" name="Shape 14"/>
          <p:cNvSpPr/>
          <p:nvPr/>
        </p:nvSpPr>
        <p:spPr>
          <a:xfrm>
            <a:off x="274320" y="2523744"/>
            <a:ext cx="502920" cy="658368"/>
          </a:xfrm>
          <a:prstGeom prst="rect">
            <a:avLst/>
          </a:prstGeom>
          <a:solidFill>
            <a:srgbClr val="0077B6"/>
          </a:solidFill>
          <a:ln w="12700">
            <a:solidFill>
              <a:srgbClr val="0077B6"/>
            </a:solidFill>
            <a:prstDash val="solid"/>
          </a:ln>
        </p:spPr>
      </p:sp>
      <p:sp>
        <p:nvSpPr>
          <p:cNvPr id="17" name="Text 15"/>
          <p:cNvSpPr/>
          <p:nvPr/>
        </p:nvSpPr>
        <p:spPr>
          <a:xfrm>
            <a:off x="274320" y="2523744"/>
            <a:ext cx="502920" cy="65836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8" name="Text 16"/>
          <p:cNvSpPr/>
          <p:nvPr/>
        </p:nvSpPr>
        <p:spPr>
          <a:xfrm>
            <a:off x="841248" y="2569464"/>
            <a:ext cx="27432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Research Objectives</a:t>
            </a:r>
            <a:endParaRPr lang="en-US" sz="1300" dirty="0"/>
          </a:p>
        </p:txBody>
      </p:sp>
      <p:sp>
        <p:nvSpPr>
          <p:cNvPr id="19" name="Text 17"/>
          <p:cNvSpPr/>
          <p:nvPr/>
        </p:nvSpPr>
        <p:spPr>
          <a:xfrm>
            <a:off x="841248" y="2907792"/>
            <a:ext cx="2743200" cy="228600"/>
          </a:xfrm>
          <a:prstGeom prst="rect">
            <a:avLst/>
          </a:prstGeom>
          <a:noFill/>
          <a:ln/>
        </p:spPr>
        <p:txBody>
          <a:bodyPr wrap="square" lIns="0" tIns="0" rIns="0" bIns="0" rtlCol="0" anchor="ctr"/>
          <a:lstStyle/>
          <a:p>
            <a:pPr marL="0" indent="0">
              <a:buNone/>
            </a:pPr>
            <a:r>
              <a:rPr lang="en-US" sz="1000" dirty="0">
                <a:solidFill>
                  <a:srgbClr val="8B9DC3"/>
                </a:solidFill>
                <a:latin typeface="Calibri" pitchFamily="34" charset="0"/>
                <a:ea typeface="Calibri" pitchFamily="34" charset="-122"/>
                <a:cs typeface="Calibri" pitchFamily="34" charset="-120"/>
              </a:rPr>
              <a:t>Slide 10</a:t>
            </a:r>
            <a:endParaRPr lang="en-US" sz="1000" dirty="0"/>
          </a:p>
        </p:txBody>
      </p:sp>
      <p:sp>
        <p:nvSpPr>
          <p:cNvPr id="20" name="Shape 18"/>
          <p:cNvSpPr/>
          <p:nvPr/>
        </p:nvSpPr>
        <p:spPr>
          <a:xfrm>
            <a:off x="274320" y="3328416"/>
            <a:ext cx="411480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1" name="Shape 19"/>
          <p:cNvSpPr/>
          <p:nvPr/>
        </p:nvSpPr>
        <p:spPr>
          <a:xfrm>
            <a:off x="274320" y="3328416"/>
            <a:ext cx="502920" cy="658368"/>
          </a:xfrm>
          <a:prstGeom prst="rect">
            <a:avLst/>
          </a:prstGeom>
          <a:solidFill>
            <a:srgbClr val="0077B6"/>
          </a:solidFill>
          <a:ln w="12700">
            <a:solidFill>
              <a:srgbClr val="0077B6"/>
            </a:solidFill>
            <a:prstDash val="solid"/>
          </a:ln>
        </p:spPr>
      </p:sp>
      <p:sp>
        <p:nvSpPr>
          <p:cNvPr id="22" name="Text 20"/>
          <p:cNvSpPr/>
          <p:nvPr/>
        </p:nvSpPr>
        <p:spPr>
          <a:xfrm>
            <a:off x="274320" y="3328416"/>
            <a:ext cx="502920" cy="65836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3" name="Text 21"/>
          <p:cNvSpPr/>
          <p:nvPr/>
        </p:nvSpPr>
        <p:spPr>
          <a:xfrm>
            <a:off x="841248" y="3374136"/>
            <a:ext cx="27432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Research Methodology</a:t>
            </a:r>
            <a:endParaRPr lang="en-US" sz="1300" dirty="0"/>
          </a:p>
        </p:txBody>
      </p:sp>
      <p:sp>
        <p:nvSpPr>
          <p:cNvPr id="24" name="Text 22"/>
          <p:cNvSpPr/>
          <p:nvPr/>
        </p:nvSpPr>
        <p:spPr>
          <a:xfrm>
            <a:off x="841248" y="3712464"/>
            <a:ext cx="2743200" cy="228600"/>
          </a:xfrm>
          <a:prstGeom prst="rect">
            <a:avLst/>
          </a:prstGeom>
          <a:noFill/>
          <a:ln/>
        </p:spPr>
        <p:txBody>
          <a:bodyPr wrap="square" lIns="0" tIns="0" rIns="0" bIns="0" rtlCol="0" anchor="ctr"/>
          <a:lstStyle/>
          <a:p>
            <a:pPr marL="0" indent="0">
              <a:buNone/>
            </a:pPr>
            <a:r>
              <a:rPr lang="en-US" sz="1000" dirty="0">
                <a:solidFill>
                  <a:srgbClr val="8B9DC3"/>
                </a:solidFill>
                <a:latin typeface="Calibri" pitchFamily="34" charset="0"/>
                <a:ea typeface="Calibri" pitchFamily="34" charset="-122"/>
                <a:cs typeface="Calibri" pitchFamily="34" charset="-120"/>
              </a:rPr>
              <a:t>Slides 11–13</a:t>
            </a:r>
            <a:endParaRPr lang="en-US" sz="1000" dirty="0"/>
          </a:p>
        </p:txBody>
      </p:sp>
      <p:sp>
        <p:nvSpPr>
          <p:cNvPr id="25" name="Shape 23"/>
          <p:cNvSpPr/>
          <p:nvPr/>
        </p:nvSpPr>
        <p:spPr>
          <a:xfrm>
            <a:off x="274320" y="4133088"/>
            <a:ext cx="411480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6" name="Shape 24"/>
          <p:cNvSpPr/>
          <p:nvPr/>
        </p:nvSpPr>
        <p:spPr>
          <a:xfrm>
            <a:off x="274320" y="4133088"/>
            <a:ext cx="502920" cy="658368"/>
          </a:xfrm>
          <a:prstGeom prst="rect">
            <a:avLst/>
          </a:prstGeom>
          <a:solidFill>
            <a:srgbClr val="0077B6"/>
          </a:solidFill>
          <a:ln w="12700">
            <a:solidFill>
              <a:srgbClr val="0077B6"/>
            </a:solidFill>
            <a:prstDash val="solid"/>
          </a:ln>
        </p:spPr>
      </p:sp>
      <p:sp>
        <p:nvSpPr>
          <p:cNvPr id="27" name="Text 25"/>
          <p:cNvSpPr/>
          <p:nvPr/>
        </p:nvSpPr>
        <p:spPr>
          <a:xfrm>
            <a:off x="274320" y="4133088"/>
            <a:ext cx="502920" cy="65836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8" name="Text 26"/>
          <p:cNvSpPr/>
          <p:nvPr/>
        </p:nvSpPr>
        <p:spPr>
          <a:xfrm>
            <a:off x="841248" y="4178808"/>
            <a:ext cx="27432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AI Technologies in Cybersecurity</a:t>
            </a:r>
            <a:endParaRPr lang="en-US" sz="1300" dirty="0"/>
          </a:p>
        </p:txBody>
      </p:sp>
      <p:sp>
        <p:nvSpPr>
          <p:cNvPr id="29" name="Text 27"/>
          <p:cNvSpPr/>
          <p:nvPr/>
        </p:nvSpPr>
        <p:spPr>
          <a:xfrm>
            <a:off x="841248" y="4517136"/>
            <a:ext cx="2743200" cy="228600"/>
          </a:xfrm>
          <a:prstGeom prst="rect">
            <a:avLst/>
          </a:prstGeom>
          <a:noFill/>
          <a:ln/>
        </p:spPr>
        <p:txBody>
          <a:bodyPr wrap="square" lIns="0" tIns="0" rIns="0" bIns="0" rtlCol="0" anchor="ctr"/>
          <a:lstStyle/>
          <a:p>
            <a:pPr marL="0" indent="0">
              <a:buNone/>
            </a:pPr>
            <a:r>
              <a:rPr lang="en-US" sz="1000" dirty="0">
                <a:solidFill>
                  <a:srgbClr val="8B9DC3"/>
                </a:solidFill>
                <a:latin typeface="Calibri" pitchFamily="34" charset="0"/>
                <a:ea typeface="Calibri" pitchFamily="34" charset="-122"/>
                <a:cs typeface="Calibri" pitchFamily="34" charset="-120"/>
              </a:rPr>
              <a:t>Slides 14–19</a:t>
            </a:r>
            <a:endParaRPr lang="en-US" sz="1000" dirty="0"/>
          </a:p>
        </p:txBody>
      </p:sp>
      <p:sp>
        <p:nvSpPr>
          <p:cNvPr id="30" name="Shape 28"/>
          <p:cNvSpPr/>
          <p:nvPr/>
        </p:nvSpPr>
        <p:spPr>
          <a:xfrm>
            <a:off x="4754880" y="914400"/>
            <a:ext cx="411480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31" name="Shape 29"/>
          <p:cNvSpPr/>
          <p:nvPr/>
        </p:nvSpPr>
        <p:spPr>
          <a:xfrm>
            <a:off x="4754880" y="914400"/>
            <a:ext cx="502920" cy="658368"/>
          </a:xfrm>
          <a:prstGeom prst="rect">
            <a:avLst/>
          </a:prstGeom>
          <a:solidFill>
            <a:srgbClr val="0077B6"/>
          </a:solidFill>
          <a:ln w="12700">
            <a:solidFill>
              <a:srgbClr val="0077B6"/>
            </a:solidFill>
            <a:prstDash val="solid"/>
          </a:ln>
        </p:spPr>
      </p:sp>
      <p:sp>
        <p:nvSpPr>
          <p:cNvPr id="32" name="Text 30"/>
          <p:cNvSpPr/>
          <p:nvPr/>
        </p:nvSpPr>
        <p:spPr>
          <a:xfrm>
            <a:off x="4754880" y="914400"/>
            <a:ext cx="502920" cy="65836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33" name="Text 31"/>
          <p:cNvSpPr/>
          <p:nvPr/>
        </p:nvSpPr>
        <p:spPr>
          <a:xfrm>
            <a:off x="5321808" y="960120"/>
            <a:ext cx="27432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Applications &amp; Case Studies</a:t>
            </a:r>
            <a:endParaRPr lang="en-US" sz="1300" dirty="0"/>
          </a:p>
        </p:txBody>
      </p:sp>
      <p:sp>
        <p:nvSpPr>
          <p:cNvPr id="34" name="Text 32"/>
          <p:cNvSpPr/>
          <p:nvPr/>
        </p:nvSpPr>
        <p:spPr>
          <a:xfrm>
            <a:off x="5321808" y="1298448"/>
            <a:ext cx="2743200" cy="228600"/>
          </a:xfrm>
          <a:prstGeom prst="rect">
            <a:avLst/>
          </a:prstGeom>
          <a:noFill/>
          <a:ln/>
        </p:spPr>
        <p:txBody>
          <a:bodyPr wrap="square" lIns="0" tIns="0" rIns="0" bIns="0" rtlCol="0" anchor="ctr"/>
          <a:lstStyle/>
          <a:p>
            <a:pPr marL="0" indent="0">
              <a:buNone/>
            </a:pPr>
            <a:r>
              <a:rPr lang="en-US" sz="1000" dirty="0">
                <a:solidFill>
                  <a:srgbClr val="8B9DC3"/>
                </a:solidFill>
                <a:latin typeface="Calibri" pitchFamily="34" charset="0"/>
                <a:ea typeface="Calibri" pitchFamily="34" charset="-122"/>
                <a:cs typeface="Calibri" pitchFamily="34" charset="-120"/>
              </a:rPr>
              <a:t>Slides 20–25</a:t>
            </a:r>
            <a:endParaRPr lang="en-US" sz="1000" dirty="0"/>
          </a:p>
        </p:txBody>
      </p:sp>
      <p:sp>
        <p:nvSpPr>
          <p:cNvPr id="35" name="Shape 33"/>
          <p:cNvSpPr/>
          <p:nvPr/>
        </p:nvSpPr>
        <p:spPr>
          <a:xfrm>
            <a:off x="4754880" y="1719072"/>
            <a:ext cx="411480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36" name="Shape 34"/>
          <p:cNvSpPr/>
          <p:nvPr/>
        </p:nvSpPr>
        <p:spPr>
          <a:xfrm>
            <a:off x="4754880" y="1719072"/>
            <a:ext cx="502920" cy="658368"/>
          </a:xfrm>
          <a:prstGeom prst="rect">
            <a:avLst/>
          </a:prstGeom>
          <a:solidFill>
            <a:srgbClr val="0077B6"/>
          </a:solidFill>
          <a:ln w="12700">
            <a:solidFill>
              <a:srgbClr val="0077B6"/>
            </a:solidFill>
            <a:prstDash val="solid"/>
          </a:ln>
        </p:spPr>
      </p:sp>
      <p:sp>
        <p:nvSpPr>
          <p:cNvPr id="37" name="Text 35"/>
          <p:cNvSpPr/>
          <p:nvPr/>
        </p:nvSpPr>
        <p:spPr>
          <a:xfrm>
            <a:off x="4754880" y="1719072"/>
            <a:ext cx="502920" cy="65836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07</a:t>
            </a:r>
            <a:endParaRPr lang="en-US" sz="1400" dirty="0"/>
          </a:p>
        </p:txBody>
      </p:sp>
      <p:sp>
        <p:nvSpPr>
          <p:cNvPr id="38" name="Text 36"/>
          <p:cNvSpPr/>
          <p:nvPr/>
        </p:nvSpPr>
        <p:spPr>
          <a:xfrm>
            <a:off x="5321808" y="1764792"/>
            <a:ext cx="27432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Threats &amp; Challenges</a:t>
            </a:r>
            <a:endParaRPr lang="en-US" sz="1300" dirty="0"/>
          </a:p>
        </p:txBody>
      </p:sp>
      <p:sp>
        <p:nvSpPr>
          <p:cNvPr id="39" name="Text 37"/>
          <p:cNvSpPr/>
          <p:nvPr/>
        </p:nvSpPr>
        <p:spPr>
          <a:xfrm>
            <a:off x="5321808" y="2103120"/>
            <a:ext cx="2743200" cy="228600"/>
          </a:xfrm>
          <a:prstGeom prst="rect">
            <a:avLst/>
          </a:prstGeom>
          <a:noFill/>
          <a:ln/>
        </p:spPr>
        <p:txBody>
          <a:bodyPr wrap="square" lIns="0" tIns="0" rIns="0" bIns="0" rtlCol="0" anchor="ctr"/>
          <a:lstStyle/>
          <a:p>
            <a:pPr marL="0" indent="0">
              <a:buNone/>
            </a:pPr>
            <a:r>
              <a:rPr lang="en-US" sz="1000" dirty="0">
                <a:solidFill>
                  <a:srgbClr val="8B9DC3"/>
                </a:solidFill>
                <a:latin typeface="Calibri" pitchFamily="34" charset="0"/>
                <a:ea typeface="Calibri" pitchFamily="34" charset="-122"/>
                <a:cs typeface="Calibri" pitchFamily="34" charset="-120"/>
              </a:rPr>
              <a:t>Slides 26–29</a:t>
            </a:r>
            <a:endParaRPr lang="en-US" sz="1000" dirty="0"/>
          </a:p>
        </p:txBody>
      </p:sp>
      <p:sp>
        <p:nvSpPr>
          <p:cNvPr id="40" name="Shape 38"/>
          <p:cNvSpPr/>
          <p:nvPr/>
        </p:nvSpPr>
        <p:spPr>
          <a:xfrm>
            <a:off x="4754880" y="2523744"/>
            <a:ext cx="411480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41" name="Shape 39"/>
          <p:cNvSpPr/>
          <p:nvPr/>
        </p:nvSpPr>
        <p:spPr>
          <a:xfrm>
            <a:off x="4754880" y="2523744"/>
            <a:ext cx="502920" cy="658368"/>
          </a:xfrm>
          <a:prstGeom prst="rect">
            <a:avLst/>
          </a:prstGeom>
          <a:solidFill>
            <a:srgbClr val="0077B6"/>
          </a:solidFill>
          <a:ln w="12700">
            <a:solidFill>
              <a:srgbClr val="0077B6"/>
            </a:solidFill>
            <a:prstDash val="solid"/>
          </a:ln>
        </p:spPr>
      </p:sp>
      <p:sp>
        <p:nvSpPr>
          <p:cNvPr id="42" name="Text 40"/>
          <p:cNvSpPr/>
          <p:nvPr/>
        </p:nvSpPr>
        <p:spPr>
          <a:xfrm>
            <a:off x="4754880" y="2523744"/>
            <a:ext cx="502920" cy="65836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08</a:t>
            </a:r>
            <a:endParaRPr lang="en-US" sz="1400" dirty="0"/>
          </a:p>
        </p:txBody>
      </p:sp>
      <p:sp>
        <p:nvSpPr>
          <p:cNvPr id="43" name="Text 41"/>
          <p:cNvSpPr/>
          <p:nvPr/>
        </p:nvSpPr>
        <p:spPr>
          <a:xfrm>
            <a:off x="5321808" y="2569464"/>
            <a:ext cx="27432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Analysis &amp; Results</a:t>
            </a:r>
            <a:endParaRPr lang="en-US" sz="1300" dirty="0"/>
          </a:p>
        </p:txBody>
      </p:sp>
      <p:sp>
        <p:nvSpPr>
          <p:cNvPr id="44" name="Text 42"/>
          <p:cNvSpPr/>
          <p:nvPr/>
        </p:nvSpPr>
        <p:spPr>
          <a:xfrm>
            <a:off x="5321808" y="2907792"/>
            <a:ext cx="2743200" cy="228600"/>
          </a:xfrm>
          <a:prstGeom prst="rect">
            <a:avLst/>
          </a:prstGeom>
          <a:noFill/>
          <a:ln/>
        </p:spPr>
        <p:txBody>
          <a:bodyPr wrap="square" lIns="0" tIns="0" rIns="0" bIns="0" rtlCol="0" anchor="ctr"/>
          <a:lstStyle/>
          <a:p>
            <a:pPr marL="0" indent="0">
              <a:buNone/>
            </a:pPr>
            <a:r>
              <a:rPr lang="en-US" sz="1000" dirty="0">
                <a:solidFill>
                  <a:srgbClr val="8B9DC3"/>
                </a:solidFill>
                <a:latin typeface="Calibri" pitchFamily="34" charset="0"/>
                <a:ea typeface="Calibri" pitchFamily="34" charset="-122"/>
                <a:cs typeface="Calibri" pitchFamily="34" charset="-120"/>
              </a:rPr>
              <a:t>Slides 30–33</a:t>
            </a:r>
            <a:endParaRPr lang="en-US" sz="1000" dirty="0"/>
          </a:p>
        </p:txBody>
      </p:sp>
      <p:sp>
        <p:nvSpPr>
          <p:cNvPr id="45" name="Shape 43"/>
          <p:cNvSpPr/>
          <p:nvPr/>
        </p:nvSpPr>
        <p:spPr>
          <a:xfrm>
            <a:off x="4754880" y="3328416"/>
            <a:ext cx="411480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46" name="Shape 44"/>
          <p:cNvSpPr/>
          <p:nvPr/>
        </p:nvSpPr>
        <p:spPr>
          <a:xfrm>
            <a:off x="4754880" y="3328416"/>
            <a:ext cx="502920" cy="658368"/>
          </a:xfrm>
          <a:prstGeom prst="rect">
            <a:avLst/>
          </a:prstGeom>
          <a:solidFill>
            <a:srgbClr val="0077B6"/>
          </a:solidFill>
          <a:ln w="12700">
            <a:solidFill>
              <a:srgbClr val="0077B6"/>
            </a:solidFill>
            <a:prstDash val="solid"/>
          </a:ln>
        </p:spPr>
      </p:sp>
      <p:sp>
        <p:nvSpPr>
          <p:cNvPr id="47" name="Text 45"/>
          <p:cNvSpPr/>
          <p:nvPr/>
        </p:nvSpPr>
        <p:spPr>
          <a:xfrm>
            <a:off x="4754880" y="3328416"/>
            <a:ext cx="502920" cy="65836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09</a:t>
            </a:r>
            <a:endParaRPr lang="en-US" sz="1400" dirty="0"/>
          </a:p>
        </p:txBody>
      </p:sp>
      <p:sp>
        <p:nvSpPr>
          <p:cNvPr id="48" name="Text 46"/>
          <p:cNvSpPr/>
          <p:nvPr/>
        </p:nvSpPr>
        <p:spPr>
          <a:xfrm>
            <a:off x="5321808" y="3374136"/>
            <a:ext cx="27432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Findings &amp; Recommendations</a:t>
            </a:r>
            <a:endParaRPr lang="en-US" sz="1300" dirty="0"/>
          </a:p>
        </p:txBody>
      </p:sp>
      <p:sp>
        <p:nvSpPr>
          <p:cNvPr id="49" name="Text 47"/>
          <p:cNvSpPr/>
          <p:nvPr/>
        </p:nvSpPr>
        <p:spPr>
          <a:xfrm>
            <a:off x="5321808" y="3712464"/>
            <a:ext cx="2743200" cy="228600"/>
          </a:xfrm>
          <a:prstGeom prst="rect">
            <a:avLst/>
          </a:prstGeom>
          <a:noFill/>
          <a:ln/>
        </p:spPr>
        <p:txBody>
          <a:bodyPr wrap="square" lIns="0" tIns="0" rIns="0" bIns="0" rtlCol="0" anchor="ctr"/>
          <a:lstStyle/>
          <a:p>
            <a:pPr marL="0" indent="0">
              <a:buNone/>
            </a:pPr>
            <a:r>
              <a:rPr lang="en-US" sz="1000" dirty="0">
                <a:solidFill>
                  <a:srgbClr val="8B9DC3"/>
                </a:solidFill>
                <a:latin typeface="Calibri" pitchFamily="34" charset="0"/>
                <a:ea typeface="Calibri" pitchFamily="34" charset="-122"/>
                <a:cs typeface="Calibri" pitchFamily="34" charset="-120"/>
              </a:rPr>
              <a:t>Slides 34–37</a:t>
            </a:r>
            <a:endParaRPr lang="en-US" sz="1000" dirty="0"/>
          </a:p>
        </p:txBody>
      </p:sp>
      <p:sp>
        <p:nvSpPr>
          <p:cNvPr id="50" name="Shape 48"/>
          <p:cNvSpPr/>
          <p:nvPr/>
        </p:nvSpPr>
        <p:spPr>
          <a:xfrm>
            <a:off x="4754880" y="4133088"/>
            <a:ext cx="411480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51" name="Shape 49"/>
          <p:cNvSpPr/>
          <p:nvPr/>
        </p:nvSpPr>
        <p:spPr>
          <a:xfrm>
            <a:off x="4754880" y="4133088"/>
            <a:ext cx="502920" cy="658368"/>
          </a:xfrm>
          <a:prstGeom prst="rect">
            <a:avLst/>
          </a:prstGeom>
          <a:solidFill>
            <a:srgbClr val="0077B6"/>
          </a:solidFill>
          <a:ln w="12700">
            <a:solidFill>
              <a:srgbClr val="0077B6"/>
            </a:solidFill>
            <a:prstDash val="solid"/>
          </a:ln>
        </p:spPr>
      </p:sp>
      <p:sp>
        <p:nvSpPr>
          <p:cNvPr id="52" name="Text 50"/>
          <p:cNvSpPr/>
          <p:nvPr/>
        </p:nvSpPr>
        <p:spPr>
          <a:xfrm>
            <a:off x="4754880" y="4133088"/>
            <a:ext cx="502920" cy="65836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53" name="Text 51"/>
          <p:cNvSpPr/>
          <p:nvPr/>
        </p:nvSpPr>
        <p:spPr>
          <a:xfrm>
            <a:off x="5321808" y="4178808"/>
            <a:ext cx="27432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Conclusion &amp; References</a:t>
            </a:r>
            <a:endParaRPr lang="en-US" sz="1300" dirty="0"/>
          </a:p>
        </p:txBody>
      </p:sp>
      <p:sp>
        <p:nvSpPr>
          <p:cNvPr id="54" name="Text 52"/>
          <p:cNvSpPr/>
          <p:nvPr/>
        </p:nvSpPr>
        <p:spPr>
          <a:xfrm>
            <a:off x="5321808" y="4517136"/>
            <a:ext cx="2743200" cy="228600"/>
          </a:xfrm>
          <a:prstGeom prst="rect">
            <a:avLst/>
          </a:prstGeom>
          <a:noFill/>
          <a:ln/>
        </p:spPr>
        <p:txBody>
          <a:bodyPr wrap="square" lIns="0" tIns="0" rIns="0" bIns="0" rtlCol="0" anchor="ctr"/>
          <a:lstStyle/>
          <a:p>
            <a:pPr marL="0" indent="0">
              <a:buNone/>
            </a:pPr>
            <a:r>
              <a:rPr lang="en-US" sz="1000" dirty="0">
                <a:solidFill>
                  <a:srgbClr val="8B9DC3"/>
                </a:solidFill>
                <a:latin typeface="Calibri" pitchFamily="34" charset="0"/>
                <a:ea typeface="Calibri" pitchFamily="34" charset="-122"/>
                <a:cs typeface="Calibri" pitchFamily="34" charset="-120"/>
              </a:rPr>
              <a:t>Slides 38–40</a:t>
            </a:r>
            <a:endParaRPr lang="en-US" sz="1000" dirty="0"/>
          </a:p>
        </p:txBody>
      </p:sp>
      <p:sp>
        <p:nvSpPr>
          <p:cNvPr id="55" name="Shape 53"/>
          <p:cNvSpPr/>
          <p:nvPr/>
        </p:nvSpPr>
        <p:spPr>
          <a:xfrm>
            <a:off x="0" y="4983480"/>
            <a:ext cx="9144000" cy="160020"/>
          </a:xfrm>
          <a:prstGeom prst="rect">
            <a:avLst/>
          </a:prstGeom>
          <a:solidFill>
            <a:srgbClr val="0D2B55"/>
          </a:solidFill>
          <a:ln w="12700">
            <a:solidFill>
              <a:srgbClr val="0D2B55"/>
            </a:solidFill>
            <a:prstDash val="solid"/>
          </a:ln>
        </p:spPr>
      </p:sp>
      <p:sp>
        <p:nvSpPr>
          <p:cNvPr id="56" name="Text 54"/>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Introduction</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3</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Background &amp; Context</a:t>
            </a:r>
            <a:endParaRPr lang="en-US" sz="1600" dirty="0"/>
          </a:p>
        </p:txBody>
      </p:sp>
      <p:sp>
        <p:nvSpPr>
          <p:cNvPr id="9" name="Text 7"/>
          <p:cNvSpPr/>
          <p:nvPr/>
        </p:nvSpPr>
        <p:spPr>
          <a:xfrm>
            <a:off x="365760" y="1078992"/>
            <a:ext cx="8412480" cy="1005840"/>
          </a:xfrm>
          <a:prstGeom prst="rect">
            <a:avLst/>
          </a:prstGeom>
          <a:noFill/>
          <a:ln/>
        </p:spPr>
        <p:txBody>
          <a:bodyPr wrap="square" rtlCol="0" anchor="ctr"/>
          <a:lstStyle/>
          <a:p>
            <a:pPr marL="0" indent="0">
              <a:buNone/>
            </a:pPr>
            <a:r>
              <a:rPr lang="en-US" sz="1300" dirty="0">
                <a:solidFill>
                  <a:srgbClr val="CAD3E0"/>
                </a:solidFill>
                <a:latin typeface="Calibri" pitchFamily="34" charset="0"/>
                <a:ea typeface="Calibri" pitchFamily="34" charset="-122"/>
                <a:cs typeface="Calibri" pitchFamily="34" charset="-120"/>
              </a:rPr>
              <a:t>In the 21st century, digital transformation has made cybersecurity one of the most critical areas of concern for organizations, governments, and individuals worldwide. With the exponential growth of internet-connected devices, cloud computing, and digital financial transactions, the attack surface for malicious actors has expanded dramatically.</a:t>
            </a:r>
            <a:endParaRPr lang="en-US" sz="1300" dirty="0"/>
          </a:p>
        </p:txBody>
      </p:sp>
      <p:sp>
        <p:nvSpPr>
          <p:cNvPr id="10" name="Text 8"/>
          <p:cNvSpPr/>
          <p:nvPr/>
        </p:nvSpPr>
        <p:spPr>
          <a:xfrm>
            <a:off x="365760" y="2121408"/>
            <a:ext cx="8412480" cy="1005840"/>
          </a:xfrm>
          <a:prstGeom prst="rect">
            <a:avLst/>
          </a:prstGeom>
          <a:noFill/>
          <a:ln/>
        </p:spPr>
        <p:txBody>
          <a:bodyPr wrap="square" rtlCol="0" anchor="ctr"/>
          <a:lstStyle/>
          <a:p>
            <a:pPr marL="0" indent="0">
              <a:buNone/>
            </a:pPr>
            <a:r>
              <a:rPr lang="en-US" sz="1300" dirty="0">
                <a:solidFill>
                  <a:srgbClr val="CAD3E0"/>
                </a:solidFill>
                <a:latin typeface="Calibri" pitchFamily="34" charset="0"/>
                <a:ea typeface="Calibri" pitchFamily="34" charset="-122"/>
                <a:cs typeface="Calibri" pitchFamily="34" charset="-120"/>
              </a:rPr>
              <a:t>Traditional cybersecurity tools—firewalls, signature-based antivirus software, and manual threat analysis—are increasingly insufficient against sophisticated, multi-vector cyberattacks. Artificial Intelligence (AI) has emerged as a transformative solution, enabling systems to detect, analyze, and respond to threats with unprecedented speed and accuracy.</a:t>
            </a:r>
            <a:endParaRPr lang="en-US" sz="1300" dirty="0"/>
          </a:p>
        </p:txBody>
      </p:sp>
      <p:sp>
        <p:nvSpPr>
          <p:cNvPr id="11" name="Shape 9"/>
          <p:cNvSpPr/>
          <p:nvPr/>
        </p:nvSpPr>
        <p:spPr>
          <a:xfrm>
            <a:off x="365760" y="3200400"/>
            <a:ext cx="2560320" cy="155448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2" name="Shape 10"/>
          <p:cNvSpPr/>
          <p:nvPr/>
        </p:nvSpPr>
        <p:spPr>
          <a:xfrm>
            <a:off x="365760" y="3200400"/>
            <a:ext cx="2560320" cy="54864"/>
          </a:xfrm>
          <a:prstGeom prst="rect">
            <a:avLst/>
          </a:prstGeom>
          <a:solidFill>
            <a:srgbClr val="00B4D8"/>
          </a:solidFill>
          <a:ln w="12700">
            <a:solidFill>
              <a:srgbClr val="00B4D8"/>
            </a:solidFill>
            <a:prstDash val="solid"/>
          </a:ln>
        </p:spPr>
      </p:sp>
      <p:sp>
        <p:nvSpPr>
          <p:cNvPr id="13" name="Text 11"/>
          <p:cNvSpPr/>
          <p:nvPr/>
        </p:nvSpPr>
        <p:spPr>
          <a:xfrm>
            <a:off x="475488" y="3291840"/>
            <a:ext cx="2340864" cy="36576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Global Cybercrime Cost</a:t>
            </a:r>
            <a:endParaRPr lang="en-US" sz="1300" dirty="0"/>
          </a:p>
        </p:txBody>
      </p:sp>
      <p:sp>
        <p:nvSpPr>
          <p:cNvPr id="14" name="Text 12"/>
          <p:cNvSpPr/>
          <p:nvPr/>
        </p:nvSpPr>
        <p:spPr>
          <a:xfrm>
            <a:off x="475488" y="3657600"/>
            <a:ext cx="2340864" cy="1005840"/>
          </a:xfrm>
          <a:prstGeom prst="rect">
            <a:avLst/>
          </a:prstGeom>
          <a:noFill/>
          <a:ln/>
        </p:spPr>
        <p:txBody>
          <a:bodyPr wrap="square" lIns="0" tIns="0" rIns="0" bIns="0" rtlCol="0" anchor="ctr"/>
          <a:lstStyle/>
          <a:p>
            <a:pPr marL="0" indent="0">
              <a:buNone/>
            </a:pPr>
            <a:r>
              <a:rPr lang="en-US" sz="1200" dirty="0">
                <a:solidFill>
                  <a:srgbClr val="CAD3E0"/>
                </a:solidFill>
                <a:latin typeface="Calibri" pitchFamily="34" charset="0"/>
                <a:ea typeface="Calibri" pitchFamily="34" charset="-122"/>
                <a:cs typeface="Calibri" pitchFamily="34" charset="-120"/>
              </a:rPr>
              <a:t>Projected to reach $10.5 trillion annually by 2025 (Cybersecurity Ventures, 2023).</a:t>
            </a:r>
            <a:endParaRPr lang="en-US" sz="1200" dirty="0"/>
          </a:p>
        </p:txBody>
      </p:sp>
      <p:sp>
        <p:nvSpPr>
          <p:cNvPr id="15" name="Shape 13"/>
          <p:cNvSpPr/>
          <p:nvPr/>
        </p:nvSpPr>
        <p:spPr>
          <a:xfrm>
            <a:off x="3154680" y="3200400"/>
            <a:ext cx="2560320" cy="155448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6" name="Shape 14"/>
          <p:cNvSpPr/>
          <p:nvPr/>
        </p:nvSpPr>
        <p:spPr>
          <a:xfrm>
            <a:off x="3154680" y="3200400"/>
            <a:ext cx="2560320" cy="54864"/>
          </a:xfrm>
          <a:prstGeom prst="rect">
            <a:avLst/>
          </a:prstGeom>
          <a:solidFill>
            <a:srgbClr val="00B4D8"/>
          </a:solidFill>
          <a:ln w="12700">
            <a:solidFill>
              <a:srgbClr val="00B4D8"/>
            </a:solidFill>
            <a:prstDash val="solid"/>
          </a:ln>
        </p:spPr>
      </p:sp>
      <p:sp>
        <p:nvSpPr>
          <p:cNvPr id="17" name="Text 15"/>
          <p:cNvSpPr/>
          <p:nvPr/>
        </p:nvSpPr>
        <p:spPr>
          <a:xfrm>
            <a:off x="3264408" y="3291840"/>
            <a:ext cx="2340864" cy="36576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Threat Volume</a:t>
            </a:r>
            <a:endParaRPr lang="en-US" sz="1300" dirty="0"/>
          </a:p>
        </p:txBody>
      </p:sp>
      <p:sp>
        <p:nvSpPr>
          <p:cNvPr id="18" name="Text 16"/>
          <p:cNvSpPr/>
          <p:nvPr/>
        </p:nvSpPr>
        <p:spPr>
          <a:xfrm>
            <a:off x="3264408" y="3657600"/>
            <a:ext cx="2340864" cy="1005840"/>
          </a:xfrm>
          <a:prstGeom prst="rect">
            <a:avLst/>
          </a:prstGeom>
          <a:noFill/>
          <a:ln/>
        </p:spPr>
        <p:txBody>
          <a:bodyPr wrap="square" lIns="0" tIns="0" rIns="0" bIns="0" rtlCol="0" anchor="ctr"/>
          <a:lstStyle/>
          <a:p>
            <a:pPr marL="0" indent="0">
              <a:buNone/>
            </a:pPr>
            <a:r>
              <a:rPr lang="en-US" sz="1200" dirty="0">
                <a:solidFill>
                  <a:srgbClr val="CAD3E0"/>
                </a:solidFill>
                <a:latin typeface="Calibri" pitchFamily="34" charset="0"/>
                <a:ea typeface="Calibri" pitchFamily="34" charset="-122"/>
                <a:cs typeface="Calibri" pitchFamily="34" charset="-120"/>
              </a:rPr>
              <a:t>Over 2,200 cyberattacks occur every day globally, averaging one attack every 39 seconds.</a:t>
            </a:r>
            <a:endParaRPr lang="en-US" sz="1200" dirty="0"/>
          </a:p>
        </p:txBody>
      </p:sp>
      <p:sp>
        <p:nvSpPr>
          <p:cNvPr id="19" name="Shape 17"/>
          <p:cNvSpPr/>
          <p:nvPr/>
        </p:nvSpPr>
        <p:spPr>
          <a:xfrm>
            <a:off x="5943600" y="3200400"/>
            <a:ext cx="2834640" cy="155448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0" name="Shape 18"/>
          <p:cNvSpPr/>
          <p:nvPr/>
        </p:nvSpPr>
        <p:spPr>
          <a:xfrm>
            <a:off x="5943600" y="3200400"/>
            <a:ext cx="2834640" cy="54864"/>
          </a:xfrm>
          <a:prstGeom prst="rect">
            <a:avLst/>
          </a:prstGeom>
          <a:solidFill>
            <a:srgbClr val="00B4D8"/>
          </a:solidFill>
          <a:ln w="12700">
            <a:solidFill>
              <a:srgbClr val="00B4D8"/>
            </a:solidFill>
            <a:prstDash val="solid"/>
          </a:ln>
        </p:spPr>
      </p:sp>
      <p:sp>
        <p:nvSpPr>
          <p:cNvPr id="21" name="Text 19"/>
          <p:cNvSpPr/>
          <p:nvPr/>
        </p:nvSpPr>
        <p:spPr>
          <a:xfrm>
            <a:off x="6053328" y="3291840"/>
            <a:ext cx="2615184" cy="36576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AI Market in Security</a:t>
            </a:r>
            <a:endParaRPr lang="en-US" sz="1300" dirty="0"/>
          </a:p>
        </p:txBody>
      </p:sp>
      <p:sp>
        <p:nvSpPr>
          <p:cNvPr id="22" name="Text 20"/>
          <p:cNvSpPr/>
          <p:nvPr/>
        </p:nvSpPr>
        <p:spPr>
          <a:xfrm>
            <a:off x="6053328" y="3657600"/>
            <a:ext cx="2615184" cy="1005840"/>
          </a:xfrm>
          <a:prstGeom prst="rect">
            <a:avLst/>
          </a:prstGeom>
          <a:noFill/>
          <a:ln/>
        </p:spPr>
        <p:txBody>
          <a:bodyPr wrap="square" lIns="0" tIns="0" rIns="0" bIns="0" rtlCol="0" anchor="ctr"/>
          <a:lstStyle/>
          <a:p>
            <a:pPr marL="0" indent="0">
              <a:buNone/>
            </a:pPr>
            <a:r>
              <a:rPr lang="en-US" sz="1200" dirty="0">
                <a:solidFill>
                  <a:srgbClr val="CAD3E0"/>
                </a:solidFill>
                <a:latin typeface="Calibri" pitchFamily="34" charset="0"/>
                <a:ea typeface="Calibri" pitchFamily="34" charset="-122"/>
                <a:cs typeface="Calibri" pitchFamily="34" charset="-120"/>
              </a:rPr>
              <a:t>AI-powered cybersecurity market expected to reach $66.5 billion by 2029.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Significance of the Study</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4</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Why This Research Matters</a:t>
            </a:r>
            <a:endParaRPr lang="en-US" sz="1600" dirty="0"/>
          </a:p>
        </p:txBody>
      </p:sp>
      <p:sp>
        <p:nvSpPr>
          <p:cNvPr id="9" name="Shape 7"/>
          <p:cNvSpPr/>
          <p:nvPr/>
        </p:nvSpPr>
        <p:spPr>
          <a:xfrm>
            <a:off x="365760" y="1143000"/>
            <a:ext cx="8412480" cy="74980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0" name="Shape 8"/>
          <p:cNvSpPr/>
          <p:nvPr/>
        </p:nvSpPr>
        <p:spPr>
          <a:xfrm>
            <a:off x="365760" y="1143000"/>
            <a:ext cx="640080" cy="749808"/>
          </a:xfrm>
          <a:prstGeom prst="rect">
            <a:avLst/>
          </a:prstGeom>
          <a:solidFill>
            <a:srgbClr val="0077B6"/>
          </a:solidFill>
          <a:ln w="12700">
            <a:solidFill>
              <a:srgbClr val="0077B6"/>
            </a:solidFill>
            <a:prstDash val="solid"/>
          </a:ln>
        </p:spPr>
      </p:sp>
      <p:sp>
        <p:nvSpPr>
          <p:cNvPr id="11" name="Text 9"/>
          <p:cNvSpPr/>
          <p:nvPr/>
        </p:nvSpPr>
        <p:spPr>
          <a:xfrm>
            <a:off x="365760" y="1143000"/>
            <a:ext cx="640080" cy="749808"/>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2" name="Text 10"/>
          <p:cNvSpPr/>
          <p:nvPr/>
        </p:nvSpPr>
        <p:spPr>
          <a:xfrm>
            <a:off x="1078992" y="1216152"/>
            <a:ext cx="7498080" cy="27432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Academic Relevance</a:t>
            </a:r>
            <a:endParaRPr lang="en-US" sz="1300" dirty="0"/>
          </a:p>
        </p:txBody>
      </p:sp>
      <p:sp>
        <p:nvSpPr>
          <p:cNvPr id="13" name="Text 11"/>
          <p:cNvSpPr/>
          <p:nvPr/>
        </p:nvSpPr>
        <p:spPr>
          <a:xfrm>
            <a:off x="1078992" y="1508760"/>
            <a:ext cx="7498080" cy="347472"/>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Bridges the gap between theoretical AI frameworks and practical cybersecurity implementation in modern enterprises.</a:t>
            </a:r>
            <a:endParaRPr lang="en-US" sz="1150" dirty="0"/>
          </a:p>
        </p:txBody>
      </p:sp>
      <p:sp>
        <p:nvSpPr>
          <p:cNvPr id="14" name="Shape 12"/>
          <p:cNvSpPr/>
          <p:nvPr/>
        </p:nvSpPr>
        <p:spPr>
          <a:xfrm>
            <a:off x="365760" y="2039112"/>
            <a:ext cx="8412480" cy="74980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5" name="Shape 13"/>
          <p:cNvSpPr/>
          <p:nvPr/>
        </p:nvSpPr>
        <p:spPr>
          <a:xfrm>
            <a:off x="365760" y="2039112"/>
            <a:ext cx="640080" cy="749808"/>
          </a:xfrm>
          <a:prstGeom prst="rect">
            <a:avLst/>
          </a:prstGeom>
          <a:solidFill>
            <a:srgbClr val="0A3D62"/>
          </a:solidFill>
          <a:ln w="12700">
            <a:solidFill>
              <a:srgbClr val="0077B6"/>
            </a:solidFill>
            <a:prstDash val="solid"/>
          </a:ln>
        </p:spPr>
      </p:sp>
      <p:sp>
        <p:nvSpPr>
          <p:cNvPr id="16" name="Text 14"/>
          <p:cNvSpPr/>
          <p:nvPr/>
        </p:nvSpPr>
        <p:spPr>
          <a:xfrm>
            <a:off x="365760" y="2039112"/>
            <a:ext cx="640080" cy="749808"/>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7" name="Text 15"/>
          <p:cNvSpPr/>
          <p:nvPr/>
        </p:nvSpPr>
        <p:spPr>
          <a:xfrm>
            <a:off x="1078992" y="2112264"/>
            <a:ext cx="7498080" cy="27432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Industry Impact</a:t>
            </a:r>
            <a:endParaRPr lang="en-US" sz="1300" dirty="0"/>
          </a:p>
        </p:txBody>
      </p:sp>
      <p:sp>
        <p:nvSpPr>
          <p:cNvPr id="18" name="Text 16"/>
          <p:cNvSpPr/>
          <p:nvPr/>
        </p:nvSpPr>
        <p:spPr>
          <a:xfrm>
            <a:off x="1078992" y="2404872"/>
            <a:ext cx="7498080" cy="347472"/>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Equips organizations with insights to deploy AI-based security solutions effectively, reducing breach response times.</a:t>
            </a:r>
            <a:endParaRPr lang="en-US" sz="1150" dirty="0"/>
          </a:p>
        </p:txBody>
      </p:sp>
      <p:sp>
        <p:nvSpPr>
          <p:cNvPr id="19" name="Shape 17"/>
          <p:cNvSpPr/>
          <p:nvPr/>
        </p:nvSpPr>
        <p:spPr>
          <a:xfrm>
            <a:off x="365760" y="2935224"/>
            <a:ext cx="8412480" cy="74980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0" name="Shape 18"/>
          <p:cNvSpPr/>
          <p:nvPr/>
        </p:nvSpPr>
        <p:spPr>
          <a:xfrm>
            <a:off x="365760" y="2935224"/>
            <a:ext cx="640080" cy="749808"/>
          </a:xfrm>
          <a:prstGeom prst="rect">
            <a:avLst/>
          </a:prstGeom>
          <a:solidFill>
            <a:srgbClr val="0077B6"/>
          </a:solidFill>
          <a:ln w="12700">
            <a:solidFill>
              <a:srgbClr val="0077B6"/>
            </a:solidFill>
            <a:prstDash val="solid"/>
          </a:ln>
        </p:spPr>
      </p:sp>
      <p:sp>
        <p:nvSpPr>
          <p:cNvPr id="21" name="Text 19"/>
          <p:cNvSpPr/>
          <p:nvPr/>
        </p:nvSpPr>
        <p:spPr>
          <a:xfrm>
            <a:off x="365760" y="2935224"/>
            <a:ext cx="640080" cy="749808"/>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2" name="Text 20"/>
          <p:cNvSpPr/>
          <p:nvPr/>
        </p:nvSpPr>
        <p:spPr>
          <a:xfrm>
            <a:off x="1078992" y="3008376"/>
            <a:ext cx="7498080" cy="27432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Research Gap</a:t>
            </a:r>
            <a:endParaRPr lang="en-US" sz="1300" dirty="0"/>
          </a:p>
        </p:txBody>
      </p:sp>
      <p:sp>
        <p:nvSpPr>
          <p:cNvPr id="23" name="Text 21"/>
          <p:cNvSpPr/>
          <p:nvPr/>
        </p:nvSpPr>
        <p:spPr>
          <a:xfrm>
            <a:off x="1078992" y="3300984"/>
            <a:ext cx="7498080" cy="347472"/>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Limited empirical studies address the integrated role of multiple AI disciplines (ML, DL, NLP) in unified security platforms.</a:t>
            </a:r>
            <a:endParaRPr lang="en-US" sz="1150" dirty="0"/>
          </a:p>
        </p:txBody>
      </p:sp>
      <p:sp>
        <p:nvSpPr>
          <p:cNvPr id="24" name="Shape 22"/>
          <p:cNvSpPr/>
          <p:nvPr/>
        </p:nvSpPr>
        <p:spPr>
          <a:xfrm>
            <a:off x="365760" y="3831336"/>
            <a:ext cx="8412480" cy="74980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5" name="Shape 23"/>
          <p:cNvSpPr/>
          <p:nvPr/>
        </p:nvSpPr>
        <p:spPr>
          <a:xfrm>
            <a:off x="365760" y="3831336"/>
            <a:ext cx="640080" cy="749808"/>
          </a:xfrm>
          <a:prstGeom prst="rect">
            <a:avLst/>
          </a:prstGeom>
          <a:solidFill>
            <a:srgbClr val="0A3D62"/>
          </a:solidFill>
          <a:ln w="12700">
            <a:solidFill>
              <a:srgbClr val="0077B6"/>
            </a:solidFill>
            <a:prstDash val="solid"/>
          </a:ln>
        </p:spPr>
      </p:sp>
      <p:sp>
        <p:nvSpPr>
          <p:cNvPr id="26" name="Text 24"/>
          <p:cNvSpPr/>
          <p:nvPr/>
        </p:nvSpPr>
        <p:spPr>
          <a:xfrm>
            <a:off x="365760" y="3831336"/>
            <a:ext cx="640080" cy="749808"/>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7" name="Text 25"/>
          <p:cNvSpPr/>
          <p:nvPr/>
        </p:nvSpPr>
        <p:spPr>
          <a:xfrm>
            <a:off x="1078992" y="3904488"/>
            <a:ext cx="7498080" cy="27432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Policy Implications</a:t>
            </a:r>
            <a:endParaRPr lang="en-US" sz="1300" dirty="0"/>
          </a:p>
        </p:txBody>
      </p:sp>
      <p:sp>
        <p:nvSpPr>
          <p:cNvPr id="28" name="Text 26"/>
          <p:cNvSpPr/>
          <p:nvPr/>
        </p:nvSpPr>
        <p:spPr>
          <a:xfrm>
            <a:off x="1078992" y="4197096"/>
            <a:ext cx="7498080" cy="347472"/>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Findings can inform national cybersecurity policy frameworks and regulatory guidelines for AI adoption in critical infrastructure.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Problem Statement &amp; Rationale</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5</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Research Problem</a:t>
            </a:r>
            <a:endParaRPr lang="en-US" sz="1600" dirty="0"/>
          </a:p>
        </p:txBody>
      </p:sp>
      <p:sp>
        <p:nvSpPr>
          <p:cNvPr id="9" name="Text 7"/>
          <p:cNvSpPr/>
          <p:nvPr/>
        </p:nvSpPr>
        <p:spPr>
          <a:xfrm>
            <a:off x="365760" y="1097280"/>
            <a:ext cx="8412480" cy="548640"/>
          </a:xfrm>
          <a:prstGeom prst="rect">
            <a:avLst/>
          </a:prstGeom>
          <a:noFill/>
          <a:ln/>
        </p:spPr>
        <p:txBody>
          <a:bodyPr wrap="square" rtlCol="0" anchor="ctr"/>
          <a:lstStyle/>
          <a:p>
            <a:pPr marL="0" indent="0">
              <a:buNone/>
            </a:pPr>
            <a:r>
              <a:rPr lang="en-US" sz="1300" dirty="0">
                <a:solidFill>
                  <a:srgbClr val="CAD3E0"/>
                </a:solidFill>
                <a:latin typeface="Calibri" pitchFamily="34" charset="0"/>
                <a:ea typeface="Calibri" pitchFamily="34" charset="-122"/>
                <a:cs typeface="Calibri" pitchFamily="34" charset="-120"/>
              </a:rPr>
              <a:t>Despite rapid advancements in AI technology, many organizations still rely on outdated cybersecurity frameworks that are reactive rather than proactive. The core problem addressed by this research is:</a:t>
            </a:r>
            <a:endParaRPr lang="en-US" sz="1300" dirty="0"/>
          </a:p>
        </p:txBody>
      </p:sp>
      <p:sp>
        <p:nvSpPr>
          <p:cNvPr id="10" name="Shape 8"/>
          <p:cNvSpPr/>
          <p:nvPr/>
        </p:nvSpPr>
        <p:spPr>
          <a:xfrm>
            <a:off x="731520" y="1719072"/>
            <a:ext cx="7680960" cy="914400"/>
          </a:xfrm>
          <a:prstGeom prst="rect">
            <a:avLst/>
          </a:prstGeom>
          <a:solidFill>
            <a:srgbClr val="0D2B55"/>
          </a:solidFill>
          <a:ln w="25400">
            <a:solidFill>
              <a:srgbClr val="00B4D8"/>
            </a:solidFill>
            <a:prstDash val="solid"/>
          </a:ln>
          <a:effectLst>
            <a:outerShdw blurRad="101600" dist="38100" dir="8100000" algn="bl" rotWithShape="0">
              <a:srgbClr val="000000">
                <a:alpha val="20000"/>
              </a:srgbClr>
            </a:outerShdw>
          </a:effectLst>
        </p:spPr>
      </p:sp>
      <p:sp>
        <p:nvSpPr>
          <p:cNvPr id="11" name="Text 9"/>
          <p:cNvSpPr/>
          <p:nvPr/>
        </p:nvSpPr>
        <p:spPr>
          <a:xfrm>
            <a:off x="731520" y="1719072"/>
            <a:ext cx="7680960" cy="914400"/>
          </a:xfrm>
          <a:prstGeom prst="rect">
            <a:avLst/>
          </a:prstGeom>
          <a:noFill/>
          <a:ln/>
        </p:spPr>
        <p:txBody>
          <a:bodyPr wrap="square" rtlCol="0" anchor="ctr"/>
          <a:lstStyle/>
          <a:p>
            <a:pPr marL="0" indent="0" algn="ctr">
              <a:buNone/>
            </a:pPr>
            <a:r>
              <a:rPr lang="en-US" sz="1400" b="1" i="1" dirty="0">
                <a:solidFill>
                  <a:srgbClr val="FFFFFF"/>
                </a:solidFill>
                <a:latin typeface="Calibri" pitchFamily="34" charset="0"/>
                <a:ea typeface="Calibri" pitchFamily="34" charset="-122"/>
                <a:cs typeface="Calibri" pitchFamily="34" charset="-120"/>
              </a:rPr>
              <a:t>"How can Artificial Intelligence technologies be systematically applied to enhance cybersecurity detection, prevention, and response capabilities in enterprise environments?"</a:t>
            </a:r>
            <a:endParaRPr lang="en-US" sz="1400" dirty="0"/>
          </a:p>
        </p:txBody>
      </p:sp>
      <p:sp>
        <p:nvSpPr>
          <p:cNvPr id="12" name="Text 10"/>
          <p:cNvSpPr/>
          <p:nvPr/>
        </p:nvSpPr>
        <p:spPr>
          <a:xfrm>
            <a:off x="365760" y="2788920"/>
            <a:ext cx="8412480" cy="320040"/>
          </a:xfrm>
          <a:prstGeom prst="rect">
            <a:avLst/>
          </a:prstGeom>
          <a:noFill/>
          <a:ln/>
        </p:spPr>
        <p:txBody>
          <a:bodyPr wrap="square"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Key Gaps Identified:</a:t>
            </a:r>
            <a:endParaRPr lang="en-US" sz="1400" dirty="0"/>
          </a:p>
        </p:txBody>
      </p:sp>
      <p:sp>
        <p:nvSpPr>
          <p:cNvPr id="13" name="Text 11"/>
          <p:cNvSpPr/>
          <p:nvPr/>
        </p:nvSpPr>
        <p:spPr>
          <a:xfrm>
            <a:off x="548640" y="3154680"/>
            <a:ext cx="8229600" cy="1691640"/>
          </a:xfrm>
          <a:prstGeom prst="rect">
            <a:avLst/>
          </a:prstGeom>
          <a:noFill/>
          <a:ln/>
        </p:spPr>
        <p:txBody>
          <a:bodyPr wrap="square" rtlCol="0" anchor="ctr"/>
          <a:lstStyle/>
          <a:p>
            <a:pPr marL="342900" indent="-342900">
              <a:buSzPct val="100000"/>
              <a:buChar char="•"/>
            </a:pPr>
            <a:r>
              <a:rPr lang="en-US" sz="1250" dirty="0">
                <a:solidFill>
                  <a:srgbClr val="CAD3E0"/>
                </a:solidFill>
                <a:latin typeface="Calibri" pitchFamily="34" charset="0"/>
                <a:ea typeface="Calibri" pitchFamily="34" charset="-122"/>
                <a:cs typeface="Calibri" pitchFamily="34" charset="-120"/>
              </a:rPr>
              <a:t>Lack of standardized AI integration models for cybersecurity across industry sectors</a:t>
            </a:r>
            <a:endParaRPr lang="en-US" sz="1250" dirty="0"/>
          </a:p>
          <a:p>
            <a:pPr marL="342900" indent="-342900">
              <a:buSzPct val="100000"/>
              <a:buChar char="•"/>
            </a:pPr>
            <a:r>
              <a:rPr lang="en-US" sz="1250" dirty="0">
                <a:solidFill>
                  <a:srgbClr val="CAD3E0"/>
                </a:solidFill>
                <a:latin typeface="Calibri" pitchFamily="34" charset="0"/>
                <a:ea typeface="Calibri" pitchFamily="34" charset="-122"/>
                <a:cs typeface="Calibri" pitchFamily="34" charset="-120"/>
              </a:rPr>
              <a:t>Insufficient research on AI system adversarial vulnerabilities and AI-vs-AI attack scenarios</a:t>
            </a:r>
            <a:endParaRPr lang="en-US" sz="1250" dirty="0"/>
          </a:p>
          <a:p>
            <a:pPr marL="342900" indent="-342900">
              <a:buSzPct val="100000"/>
              <a:buChar char="•"/>
            </a:pPr>
            <a:r>
              <a:rPr lang="en-US" sz="1250" dirty="0">
                <a:solidFill>
                  <a:srgbClr val="CAD3E0"/>
                </a:solidFill>
                <a:latin typeface="Calibri" pitchFamily="34" charset="0"/>
                <a:ea typeface="Calibri" pitchFamily="34" charset="-122"/>
                <a:cs typeface="Calibri" pitchFamily="34" charset="-120"/>
              </a:rPr>
              <a:t>Limited guidance on ethical, legal, and privacy considerations when deploying AI security tools</a:t>
            </a:r>
            <a:endParaRPr lang="en-US" sz="1250" dirty="0"/>
          </a:p>
          <a:p>
            <a:pPr marL="342900" indent="-342900">
              <a:buSzPct val="100000"/>
              <a:buChar char="•"/>
            </a:pPr>
            <a:r>
              <a:rPr lang="en-US" sz="1250" dirty="0">
                <a:solidFill>
                  <a:srgbClr val="CAD3E0"/>
                </a:solidFill>
                <a:latin typeface="Calibri" pitchFamily="34" charset="0"/>
                <a:ea typeface="Calibri" pitchFamily="34" charset="-122"/>
                <a:cs typeface="Calibri" pitchFamily="34" charset="-120"/>
              </a:rPr>
              <a:t>Few studies examine AI effectiveness across diverse organizational sizes and resource levels</a:t>
            </a:r>
            <a:endParaRPr lang="en-US" sz="1250" dirty="0"/>
          </a:p>
          <a:p>
            <a:pPr marL="0" indent="0">
              <a:buNone/>
            </a:pP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Literature Review</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6</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Overview of Existing Research</a:t>
            </a:r>
            <a:endParaRPr lang="en-US" sz="1600" dirty="0"/>
          </a:p>
        </p:txBody>
      </p:sp>
      <p:sp>
        <p:nvSpPr>
          <p:cNvPr id="9" name="Text 7"/>
          <p:cNvSpPr/>
          <p:nvPr/>
        </p:nvSpPr>
        <p:spPr>
          <a:xfrm>
            <a:off x="365760" y="1097280"/>
            <a:ext cx="8412480" cy="777240"/>
          </a:xfrm>
          <a:prstGeom prst="rect">
            <a:avLst/>
          </a:prstGeom>
          <a:noFill/>
          <a:ln/>
        </p:spPr>
        <p:txBody>
          <a:bodyPr wrap="square" rtlCol="0" anchor="ctr"/>
          <a:lstStyle/>
          <a:p>
            <a:pPr marL="0" indent="0">
              <a:buNone/>
            </a:pPr>
            <a:r>
              <a:rPr lang="en-US" sz="1300" dirty="0">
                <a:solidFill>
                  <a:srgbClr val="CAD3E0"/>
                </a:solidFill>
                <a:latin typeface="Calibri" pitchFamily="34" charset="0"/>
                <a:ea typeface="Calibri" pitchFamily="34" charset="-122"/>
                <a:cs typeface="Calibri" pitchFamily="34" charset="-120"/>
              </a:rPr>
              <a:t>The literature on AI in cybersecurity spans machine learning-based intrusion detection, behavioral analytics, natural language processing for threat intelligence, and autonomous response systems. Early works focused on rule-based expert systems, while modern research emphasizes adaptive deep learning models.</a:t>
            </a:r>
            <a:endParaRPr lang="en-US" sz="1300" dirty="0"/>
          </a:p>
        </p:txBody>
      </p:sp>
      <p:sp>
        <p:nvSpPr>
          <p:cNvPr id="10" name="Shape 8"/>
          <p:cNvSpPr/>
          <p:nvPr/>
        </p:nvSpPr>
        <p:spPr>
          <a:xfrm>
            <a:off x="365760" y="1965960"/>
            <a:ext cx="8412480" cy="658368"/>
          </a:xfrm>
          <a:prstGeom prst="rect">
            <a:avLst/>
          </a:prstGeom>
          <a:solidFill>
            <a:srgbClr val="0D2B55"/>
          </a:solidFill>
          <a:ln w="6350">
            <a:solidFill>
              <a:srgbClr val="0077B6"/>
            </a:solidFill>
            <a:prstDash val="solid"/>
          </a:ln>
        </p:spPr>
      </p:sp>
      <p:sp>
        <p:nvSpPr>
          <p:cNvPr id="11" name="Shape 9"/>
          <p:cNvSpPr/>
          <p:nvPr/>
        </p:nvSpPr>
        <p:spPr>
          <a:xfrm>
            <a:off x="365760" y="1965960"/>
            <a:ext cx="54864" cy="658368"/>
          </a:xfrm>
          <a:prstGeom prst="rect">
            <a:avLst/>
          </a:prstGeom>
          <a:solidFill>
            <a:srgbClr val="00B4D8"/>
          </a:solidFill>
          <a:ln w="12700">
            <a:solidFill>
              <a:srgbClr val="00B4D8"/>
            </a:solidFill>
            <a:prstDash val="solid"/>
          </a:ln>
        </p:spPr>
      </p:sp>
      <p:sp>
        <p:nvSpPr>
          <p:cNvPr id="12" name="Text 10"/>
          <p:cNvSpPr/>
          <p:nvPr/>
        </p:nvSpPr>
        <p:spPr>
          <a:xfrm>
            <a:off x="502920" y="2020824"/>
            <a:ext cx="2011680" cy="256032"/>
          </a:xfrm>
          <a:prstGeom prst="rect">
            <a:avLst/>
          </a:prstGeom>
          <a:noFill/>
          <a:ln/>
        </p:spPr>
        <p:txBody>
          <a:bodyPr wrap="square" lIns="0" tIns="0" rIns="0" bIns="0" rtlCol="0" anchor="ctr"/>
          <a:lstStyle/>
          <a:p>
            <a:pPr marL="0" indent="0">
              <a:buNone/>
            </a:pPr>
            <a:r>
              <a:rPr lang="en-US" sz="1150" b="1" dirty="0">
                <a:solidFill>
                  <a:srgbClr val="00B4D8"/>
                </a:solidFill>
                <a:latin typeface="Calibri" pitchFamily="34" charset="0"/>
                <a:ea typeface="Calibri" pitchFamily="34" charset="-122"/>
                <a:cs typeface="Calibri" pitchFamily="34" charset="-120"/>
              </a:rPr>
              <a:t>Sommer &amp; Paxson (2010)</a:t>
            </a:r>
            <a:endParaRPr lang="en-US" sz="1150" dirty="0"/>
          </a:p>
        </p:txBody>
      </p:sp>
      <p:sp>
        <p:nvSpPr>
          <p:cNvPr id="13" name="Text 11"/>
          <p:cNvSpPr/>
          <p:nvPr/>
        </p:nvSpPr>
        <p:spPr>
          <a:xfrm>
            <a:off x="502920" y="2295144"/>
            <a:ext cx="8138160" cy="292608"/>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Foundational critique of ML-based IDS: challenges of high false positive rates and lack of labeled training data. Outside the Closed World: On Using Machine Learning for Network Intrusion Detection.</a:t>
            </a:r>
            <a:endParaRPr lang="en-US" sz="1100" dirty="0"/>
          </a:p>
        </p:txBody>
      </p:sp>
      <p:sp>
        <p:nvSpPr>
          <p:cNvPr id="14" name="Shape 12"/>
          <p:cNvSpPr/>
          <p:nvPr/>
        </p:nvSpPr>
        <p:spPr>
          <a:xfrm>
            <a:off x="365760" y="2715768"/>
            <a:ext cx="8412480" cy="658368"/>
          </a:xfrm>
          <a:prstGeom prst="rect">
            <a:avLst/>
          </a:prstGeom>
          <a:solidFill>
            <a:srgbClr val="0D2B55"/>
          </a:solidFill>
          <a:ln w="6350">
            <a:solidFill>
              <a:srgbClr val="0077B6"/>
            </a:solidFill>
            <a:prstDash val="solid"/>
          </a:ln>
        </p:spPr>
      </p:sp>
      <p:sp>
        <p:nvSpPr>
          <p:cNvPr id="15" name="Shape 13"/>
          <p:cNvSpPr/>
          <p:nvPr/>
        </p:nvSpPr>
        <p:spPr>
          <a:xfrm>
            <a:off x="365760" y="2715768"/>
            <a:ext cx="54864" cy="658368"/>
          </a:xfrm>
          <a:prstGeom prst="rect">
            <a:avLst/>
          </a:prstGeom>
          <a:solidFill>
            <a:srgbClr val="00B4D8"/>
          </a:solidFill>
          <a:ln w="12700">
            <a:solidFill>
              <a:srgbClr val="00B4D8"/>
            </a:solidFill>
            <a:prstDash val="solid"/>
          </a:ln>
        </p:spPr>
      </p:sp>
      <p:sp>
        <p:nvSpPr>
          <p:cNvPr id="16" name="Text 14"/>
          <p:cNvSpPr/>
          <p:nvPr/>
        </p:nvSpPr>
        <p:spPr>
          <a:xfrm>
            <a:off x="502920" y="2770632"/>
            <a:ext cx="2011680" cy="256032"/>
          </a:xfrm>
          <a:prstGeom prst="rect">
            <a:avLst/>
          </a:prstGeom>
          <a:noFill/>
          <a:ln/>
        </p:spPr>
        <p:txBody>
          <a:bodyPr wrap="square" lIns="0" tIns="0" rIns="0" bIns="0" rtlCol="0" anchor="ctr"/>
          <a:lstStyle/>
          <a:p>
            <a:pPr marL="0" indent="0">
              <a:buNone/>
            </a:pPr>
            <a:r>
              <a:rPr lang="en-US" sz="1150" b="1" dirty="0">
                <a:solidFill>
                  <a:srgbClr val="00B4D8"/>
                </a:solidFill>
                <a:latin typeface="Calibri" pitchFamily="34" charset="0"/>
                <a:ea typeface="Calibri" pitchFamily="34" charset="-122"/>
                <a:cs typeface="Calibri" pitchFamily="34" charset="-120"/>
              </a:rPr>
              <a:t>Buczak &amp; Guven (2016)</a:t>
            </a:r>
            <a:endParaRPr lang="en-US" sz="1150" dirty="0"/>
          </a:p>
        </p:txBody>
      </p:sp>
      <p:sp>
        <p:nvSpPr>
          <p:cNvPr id="17" name="Text 15"/>
          <p:cNvSpPr/>
          <p:nvPr/>
        </p:nvSpPr>
        <p:spPr>
          <a:xfrm>
            <a:off x="502920" y="3044952"/>
            <a:ext cx="8138160" cy="292608"/>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Comprehensive survey of ML and data mining techniques for intrusion detection. Covered supervised, unsupervised, and hybrid methods highlighting trade-offs in detection accuracy.</a:t>
            </a:r>
            <a:endParaRPr lang="en-US" sz="1100" dirty="0"/>
          </a:p>
        </p:txBody>
      </p:sp>
      <p:sp>
        <p:nvSpPr>
          <p:cNvPr id="18" name="Shape 16"/>
          <p:cNvSpPr/>
          <p:nvPr/>
        </p:nvSpPr>
        <p:spPr>
          <a:xfrm>
            <a:off x="365760" y="3465576"/>
            <a:ext cx="8412480" cy="658368"/>
          </a:xfrm>
          <a:prstGeom prst="rect">
            <a:avLst/>
          </a:prstGeom>
          <a:solidFill>
            <a:srgbClr val="0D2B55"/>
          </a:solidFill>
          <a:ln w="6350">
            <a:solidFill>
              <a:srgbClr val="0077B6"/>
            </a:solidFill>
            <a:prstDash val="solid"/>
          </a:ln>
        </p:spPr>
      </p:sp>
      <p:sp>
        <p:nvSpPr>
          <p:cNvPr id="19" name="Shape 17"/>
          <p:cNvSpPr/>
          <p:nvPr/>
        </p:nvSpPr>
        <p:spPr>
          <a:xfrm>
            <a:off x="365760" y="3465576"/>
            <a:ext cx="54864" cy="658368"/>
          </a:xfrm>
          <a:prstGeom prst="rect">
            <a:avLst/>
          </a:prstGeom>
          <a:solidFill>
            <a:srgbClr val="00B4D8"/>
          </a:solidFill>
          <a:ln w="12700">
            <a:solidFill>
              <a:srgbClr val="00B4D8"/>
            </a:solidFill>
            <a:prstDash val="solid"/>
          </a:ln>
        </p:spPr>
      </p:sp>
      <p:sp>
        <p:nvSpPr>
          <p:cNvPr id="20" name="Text 18"/>
          <p:cNvSpPr/>
          <p:nvPr/>
        </p:nvSpPr>
        <p:spPr>
          <a:xfrm>
            <a:off x="502920" y="3520440"/>
            <a:ext cx="2011680" cy="256032"/>
          </a:xfrm>
          <a:prstGeom prst="rect">
            <a:avLst/>
          </a:prstGeom>
          <a:noFill/>
          <a:ln/>
        </p:spPr>
        <p:txBody>
          <a:bodyPr wrap="square" lIns="0" tIns="0" rIns="0" bIns="0" rtlCol="0" anchor="ctr"/>
          <a:lstStyle/>
          <a:p>
            <a:pPr marL="0" indent="0">
              <a:buNone/>
            </a:pPr>
            <a:r>
              <a:rPr lang="en-US" sz="1150" b="1" dirty="0">
                <a:solidFill>
                  <a:srgbClr val="00B4D8"/>
                </a:solidFill>
                <a:latin typeface="Calibri" pitchFamily="34" charset="0"/>
                <a:ea typeface="Calibri" pitchFamily="34" charset="-122"/>
                <a:cs typeface="Calibri" pitchFamily="34" charset="-120"/>
              </a:rPr>
              <a:t>Mirsky et al. (2018)</a:t>
            </a:r>
            <a:endParaRPr lang="en-US" sz="1150" dirty="0"/>
          </a:p>
        </p:txBody>
      </p:sp>
      <p:sp>
        <p:nvSpPr>
          <p:cNvPr id="21" name="Text 19"/>
          <p:cNvSpPr/>
          <p:nvPr/>
        </p:nvSpPr>
        <p:spPr>
          <a:xfrm>
            <a:off x="502920" y="3794760"/>
            <a:ext cx="8138160" cy="292608"/>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Introduced Kitsune, an online unsupervised anomaly detection framework for network IoT environments using autoencoders — demonstrated real-time performance.</a:t>
            </a:r>
            <a:endParaRPr lang="en-US" sz="1100" dirty="0"/>
          </a:p>
        </p:txBody>
      </p:sp>
      <p:sp>
        <p:nvSpPr>
          <p:cNvPr id="22" name="Shape 20"/>
          <p:cNvSpPr/>
          <p:nvPr/>
        </p:nvSpPr>
        <p:spPr>
          <a:xfrm>
            <a:off x="365760" y="4215384"/>
            <a:ext cx="8412480" cy="658368"/>
          </a:xfrm>
          <a:prstGeom prst="rect">
            <a:avLst/>
          </a:prstGeom>
          <a:solidFill>
            <a:srgbClr val="0D2B55"/>
          </a:solidFill>
          <a:ln w="6350">
            <a:solidFill>
              <a:srgbClr val="0077B6"/>
            </a:solidFill>
            <a:prstDash val="solid"/>
          </a:ln>
        </p:spPr>
      </p:sp>
      <p:sp>
        <p:nvSpPr>
          <p:cNvPr id="23" name="Shape 21"/>
          <p:cNvSpPr/>
          <p:nvPr/>
        </p:nvSpPr>
        <p:spPr>
          <a:xfrm>
            <a:off x="365760" y="4215384"/>
            <a:ext cx="54864" cy="658368"/>
          </a:xfrm>
          <a:prstGeom prst="rect">
            <a:avLst/>
          </a:prstGeom>
          <a:solidFill>
            <a:srgbClr val="00B4D8"/>
          </a:solidFill>
          <a:ln w="12700">
            <a:solidFill>
              <a:srgbClr val="00B4D8"/>
            </a:solidFill>
            <a:prstDash val="solid"/>
          </a:ln>
        </p:spPr>
      </p:sp>
      <p:sp>
        <p:nvSpPr>
          <p:cNvPr id="24" name="Text 22"/>
          <p:cNvSpPr/>
          <p:nvPr/>
        </p:nvSpPr>
        <p:spPr>
          <a:xfrm>
            <a:off x="502920" y="4270248"/>
            <a:ext cx="2011680" cy="256032"/>
          </a:xfrm>
          <a:prstGeom prst="rect">
            <a:avLst/>
          </a:prstGeom>
          <a:noFill/>
          <a:ln/>
        </p:spPr>
        <p:txBody>
          <a:bodyPr wrap="square" lIns="0" tIns="0" rIns="0" bIns="0" rtlCol="0" anchor="ctr"/>
          <a:lstStyle/>
          <a:p>
            <a:pPr marL="0" indent="0">
              <a:buNone/>
            </a:pPr>
            <a:r>
              <a:rPr lang="en-US" sz="1150" b="1" dirty="0">
                <a:solidFill>
                  <a:srgbClr val="00B4D8"/>
                </a:solidFill>
                <a:latin typeface="Calibri" pitchFamily="34" charset="0"/>
                <a:ea typeface="Calibri" pitchFamily="34" charset="-122"/>
                <a:cs typeface="Calibri" pitchFamily="34" charset="-120"/>
              </a:rPr>
              <a:t>Apruzzese et al. (2019)</a:t>
            </a:r>
            <a:endParaRPr lang="en-US" sz="1150" dirty="0"/>
          </a:p>
        </p:txBody>
      </p:sp>
      <p:sp>
        <p:nvSpPr>
          <p:cNvPr id="25" name="Text 23"/>
          <p:cNvSpPr/>
          <p:nvPr/>
        </p:nvSpPr>
        <p:spPr>
          <a:xfrm>
            <a:off x="502920" y="4544568"/>
            <a:ext cx="8138160" cy="292608"/>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Examined adversarial ML threats to cybersecurity AI systems, emphasizing that AI tools themselves can be targets of evasion, poisoning, and model-stealing attacks.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Literature Review — Recent Studies</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7</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Contemporary Research Findings (2020–2024)</a:t>
            </a:r>
            <a:endParaRPr lang="en-US" sz="1600" dirty="0"/>
          </a:p>
        </p:txBody>
      </p:sp>
      <p:sp>
        <p:nvSpPr>
          <p:cNvPr id="9" name="Shape 7"/>
          <p:cNvSpPr/>
          <p:nvPr/>
        </p:nvSpPr>
        <p:spPr>
          <a:xfrm>
            <a:off x="274320" y="1143000"/>
            <a:ext cx="2788920" cy="16002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0" name="Shape 8"/>
          <p:cNvSpPr/>
          <p:nvPr/>
        </p:nvSpPr>
        <p:spPr>
          <a:xfrm>
            <a:off x="274320" y="1143000"/>
            <a:ext cx="2788920" cy="54864"/>
          </a:xfrm>
          <a:prstGeom prst="rect">
            <a:avLst/>
          </a:prstGeom>
          <a:solidFill>
            <a:srgbClr val="06D6A0"/>
          </a:solidFill>
          <a:ln w="12700">
            <a:solidFill>
              <a:srgbClr val="06D6A0"/>
            </a:solidFill>
            <a:prstDash val="solid"/>
          </a:ln>
        </p:spPr>
      </p:sp>
      <p:sp>
        <p:nvSpPr>
          <p:cNvPr id="11" name="Text 9"/>
          <p:cNvSpPr/>
          <p:nvPr/>
        </p:nvSpPr>
        <p:spPr>
          <a:xfrm>
            <a:off x="365760" y="1234440"/>
            <a:ext cx="2606040" cy="237744"/>
          </a:xfrm>
          <a:prstGeom prst="rect">
            <a:avLst/>
          </a:prstGeom>
          <a:noFill/>
          <a:ln/>
        </p:spPr>
        <p:txBody>
          <a:bodyPr wrap="square" lIns="0" tIns="0" rIns="0" bIns="0" rtlCol="0" anchor="ctr"/>
          <a:lstStyle/>
          <a:p>
            <a:pPr marL="0" indent="0">
              <a:buNone/>
            </a:pPr>
            <a:r>
              <a:rPr lang="en-US" sz="950" b="1" dirty="0">
                <a:solidFill>
                  <a:srgbClr val="06D6A0"/>
                </a:solidFill>
                <a:latin typeface="Calibri" pitchFamily="34" charset="0"/>
                <a:ea typeface="Calibri" pitchFamily="34" charset="-122"/>
                <a:cs typeface="Calibri" pitchFamily="34" charset="-120"/>
              </a:rPr>
              <a:t>Deep Learning / IoT</a:t>
            </a:r>
            <a:endParaRPr lang="en-US" sz="950" dirty="0"/>
          </a:p>
        </p:txBody>
      </p:sp>
      <p:sp>
        <p:nvSpPr>
          <p:cNvPr id="12" name="Text 10"/>
          <p:cNvSpPr/>
          <p:nvPr/>
        </p:nvSpPr>
        <p:spPr>
          <a:xfrm>
            <a:off x="365760" y="1490472"/>
            <a:ext cx="26060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Ferrag et al. (2020)</a:t>
            </a:r>
            <a:endParaRPr lang="en-US" sz="1100" dirty="0"/>
          </a:p>
        </p:txBody>
      </p:sp>
      <p:sp>
        <p:nvSpPr>
          <p:cNvPr id="13" name="Text 11"/>
          <p:cNvSpPr/>
          <p:nvPr/>
        </p:nvSpPr>
        <p:spPr>
          <a:xfrm>
            <a:off x="365760" y="1764792"/>
            <a:ext cx="2606040" cy="914400"/>
          </a:xfrm>
          <a:prstGeom prst="rect">
            <a:avLst/>
          </a:prstGeom>
          <a:noFill/>
          <a:ln/>
        </p:spPr>
        <p:txBody>
          <a:bodyPr wrap="square" lIns="0" tIns="0" rIns="0" bIns="0" rtlCol="0" anchor="ctr"/>
          <a:lstStyle/>
          <a:p>
            <a:pPr marL="0" indent="0">
              <a:buNone/>
            </a:pPr>
            <a:r>
              <a:rPr lang="en-US" sz="1050" dirty="0">
                <a:solidFill>
                  <a:srgbClr val="CAD3E0"/>
                </a:solidFill>
                <a:latin typeface="Calibri" pitchFamily="34" charset="0"/>
                <a:ea typeface="Calibri" pitchFamily="34" charset="-122"/>
                <a:cs typeface="Calibri" pitchFamily="34" charset="-120"/>
              </a:rPr>
              <a:t>Deep learning architectures — specifically LSTM and CNN models — showed 97.8% accuracy in detecting IoT-based DDoS attacks, outperforming traditional signature methods.</a:t>
            </a:r>
            <a:endParaRPr lang="en-US" sz="1050" dirty="0"/>
          </a:p>
        </p:txBody>
      </p:sp>
      <p:sp>
        <p:nvSpPr>
          <p:cNvPr id="14" name="Shape 12"/>
          <p:cNvSpPr/>
          <p:nvPr/>
        </p:nvSpPr>
        <p:spPr>
          <a:xfrm>
            <a:off x="3246120" y="1143000"/>
            <a:ext cx="2788920" cy="16002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5" name="Shape 13"/>
          <p:cNvSpPr/>
          <p:nvPr/>
        </p:nvSpPr>
        <p:spPr>
          <a:xfrm>
            <a:off x="3246120" y="1143000"/>
            <a:ext cx="2788920" cy="54864"/>
          </a:xfrm>
          <a:prstGeom prst="rect">
            <a:avLst/>
          </a:prstGeom>
          <a:solidFill>
            <a:srgbClr val="06D6A0"/>
          </a:solidFill>
          <a:ln w="12700">
            <a:solidFill>
              <a:srgbClr val="06D6A0"/>
            </a:solidFill>
            <a:prstDash val="solid"/>
          </a:ln>
        </p:spPr>
      </p:sp>
      <p:sp>
        <p:nvSpPr>
          <p:cNvPr id="16" name="Text 14"/>
          <p:cNvSpPr/>
          <p:nvPr/>
        </p:nvSpPr>
        <p:spPr>
          <a:xfrm>
            <a:off x="3337560" y="1234440"/>
            <a:ext cx="2606040" cy="237744"/>
          </a:xfrm>
          <a:prstGeom prst="rect">
            <a:avLst/>
          </a:prstGeom>
          <a:noFill/>
          <a:ln/>
        </p:spPr>
        <p:txBody>
          <a:bodyPr wrap="square" lIns="0" tIns="0" rIns="0" bIns="0" rtlCol="0" anchor="ctr"/>
          <a:lstStyle/>
          <a:p>
            <a:pPr marL="0" indent="0">
              <a:buNone/>
            </a:pPr>
            <a:r>
              <a:rPr lang="en-US" sz="950" b="1" dirty="0">
                <a:solidFill>
                  <a:srgbClr val="06D6A0"/>
                </a:solidFill>
                <a:latin typeface="Calibri" pitchFamily="34" charset="0"/>
                <a:ea typeface="Calibri" pitchFamily="34" charset="-122"/>
                <a:cs typeface="Calibri" pitchFamily="34" charset="-120"/>
              </a:rPr>
              <a:t>Human-AI Teaming</a:t>
            </a:r>
            <a:endParaRPr lang="en-US" sz="950" dirty="0"/>
          </a:p>
        </p:txBody>
      </p:sp>
      <p:sp>
        <p:nvSpPr>
          <p:cNvPr id="17" name="Text 15"/>
          <p:cNvSpPr/>
          <p:nvPr/>
        </p:nvSpPr>
        <p:spPr>
          <a:xfrm>
            <a:off x="3337560" y="1490472"/>
            <a:ext cx="26060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Veeramachaneni et al. (2021)</a:t>
            </a:r>
            <a:endParaRPr lang="en-US" sz="1100" dirty="0"/>
          </a:p>
        </p:txBody>
      </p:sp>
      <p:sp>
        <p:nvSpPr>
          <p:cNvPr id="18" name="Text 16"/>
          <p:cNvSpPr/>
          <p:nvPr/>
        </p:nvSpPr>
        <p:spPr>
          <a:xfrm>
            <a:off x="3337560" y="1764792"/>
            <a:ext cx="2606040" cy="914400"/>
          </a:xfrm>
          <a:prstGeom prst="rect">
            <a:avLst/>
          </a:prstGeom>
          <a:noFill/>
          <a:ln/>
        </p:spPr>
        <p:txBody>
          <a:bodyPr wrap="square" lIns="0" tIns="0" rIns="0" bIns="0" rtlCol="0" anchor="ctr"/>
          <a:lstStyle/>
          <a:p>
            <a:pPr marL="0" indent="0">
              <a:buNone/>
            </a:pPr>
            <a:r>
              <a:rPr lang="en-US" sz="1050" dirty="0">
                <a:solidFill>
                  <a:srgbClr val="CAD3E0"/>
                </a:solidFill>
                <a:latin typeface="Calibri" pitchFamily="34" charset="0"/>
                <a:ea typeface="Calibri" pitchFamily="34" charset="-122"/>
                <a:cs typeface="Calibri" pitchFamily="34" charset="-120"/>
              </a:rPr>
              <a:t>Human-in-the-loop AI systems where analysts and algorithms collaborate reduced alert fatigue by 62% and increased analyst efficiency by 3x compared to fully automated approaches.</a:t>
            </a:r>
            <a:endParaRPr lang="en-US" sz="1050" dirty="0"/>
          </a:p>
        </p:txBody>
      </p:sp>
      <p:sp>
        <p:nvSpPr>
          <p:cNvPr id="19" name="Shape 17"/>
          <p:cNvSpPr/>
          <p:nvPr/>
        </p:nvSpPr>
        <p:spPr>
          <a:xfrm>
            <a:off x="6217920" y="1143000"/>
            <a:ext cx="2788920" cy="16002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0" name="Shape 18"/>
          <p:cNvSpPr/>
          <p:nvPr/>
        </p:nvSpPr>
        <p:spPr>
          <a:xfrm>
            <a:off x="6217920" y="1143000"/>
            <a:ext cx="2788920" cy="54864"/>
          </a:xfrm>
          <a:prstGeom prst="rect">
            <a:avLst/>
          </a:prstGeom>
          <a:solidFill>
            <a:srgbClr val="06D6A0"/>
          </a:solidFill>
          <a:ln w="12700">
            <a:solidFill>
              <a:srgbClr val="06D6A0"/>
            </a:solidFill>
            <a:prstDash val="solid"/>
          </a:ln>
        </p:spPr>
      </p:sp>
      <p:sp>
        <p:nvSpPr>
          <p:cNvPr id="21" name="Text 19"/>
          <p:cNvSpPr/>
          <p:nvPr/>
        </p:nvSpPr>
        <p:spPr>
          <a:xfrm>
            <a:off x="6309360" y="1234440"/>
            <a:ext cx="2606040" cy="237744"/>
          </a:xfrm>
          <a:prstGeom prst="rect">
            <a:avLst/>
          </a:prstGeom>
          <a:noFill/>
          <a:ln/>
        </p:spPr>
        <p:txBody>
          <a:bodyPr wrap="square" lIns="0" tIns="0" rIns="0" bIns="0" rtlCol="0" anchor="ctr"/>
          <a:lstStyle/>
          <a:p>
            <a:pPr marL="0" indent="0">
              <a:buNone/>
            </a:pPr>
            <a:r>
              <a:rPr lang="en-US" sz="950" b="1" dirty="0">
                <a:solidFill>
                  <a:srgbClr val="06D6A0"/>
                </a:solidFill>
                <a:latin typeface="Calibri" pitchFamily="34" charset="0"/>
                <a:ea typeface="Calibri" pitchFamily="34" charset="-122"/>
                <a:cs typeface="Calibri" pitchFamily="34" charset="-120"/>
              </a:rPr>
              <a:t>Data Augmentation</a:t>
            </a:r>
            <a:endParaRPr lang="en-US" sz="950" dirty="0"/>
          </a:p>
        </p:txBody>
      </p:sp>
      <p:sp>
        <p:nvSpPr>
          <p:cNvPr id="22" name="Text 20"/>
          <p:cNvSpPr/>
          <p:nvPr/>
        </p:nvSpPr>
        <p:spPr>
          <a:xfrm>
            <a:off x="6309360" y="1490472"/>
            <a:ext cx="26060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Naseer et al. (2022)</a:t>
            </a:r>
            <a:endParaRPr lang="en-US" sz="1100" dirty="0"/>
          </a:p>
        </p:txBody>
      </p:sp>
      <p:sp>
        <p:nvSpPr>
          <p:cNvPr id="23" name="Text 21"/>
          <p:cNvSpPr/>
          <p:nvPr/>
        </p:nvSpPr>
        <p:spPr>
          <a:xfrm>
            <a:off x="6309360" y="1764792"/>
            <a:ext cx="2606040" cy="914400"/>
          </a:xfrm>
          <a:prstGeom prst="rect">
            <a:avLst/>
          </a:prstGeom>
          <a:noFill/>
          <a:ln/>
        </p:spPr>
        <p:txBody>
          <a:bodyPr wrap="square" lIns="0" tIns="0" rIns="0" bIns="0" rtlCol="0" anchor="ctr"/>
          <a:lstStyle/>
          <a:p>
            <a:pPr marL="0" indent="0">
              <a:buNone/>
            </a:pPr>
            <a:r>
              <a:rPr lang="en-US" sz="1050" dirty="0">
                <a:solidFill>
                  <a:srgbClr val="CAD3E0"/>
                </a:solidFill>
                <a:latin typeface="Calibri" pitchFamily="34" charset="0"/>
                <a:ea typeface="Calibri" pitchFamily="34" charset="-122"/>
                <a:cs typeface="Calibri" pitchFamily="34" charset="-120"/>
              </a:rPr>
              <a:t>Generative Adversarial Networks (GANs) used for synthetic threat data augmentation improved rare-event detection by 43%, addressing the class-imbalance problem in security datasets.</a:t>
            </a:r>
            <a:endParaRPr lang="en-US" sz="1050" dirty="0"/>
          </a:p>
        </p:txBody>
      </p:sp>
      <p:sp>
        <p:nvSpPr>
          <p:cNvPr id="24" name="Shape 22"/>
          <p:cNvSpPr/>
          <p:nvPr/>
        </p:nvSpPr>
        <p:spPr>
          <a:xfrm>
            <a:off x="1737360" y="3017520"/>
            <a:ext cx="2788920" cy="16002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5" name="Shape 23"/>
          <p:cNvSpPr/>
          <p:nvPr/>
        </p:nvSpPr>
        <p:spPr>
          <a:xfrm>
            <a:off x="1737360" y="3017520"/>
            <a:ext cx="2788920" cy="54864"/>
          </a:xfrm>
          <a:prstGeom prst="rect">
            <a:avLst/>
          </a:prstGeom>
          <a:solidFill>
            <a:srgbClr val="06D6A0"/>
          </a:solidFill>
          <a:ln w="12700">
            <a:solidFill>
              <a:srgbClr val="06D6A0"/>
            </a:solidFill>
            <a:prstDash val="solid"/>
          </a:ln>
        </p:spPr>
      </p:sp>
      <p:sp>
        <p:nvSpPr>
          <p:cNvPr id="26" name="Text 24"/>
          <p:cNvSpPr/>
          <p:nvPr/>
        </p:nvSpPr>
        <p:spPr>
          <a:xfrm>
            <a:off x="1828800" y="3108960"/>
            <a:ext cx="2606040" cy="237744"/>
          </a:xfrm>
          <a:prstGeom prst="rect">
            <a:avLst/>
          </a:prstGeom>
          <a:noFill/>
          <a:ln/>
        </p:spPr>
        <p:txBody>
          <a:bodyPr wrap="square" lIns="0" tIns="0" rIns="0" bIns="0" rtlCol="0" anchor="ctr"/>
          <a:lstStyle/>
          <a:p>
            <a:pPr marL="0" indent="0">
              <a:buNone/>
            </a:pPr>
            <a:r>
              <a:rPr lang="en-US" sz="950" b="1" dirty="0">
                <a:solidFill>
                  <a:srgbClr val="06D6A0"/>
                </a:solidFill>
                <a:latin typeface="Calibri" pitchFamily="34" charset="0"/>
                <a:ea typeface="Calibri" pitchFamily="34" charset="-122"/>
                <a:cs typeface="Calibri" pitchFamily="34" charset="-120"/>
              </a:rPr>
              <a:t>Federated Learning</a:t>
            </a:r>
            <a:endParaRPr lang="en-US" sz="950" dirty="0"/>
          </a:p>
        </p:txBody>
      </p:sp>
      <p:sp>
        <p:nvSpPr>
          <p:cNvPr id="27" name="Text 25"/>
          <p:cNvSpPr/>
          <p:nvPr/>
        </p:nvSpPr>
        <p:spPr>
          <a:xfrm>
            <a:off x="1828800" y="3364992"/>
            <a:ext cx="26060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Jiang &amp; Ma (2023)</a:t>
            </a:r>
            <a:endParaRPr lang="en-US" sz="1100" dirty="0"/>
          </a:p>
        </p:txBody>
      </p:sp>
      <p:sp>
        <p:nvSpPr>
          <p:cNvPr id="28" name="Text 26"/>
          <p:cNvSpPr/>
          <p:nvPr/>
        </p:nvSpPr>
        <p:spPr>
          <a:xfrm>
            <a:off x="1828800" y="3639312"/>
            <a:ext cx="2606040" cy="914400"/>
          </a:xfrm>
          <a:prstGeom prst="rect">
            <a:avLst/>
          </a:prstGeom>
          <a:noFill/>
          <a:ln/>
        </p:spPr>
        <p:txBody>
          <a:bodyPr wrap="square" lIns="0" tIns="0" rIns="0" bIns="0" rtlCol="0" anchor="ctr"/>
          <a:lstStyle/>
          <a:p>
            <a:pPr marL="0" indent="0">
              <a:buNone/>
            </a:pPr>
            <a:r>
              <a:rPr lang="en-US" sz="1050" dirty="0">
                <a:solidFill>
                  <a:srgbClr val="CAD3E0"/>
                </a:solidFill>
                <a:latin typeface="Calibri" pitchFamily="34" charset="0"/>
                <a:ea typeface="Calibri" pitchFamily="34" charset="-122"/>
                <a:cs typeface="Calibri" pitchFamily="34" charset="-120"/>
              </a:rPr>
              <a:t>Federated learning frameworks allow distributed organizations to share threat intelligence without exposing raw data, maintaining privacy while achieving collective security improvements.</a:t>
            </a:r>
            <a:endParaRPr lang="en-US" sz="1050" dirty="0"/>
          </a:p>
        </p:txBody>
      </p:sp>
      <p:sp>
        <p:nvSpPr>
          <p:cNvPr id="29" name="Shape 27"/>
          <p:cNvSpPr/>
          <p:nvPr/>
        </p:nvSpPr>
        <p:spPr>
          <a:xfrm>
            <a:off x="4709160" y="3017520"/>
            <a:ext cx="2788920" cy="16002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30" name="Shape 28"/>
          <p:cNvSpPr/>
          <p:nvPr/>
        </p:nvSpPr>
        <p:spPr>
          <a:xfrm>
            <a:off x="4709160" y="3017520"/>
            <a:ext cx="2788920" cy="54864"/>
          </a:xfrm>
          <a:prstGeom prst="rect">
            <a:avLst/>
          </a:prstGeom>
          <a:solidFill>
            <a:srgbClr val="06D6A0"/>
          </a:solidFill>
          <a:ln w="12700">
            <a:solidFill>
              <a:srgbClr val="06D6A0"/>
            </a:solidFill>
            <a:prstDash val="solid"/>
          </a:ln>
        </p:spPr>
      </p:sp>
      <p:sp>
        <p:nvSpPr>
          <p:cNvPr id="31" name="Text 29"/>
          <p:cNvSpPr/>
          <p:nvPr/>
        </p:nvSpPr>
        <p:spPr>
          <a:xfrm>
            <a:off x="4800600" y="3108960"/>
            <a:ext cx="2606040" cy="237744"/>
          </a:xfrm>
          <a:prstGeom prst="rect">
            <a:avLst/>
          </a:prstGeom>
          <a:noFill/>
          <a:ln/>
        </p:spPr>
        <p:txBody>
          <a:bodyPr wrap="square" lIns="0" tIns="0" rIns="0" bIns="0" rtlCol="0" anchor="ctr"/>
          <a:lstStyle/>
          <a:p>
            <a:pPr marL="0" indent="0">
              <a:buNone/>
            </a:pPr>
            <a:r>
              <a:rPr lang="en-US" sz="950" b="1" dirty="0">
                <a:solidFill>
                  <a:srgbClr val="06D6A0"/>
                </a:solidFill>
                <a:latin typeface="Calibri" pitchFamily="34" charset="0"/>
                <a:ea typeface="Calibri" pitchFamily="34" charset="-122"/>
                <a:cs typeface="Calibri" pitchFamily="34" charset="-120"/>
              </a:rPr>
              <a:t>LLMs / GenAI</a:t>
            </a:r>
            <a:endParaRPr lang="en-US" sz="950" dirty="0"/>
          </a:p>
        </p:txBody>
      </p:sp>
      <p:sp>
        <p:nvSpPr>
          <p:cNvPr id="32" name="Text 30"/>
          <p:cNvSpPr/>
          <p:nvPr/>
        </p:nvSpPr>
        <p:spPr>
          <a:xfrm>
            <a:off x="4800600" y="3364992"/>
            <a:ext cx="26060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Mandal et al. (2024)</a:t>
            </a:r>
            <a:endParaRPr lang="en-US" sz="1100" dirty="0"/>
          </a:p>
        </p:txBody>
      </p:sp>
      <p:sp>
        <p:nvSpPr>
          <p:cNvPr id="33" name="Text 31"/>
          <p:cNvSpPr/>
          <p:nvPr/>
        </p:nvSpPr>
        <p:spPr>
          <a:xfrm>
            <a:off x="4800600" y="3639312"/>
            <a:ext cx="2606040" cy="914400"/>
          </a:xfrm>
          <a:prstGeom prst="rect">
            <a:avLst/>
          </a:prstGeom>
          <a:noFill/>
          <a:ln/>
        </p:spPr>
        <p:txBody>
          <a:bodyPr wrap="square" lIns="0" tIns="0" rIns="0" bIns="0" rtlCol="0" anchor="ctr"/>
          <a:lstStyle/>
          <a:p>
            <a:pPr marL="0" indent="0">
              <a:buNone/>
            </a:pPr>
            <a:r>
              <a:rPr lang="en-US" sz="1050" dirty="0">
                <a:solidFill>
                  <a:srgbClr val="CAD3E0"/>
                </a:solidFill>
                <a:latin typeface="Calibri" pitchFamily="34" charset="0"/>
                <a:ea typeface="Calibri" pitchFamily="34" charset="-122"/>
                <a:cs typeface="Calibri" pitchFamily="34" charset="-120"/>
              </a:rPr>
              <a:t>Large Language Models (LLMs) applied to vulnerability scanning and penetration testing automated 71% of standard reconnaissance tasks, dramatically reducing assessment timelines.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Theoretical Framework</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8</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Conceptual Underpinnings</a:t>
            </a:r>
            <a:endParaRPr lang="en-US" sz="1600" dirty="0"/>
          </a:p>
        </p:txBody>
      </p:sp>
      <p:sp>
        <p:nvSpPr>
          <p:cNvPr id="9" name="Shape 7"/>
          <p:cNvSpPr/>
          <p:nvPr/>
        </p:nvSpPr>
        <p:spPr>
          <a:xfrm>
            <a:off x="274320" y="1143000"/>
            <a:ext cx="4206240" cy="16002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0" name="Shape 8"/>
          <p:cNvSpPr/>
          <p:nvPr/>
        </p:nvSpPr>
        <p:spPr>
          <a:xfrm>
            <a:off x="274320" y="1143000"/>
            <a:ext cx="4206240" cy="54864"/>
          </a:xfrm>
          <a:prstGeom prst="rect">
            <a:avLst/>
          </a:prstGeom>
          <a:solidFill>
            <a:srgbClr val="00B4D8"/>
          </a:solidFill>
          <a:ln w="12700">
            <a:solidFill>
              <a:srgbClr val="00B4D8"/>
            </a:solidFill>
            <a:prstDash val="solid"/>
          </a:ln>
        </p:spPr>
      </p:sp>
      <p:sp>
        <p:nvSpPr>
          <p:cNvPr id="11" name="Text 9"/>
          <p:cNvSpPr/>
          <p:nvPr/>
        </p:nvSpPr>
        <p:spPr>
          <a:xfrm>
            <a:off x="411480" y="1252728"/>
            <a:ext cx="3931920" cy="32004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01. Defense-in-Depth (DiD)</a:t>
            </a:r>
            <a:endParaRPr lang="en-US" sz="1300" dirty="0"/>
          </a:p>
        </p:txBody>
      </p:sp>
      <p:sp>
        <p:nvSpPr>
          <p:cNvPr id="12" name="Text 10"/>
          <p:cNvSpPr/>
          <p:nvPr/>
        </p:nvSpPr>
        <p:spPr>
          <a:xfrm>
            <a:off x="411480" y="1618488"/>
            <a:ext cx="3931920" cy="1051560"/>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Multi-layered security strategy where AI augments each layer—perimeter, network, endpoint, application, and data—providing holistic protection rather than single-point solutions.</a:t>
            </a:r>
            <a:endParaRPr lang="en-US" sz="1150" dirty="0"/>
          </a:p>
        </p:txBody>
      </p:sp>
      <p:sp>
        <p:nvSpPr>
          <p:cNvPr id="13" name="Shape 11"/>
          <p:cNvSpPr/>
          <p:nvPr/>
        </p:nvSpPr>
        <p:spPr>
          <a:xfrm>
            <a:off x="4754880" y="1143000"/>
            <a:ext cx="4206240" cy="16002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4" name="Shape 12"/>
          <p:cNvSpPr/>
          <p:nvPr/>
        </p:nvSpPr>
        <p:spPr>
          <a:xfrm>
            <a:off x="4754880" y="1143000"/>
            <a:ext cx="4206240" cy="54864"/>
          </a:xfrm>
          <a:prstGeom prst="rect">
            <a:avLst/>
          </a:prstGeom>
          <a:solidFill>
            <a:srgbClr val="00B4D8"/>
          </a:solidFill>
          <a:ln w="12700">
            <a:solidFill>
              <a:srgbClr val="00B4D8"/>
            </a:solidFill>
            <a:prstDash val="solid"/>
          </a:ln>
        </p:spPr>
      </p:sp>
      <p:sp>
        <p:nvSpPr>
          <p:cNvPr id="15" name="Text 13"/>
          <p:cNvSpPr/>
          <p:nvPr/>
        </p:nvSpPr>
        <p:spPr>
          <a:xfrm>
            <a:off x="4892040" y="1252728"/>
            <a:ext cx="3931920" cy="32004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02. Zero Trust Architecture</a:t>
            </a:r>
            <a:endParaRPr lang="en-US" sz="1300" dirty="0"/>
          </a:p>
        </p:txBody>
      </p:sp>
      <p:sp>
        <p:nvSpPr>
          <p:cNvPr id="16" name="Text 14"/>
          <p:cNvSpPr/>
          <p:nvPr/>
        </p:nvSpPr>
        <p:spPr>
          <a:xfrm>
            <a:off x="4892040" y="1618488"/>
            <a:ext cx="3931920" cy="1051560"/>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AI enables continuous verification of all users and devices regardless of network location. Machine learning models assess trust scores dynamically based on behavior patterns.</a:t>
            </a:r>
            <a:endParaRPr lang="en-US" sz="1150" dirty="0"/>
          </a:p>
        </p:txBody>
      </p:sp>
      <p:sp>
        <p:nvSpPr>
          <p:cNvPr id="17" name="Shape 15"/>
          <p:cNvSpPr/>
          <p:nvPr/>
        </p:nvSpPr>
        <p:spPr>
          <a:xfrm>
            <a:off x="274320" y="2971800"/>
            <a:ext cx="4206240" cy="16002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8" name="Shape 16"/>
          <p:cNvSpPr/>
          <p:nvPr/>
        </p:nvSpPr>
        <p:spPr>
          <a:xfrm>
            <a:off x="274320" y="2971800"/>
            <a:ext cx="4206240" cy="54864"/>
          </a:xfrm>
          <a:prstGeom prst="rect">
            <a:avLst/>
          </a:prstGeom>
          <a:solidFill>
            <a:srgbClr val="00B4D8"/>
          </a:solidFill>
          <a:ln w="12700">
            <a:solidFill>
              <a:srgbClr val="00B4D8"/>
            </a:solidFill>
            <a:prstDash val="solid"/>
          </a:ln>
        </p:spPr>
      </p:sp>
      <p:sp>
        <p:nvSpPr>
          <p:cNvPr id="19" name="Text 17"/>
          <p:cNvSpPr/>
          <p:nvPr/>
        </p:nvSpPr>
        <p:spPr>
          <a:xfrm>
            <a:off x="411480" y="3081528"/>
            <a:ext cx="3931920" cy="32004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03. Adaptive Security Architecture</a:t>
            </a:r>
            <a:endParaRPr lang="en-US" sz="1300" dirty="0"/>
          </a:p>
        </p:txBody>
      </p:sp>
      <p:sp>
        <p:nvSpPr>
          <p:cNvPr id="20" name="Text 18"/>
          <p:cNvSpPr/>
          <p:nvPr/>
        </p:nvSpPr>
        <p:spPr>
          <a:xfrm>
            <a:off x="411480" y="3447288"/>
            <a:ext cx="3931920" cy="1051560"/>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Gartner's model predicts, prevents, detects, and responds. AI enables real-time adaptive responses by continuously learning from the evolving threat landscape.</a:t>
            </a:r>
            <a:endParaRPr lang="en-US" sz="1150" dirty="0"/>
          </a:p>
        </p:txBody>
      </p:sp>
      <p:sp>
        <p:nvSpPr>
          <p:cNvPr id="21" name="Shape 19"/>
          <p:cNvSpPr/>
          <p:nvPr/>
        </p:nvSpPr>
        <p:spPr>
          <a:xfrm>
            <a:off x="4754880" y="2971800"/>
            <a:ext cx="4206240" cy="16002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2" name="Shape 20"/>
          <p:cNvSpPr/>
          <p:nvPr/>
        </p:nvSpPr>
        <p:spPr>
          <a:xfrm>
            <a:off x="4754880" y="2971800"/>
            <a:ext cx="4206240" cy="54864"/>
          </a:xfrm>
          <a:prstGeom prst="rect">
            <a:avLst/>
          </a:prstGeom>
          <a:solidFill>
            <a:srgbClr val="00B4D8"/>
          </a:solidFill>
          <a:ln w="12700">
            <a:solidFill>
              <a:srgbClr val="00B4D8"/>
            </a:solidFill>
            <a:prstDash val="solid"/>
          </a:ln>
        </p:spPr>
      </p:sp>
      <p:sp>
        <p:nvSpPr>
          <p:cNvPr id="23" name="Text 21"/>
          <p:cNvSpPr/>
          <p:nvPr/>
        </p:nvSpPr>
        <p:spPr>
          <a:xfrm>
            <a:off x="4892040" y="3081528"/>
            <a:ext cx="3931920" cy="32004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04. NIST Cybersecurity Framework</a:t>
            </a:r>
            <a:endParaRPr lang="en-US" sz="1300" dirty="0"/>
          </a:p>
        </p:txBody>
      </p:sp>
      <p:sp>
        <p:nvSpPr>
          <p:cNvPr id="24" name="Text 22"/>
          <p:cNvSpPr/>
          <p:nvPr/>
        </p:nvSpPr>
        <p:spPr>
          <a:xfrm>
            <a:off x="4892040" y="3447288"/>
            <a:ext cx="3931920" cy="1051560"/>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AI maps to all five NIST functions: Identify (asset discovery), Protect (access control), Detect (anomaly detection), Respond (automated containment), Recover (forensic analysis).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Research Gaps &amp; Problem Formulation</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9</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Identified Gaps in Existing Literature</a:t>
            </a:r>
            <a:endParaRPr lang="en-US" sz="1600" dirty="0"/>
          </a:p>
        </p:txBody>
      </p:sp>
      <p:sp>
        <p:nvSpPr>
          <p:cNvPr id="9" name="Shape 7"/>
          <p:cNvSpPr/>
          <p:nvPr/>
        </p:nvSpPr>
        <p:spPr>
          <a:xfrm>
            <a:off x="274320" y="1143000"/>
            <a:ext cx="4114800" cy="36576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0" name="Shape 8"/>
          <p:cNvSpPr/>
          <p:nvPr/>
        </p:nvSpPr>
        <p:spPr>
          <a:xfrm>
            <a:off x="274320" y="1143000"/>
            <a:ext cx="4114800" cy="411480"/>
          </a:xfrm>
          <a:prstGeom prst="rect">
            <a:avLst/>
          </a:prstGeom>
          <a:solidFill>
            <a:srgbClr val="0077B6"/>
          </a:solidFill>
          <a:ln w="12700">
            <a:solidFill>
              <a:srgbClr val="0077B6"/>
            </a:solidFill>
            <a:prstDash val="solid"/>
          </a:ln>
        </p:spPr>
      </p:sp>
      <p:sp>
        <p:nvSpPr>
          <p:cNvPr id="11" name="Text 9"/>
          <p:cNvSpPr/>
          <p:nvPr/>
        </p:nvSpPr>
        <p:spPr>
          <a:xfrm>
            <a:off x="274320" y="1143000"/>
            <a:ext cx="411480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WHAT EXISTS</a:t>
            </a:r>
            <a:endParaRPr lang="en-US" sz="1300" dirty="0"/>
          </a:p>
        </p:txBody>
      </p:sp>
      <p:sp>
        <p:nvSpPr>
          <p:cNvPr id="12" name="Text 10"/>
          <p:cNvSpPr/>
          <p:nvPr/>
        </p:nvSpPr>
        <p:spPr>
          <a:xfrm>
            <a:off x="411480" y="1627632"/>
            <a:ext cx="3840480" cy="3017520"/>
          </a:xfrm>
          <a:prstGeom prst="rect">
            <a:avLst/>
          </a:prstGeom>
          <a:noFill/>
          <a:ln/>
        </p:spPr>
        <p:txBody>
          <a:bodyPr wrap="square" rtlCol="0" anchor="ctr"/>
          <a:lstStyle/>
          <a:p>
            <a:pPr marL="342900" indent="-342900">
              <a:buSzPct val="100000"/>
              <a:buChar char="•"/>
            </a:pPr>
            <a:r>
              <a:rPr lang="en-US" sz="1200" dirty="0">
                <a:solidFill>
                  <a:srgbClr val="CAD3E0"/>
                </a:solidFill>
                <a:latin typeface="Calibri" pitchFamily="34" charset="0"/>
                <a:ea typeface="Calibri" pitchFamily="34" charset="-122"/>
                <a:cs typeface="Calibri" pitchFamily="34" charset="-120"/>
              </a:rPr>
              <a:t>ML-based intrusion detection systems</a:t>
            </a:r>
            <a:endParaRPr lang="en-US" sz="1200" dirty="0"/>
          </a:p>
          <a:p>
            <a:pPr marL="342900" indent="-342900">
              <a:buSzPct val="100000"/>
              <a:buChar char="•"/>
            </a:pPr>
            <a:r>
              <a:rPr lang="en-US" sz="1200" dirty="0">
                <a:solidFill>
                  <a:srgbClr val="CAD3E0"/>
                </a:solidFill>
                <a:latin typeface="Calibri" pitchFamily="34" charset="0"/>
                <a:ea typeface="Calibri" pitchFamily="34" charset="-122"/>
                <a:cs typeface="Calibri" pitchFamily="34" charset="-120"/>
              </a:rPr>
              <a:t>Signature &amp; anomaly detection comparisons</a:t>
            </a:r>
            <a:endParaRPr lang="en-US" sz="1200" dirty="0"/>
          </a:p>
          <a:p>
            <a:pPr marL="342900" indent="-342900">
              <a:buSzPct val="100000"/>
              <a:buChar char="•"/>
            </a:pPr>
            <a:r>
              <a:rPr lang="en-US" sz="1200" dirty="0">
                <a:solidFill>
                  <a:srgbClr val="CAD3E0"/>
                </a:solidFill>
                <a:latin typeface="Calibri" pitchFamily="34" charset="0"/>
                <a:ea typeface="Calibri" pitchFamily="34" charset="-122"/>
                <a:cs typeface="Calibri" pitchFamily="34" charset="-120"/>
              </a:rPr>
              <a:t>AI for malware classification studies</a:t>
            </a:r>
            <a:endParaRPr lang="en-US" sz="1200" dirty="0"/>
          </a:p>
          <a:p>
            <a:pPr marL="342900" indent="-342900">
              <a:buSzPct val="100000"/>
              <a:buChar char="•"/>
            </a:pPr>
            <a:r>
              <a:rPr lang="en-US" sz="1200" dirty="0">
                <a:solidFill>
                  <a:srgbClr val="CAD3E0"/>
                </a:solidFill>
                <a:latin typeface="Calibri" pitchFamily="34" charset="0"/>
                <a:ea typeface="Calibri" pitchFamily="34" charset="-122"/>
                <a:cs typeface="Calibri" pitchFamily="34" charset="-120"/>
              </a:rPr>
              <a:t>Theoretical zero-trust architecture models</a:t>
            </a:r>
            <a:endParaRPr lang="en-US" sz="1200" dirty="0"/>
          </a:p>
          <a:p>
            <a:pPr marL="342900" indent="-342900">
              <a:buSzPct val="100000"/>
              <a:buChar char="•"/>
            </a:pPr>
            <a:r>
              <a:rPr lang="en-US" sz="1200" dirty="0">
                <a:solidFill>
                  <a:srgbClr val="CAD3E0"/>
                </a:solidFill>
                <a:latin typeface="Calibri" pitchFamily="34" charset="0"/>
                <a:ea typeface="Calibri" pitchFamily="34" charset="-122"/>
                <a:cs typeface="Calibri" pitchFamily="34" charset="-120"/>
              </a:rPr>
              <a:t>Individual tool performance benchmarks</a:t>
            </a:r>
            <a:endParaRPr lang="en-US" sz="1200" dirty="0"/>
          </a:p>
          <a:p>
            <a:pPr marL="0" indent="0">
              <a:buNone/>
            </a:pPr>
            <a:endParaRPr lang="en-US" sz="1200" dirty="0"/>
          </a:p>
        </p:txBody>
      </p:sp>
      <p:sp>
        <p:nvSpPr>
          <p:cNvPr id="13" name="Shape 11"/>
          <p:cNvSpPr/>
          <p:nvPr/>
        </p:nvSpPr>
        <p:spPr>
          <a:xfrm>
            <a:off x="4754880" y="1143000"/>
            <a:ext cx="4114800" cy="3657600"/>
          </a:xfrm>
          <a:prstGeom prst="rect">
            <a:avLst/>
          </a:prstGeom>
          <a:solidFill>
            <a:srgbClr val="1A0A2E"/>
          </a:solidFill>
          <a:ln w="6350">
            <a:solidFill>
              <a:srgbClr val="EF233C"/>
            </a:solidFill>
            <a:prstDash val="solid"/>
          </a:ln>
          <a:effectLst>
            <a:outerShdw blurRad="101600" dist="38100" dir="8100000" algn="bl" rotWithShape="0">
              <a:srgbClr val="000000">
                <a:alpha val="20000"/>
              </a:srgbClr>
            </a:outerShdw>
          </a:effectLst>
        </p:spPr>
      </p:sp>
      <p:sp>
        <p:nvSpPr>
          <p:cNvPr id="14" name="Shape 12"/>
          <p:cNvSpPr/>
          <p:nvPr/>
        </p:nvSpPr>
        <p:spPr>
          <a:xfrm>
            <a:off x="4754880" y="1143000"/>
            <a:ext cx="4114800" cy="411480"/>
          </a:xfrm>
          <a:prstGeom prst="rect">
            <a:avLst/>
          </a:prstGeom>
          <a:solidFill>
            <a:srgbClr val="EF233C"/>
          </a:solidFill>
          <a:ln w="12700">
            <a:solidFill>
              <a:srgbClr val="EF233C"/>
            </a:solidFill>
            <a:prstDash val="solid"/>
          </a:ln>
        </p:spPr>
      </p:sp>
      <p:sp>
        <p:nvSpPr>
          <p:cNvPr id="15" name="Text 13"/>
          <p:cNvSpPr/>
          <p:nvPr/>
        </p:nvSpPr>
        <p:spPr>
          <a:xfrm>
            <a:off x="4754880" y="1143000"/>
            <a:ext cx="411480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WHAT'S MISSING</a:t>
            </a:r>
            <a:endParaRPr lang="en-US" sz="1300" dirty="0"/>
          </a:p>
        </p:txBody>
      </p:sp>
      <p:sp>
        <p:nvSpPr>
          <p:cNvPr id="16" name="Text 14"/>
          <p:cNvSpPr/>
          <p:nvPr/>
        </p:nvSpPr>
        <p:spPr>
          <a:xfrm>
            <a:off x="4892040" y="1627632"/>
            <a:ext cx="3840480" cy="3017520"/>
          </a:xfrm>
          <a:prstGeom prst="rect">
            <a:avLst/>
          </a:prstGeom>
          <a:noFill/>
          <a:ln/>
        </p:spPr>
        <p:txBody>
          <a:bodyPr wrap="square" rtlCol="0" anchor="ctr"/>
          <a:lstStyle/>
          <a:p>
            <a:pPr marL="342900" indent="-342900">
              <a:buSzPct val="100000"/>
              <a:buChar char="•"/>
            </a:pPr>
            <a:r>
              <a:rPr lang="en-US" sz="1200" dirty="0">
                <a:solidFill>
                  <a:srgbClr val="CAD3E0"/>
                </a:solidFill>
                <a:latin typeface="Calibri" pitchFamily="34" charset="0"/>
                <a:ea typeface="Calibri" pitchFamily="34" charset="-122"/>
                <a:cs typeface="Calibri" pitchFamily="34" charset="-120"/>
              </a:rPr>
              <a:t>Integrated multi-AI platform effectiveness studies</a:t>
            </a:r>
            <a:endParaRPr lang="en-US" sz="1200" dirty="0"/>
          </a:p>
          <a:p>
            <a:pPr marL="342900" indent="-342900">
              <a:buSzPct val="100000"/>
              <a:buChar char="•"/>
            </a:pPr>
            <a:r>
              <a:rPr lang="en-US" sz="1200" dirty="0">
                <a:solidFill>
                  <a:srgbClr val="CAD3E0"/>
                </a:solidFill>
                <a:latin typeface="Calibri" pitchFamily="34" charset="0"/>
                <a:ea typeface="Calibri" pitchFamily="34" charset="-122"/>
                <a:cs typeface="Calibri" pitchFamily="34" charset="-120"/>
              </a:rPr>
              <a:t>Adversarial AI threat assessment frameworks</a:t>
            </a:r>
            <a:endParaRPr lang="en-US" sz="1200" dirty="0"/>
          </a:p>
          <a:p>
            <a:pPr marL="342900" indent="-342900">
              <a:buSzPct val="100000"/>
              <a:buChar char="•"/>
            </a:pPr>
            <a:r>
              <a:rPr lang="en-US" sz="1200" dirty="0">
                <a:solidFill>
                  <a:srgbClr val="CAD3E0"/>
                </a:solidFill>
                <a:latin typeface="Calibri" pitchFamily="34" charset="0"/>
                <a:ea typeface="Calibri" pitchFamily="34" charset="-122"/>
                <a:cs typeface="Calibri" pitchFamily="34" charset="-120"/>
              </a:rPr>
              <a:t>Cross-sector comparative adoption research</a:t>
            </a:r>
            <a:endParaRPr lang="en-US" sz="1200" dirty="0"/>
          </a:p>
          <a:p>
            <a:pPr marL="342900" indent="-342900">
              <a:buSzPct val="100000"/>
              <a:buChar char="•"/>
            </a:pPr>
            <a:r>
              <a:rPr lang="en-US" sz="1200" dirty="0">
                <a:solidFill>
                  <a:srgbClr val="CAD3E0"/>
                </a:solidFill>
                <a:latin typeface="Calibri" pitchFamily="34" charset="0"/>
                <a:ea typeface="Calibri" pitchFamily="34" charset="-122"/>
                <a:cs typeface="Calibri" pitchFamily="34" charset="-120"/>
              </a:rPr>
              <a:t>SME-focused AI cybersecurity strategies</a:t>
            </a:r>
            <a:endParaRPr lang="en-US" sz="1200" dirty="0"/>
          </a:p>
          <a:p>
            <a:pPr marL="342900" indent="-342900">
              <a:buSzPct val="100000"/>
              <a:buChar char="•"/>
            </a:pPr>
            <a:r>
              <a:rPr lang="en-US" sz="1200" dirty="0">
                <a:solidFill>
                  <a:srgbClr val="CAD3E0"/>
                </a:solidFill>
                <a:latin typeface="Calibri" pitchFamily="34" charset="0"/>
                <a:ea typeface="Calibri" pitchFamily="34" charset="-122"/>
                <a:cs typeface="Calibri" pitchFamily="34" charset="-120"/>
              </a:rPr>
              <a:t>Longitudinal studies on AI security ROI</a:t>
            </a:r>
            <a:endParaRPr lang="en-US" sz="1200" dirty="0"/>
          </a:p>
          <a:p>
            <a:pPr marL="0" indent="0">
              <a:buNone/>
            </a:pP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Research Objectives</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10</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500" i="1" dirty="0">
                <a:solidFill>
                  <a:srgbClr val="CAD3E0"/>
                </a:solidFill>
                <a:latin typeface="Calibri" pitchFamily="34" charset="0"/>
                <a:ea typeface="Calibri" pitchFamily="34" charset="-122"/>
                <a:cs typeface="Calibri" pitchFamily="34" charset="-120"/>
              </a:rPr>
              <a:t>This study aims to:</a:t>
            </a:r>
            <a:endParaRPr lang="en-US" sz="1500" dirty="0"/>
          </a:p>
        </p:txBody>
      </p:sp>
      <p:sp>
        <p:nvSpPr>
          <p:cNvPr id="9" name="Shape 7"/>
          <p:cNvSpPr/>
          <p:nvPr/>
        </p:nvSpPr>
        <p:spPr>
          <a:xfrm>
            <a:off x="274320" y="1115568"/>
            <a:ext cx="8595360" cy="66751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0" name="Shape 8"/>
          <p:cNvSpPr/>
          <p:nvPr/>
        </p:nvSpPr>
        <p:spPr>
          <a:xfrm>
            <a:off x="274320" y="1115568"/>
            <a:ext cx="475488" cy="667512"/>
          </a:xfrm>
          <a:prstGeom prst="rect">
            <a:avLst/>
          </a:prstGeom>
          <a:solidFill>
            <a:srgbClr val="00B4D8"/>
          </a:solidFill>
          <a:ln w="12700">
            <a:solidFill>
              <a:srgbClr val="00B4D8"/>
            </a:solidFill>
            <a:prstDash val="solid"/>
          </a:ln>
        </p:spPr>
      </p:sp>
      <p:sp>
        <p:nvSpPr>
          <p:cNvPr id="11" name="Text 9"/>
          <p:cNvSpPr/>
          <p:nvPr/>
        </p:nvSpPr>
        <p:spPr>
          <a:xfrm>
            <a:off x="274320" y="1115568"/>
            <a:ext cx="475488" cy="667512"/>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O1</a:t>
            </a:r>
            <a:endParaRPr lang="en-US" sz="1400" dirty="0"/>
          </a:p>
        </p:txBody>
      </p:sp>
      <p:sp>
        <p:nvSpPr>
          <p:cNvPr id="12" name="Text 10"/>
          <p:cNvSpPr/>
          <p:nvPr/>
        </p:nvSpPr>
        <p:spPr>
          <a:xfrm>
            <a:off x="822960" y="1225296"/>
            <a:ext cx="7955280" cy="457200"/>
          </a:xfrm>
          <a:prstGeom prst="rect">
            <a:avLst/>
          </a:prstGeom>
          <a:noFill/>
          <a:ln/>
        </p:spPr>
        <p:txBody>
          <a:bodyPr wrap="square" lIns="0" tIns="0" rIns="0" bIns="0" rtlCol="0" anchor="ctr"/>
          <a:lstStyle/>
          <a:p>
            <a:pPr marL="0" indent="0">
              <a:buNone/>
            </a:pPr>
            <a:r>
              <a:rPr lang="en-US" sz="1250" dirty="0">
                <a:solidFill>
                  <a:srgbClr val="CAD3E0"/>
                </a:solidFill>
                <a:latin typeface="Calibri" pitchFamily="34" charset="0"/>
                <a:ea typeface="Calibri" pitchFamily="34" charset="-122"/>
                <a:cs typeface="Calibri" pitchFamily="34" charset="-120"/>
              </a:rPr>
              <a:t>Examine the role of AI and machine learning algorithms in real-time cybersecurity threat detection and prevention.</a:t>
            </a:r>
            <a:endParaRPr lang="en-US" sz="1250" dirty="0"/>
          </a:p>
        </p:txBody>
      </p:sp>
      <p:sp>
        <p:nvSpPr>
          <p:cNvPr id="13" name="Shape 11"/>
          <p:cNvSpPr/>
          <p:nvPr/>
        </p:nvSpPr>
        <p:spPr>
          <a:xfrm>
            <a:off x="274320" y="1874520"/>
            <a:ext cx="8595360" cy="66751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4" name="Shape 12"/>
          <p:cNvSpPr/>
          <p:nvPr/>
        </p:nvSpPr>
        <p:spPr>
          <a:xfrm>
            <a:off x="274320" y="1874520"/>
            <a:ext cx="475488" cy="667512"/>
          </a:xfrm>
          <a:prstGeom prst="rect">
            <a:avLst/>
          </a:prstGeom>
          <a:solidFill>
            <a:srgbClr val="00B4D8"/>
          </a:solidFill>
          <a:ln w="12700">
            <a:solidFill>
              <a:srgbClr val="00B4D8"/>
            </a:solidFill>
            <a:prstDash val="solid"/>
          </a:ln>
        </p:spPr>
      </p:sp>
      <p:sp>
        <p:nvSpPr>
          <p:cNvPr id="15" name="Text 13"/>
          <p:cNvSpPr/>
          <p:nvPr/>
        </p:nvSpPr>
        <p:spPr>
          <a:xfrm>
            <a:off x="274320" y="1874520"/>
            <a:ext cx="475488" cy="667512"/>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O2</a:t>
            </a:r>
            <a:endParaRPr lang="en-US" sz="1400" dirty="0"/>
          </a:p>
        </p:txBody>
      </p:sp>
      <p:sp>
        <p:nvSpPr>
          <p:cNvPr id="16" name="Text 14"/>
          <p:cNvSpPr/>
          <p:nvPr/>
        </p:nvSpPr>
        <p:spPr>
          <a:xfrm>
            <a:off x="822960" y="1984248"/>
            <a:ext cx="7955280" cy="457200"/>
          </a:xfrm>
          <a:prstGeom prst="rect">
            <a:avLst/>
          </a:prstGeom>
          <a:noFill/>
          <a:ln/>
        </p:spPr>
        <p:txBody>
          <a:bodyPr wrap="square" lIns="0" tIns="0" rIns="0" bIns="0" rtlCol="0" anchor="ctr"/>
          <a:lstStyle/>
          <a:p>
            <a:pPr marL="0" indent="0">
              <a:buNone/>
            </a:pPr>
            <a:r>
              <a:rPr lang="en-US" sz="1250" dirty="0">
                <a:solidFill>
                  <a:srgbClr val="CAD3E0"/>
                </a:solidFill>
                <a:latin typeface="Calibri" pitchFamily="34" charset="0"/>
                <a:ea typeface="Calibri" pitchFamily="34" charset="-122"/>
                <a:cs typeface="Calibri" pitchFamily="34" charset="-120"/>
              </a:rPr>
              <a:t>Analyze how deep learning models (CNN, LSTM, Transformers) outperform traditional rule-based security systems.</a:t>
            </a:r>
            <a:endParaRPr lang="en-US" sz="1250" dirty="0"/>
          </a:p>
        </p:txBody>
      </p:sp>
      <p:sp>
        <p:nvSpPr>
          <p:cNvPr id="17" name="Shape 15"/>
          <p:cNvSpPr/>
          <p:nvPr/>
        </p:nvSpPr>
        <p:spPr>
          <a:xfrm>
            <a:off x="274320" y="2633472"/>
            <a:ext cx="8595360" cy="66751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8" name="Shape 16"/>
          <p:cNvSpPr/>
          <p:nvPr/>
        </p:nvSpPr>
        <p:spPr>
          <a:xfrm>
            <a:off x="274320" y="2633472"/>
            <a:ext cx="475488" cy="667512"/>
          </a:xfrm>
          <a:prstGeom prst="rect">
            <a:avLst/>
          </a:prstGeom>
          <a:solidFill>
            <a:srgbClr val="00B4D8"/>
          </a:solidFill>
          <a:ln w="12700">
            <a:solidFill>
              <a:srgbClr val="00B4D8"/>
            </a:solidFill>
            <a:prstDash val="solid"/>
          </a:ln>
        </p:spPr>
      </p:sp>
      <p:sp>
        <p:nvSpPr>
          <p:cNvPr id="19" name="Text 17"/>
          <p:cNvSpPr/>
          <p:nvPr/>
        </p:nvSpPr>
        <p:spPr>
          <a:xfrm>
            <a:off x="274320" y="2633472"/>
            <a:ext cx="475488" cy="667512"/>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O3</a:t>
            </a:r>
            <a:endParaRPr lang="en-US" sz="1400" dirty="0"/>
          </a:p>
        </p:txBody>
      </p:sp>
      <p:sp>
        <p:nvSpPr>
          <p:cNvPr id="20" name="Text 18"/>
          <p:cNvSpPr/>
          <p:nvPr/>
        </p:nvSpPr>
        <p:spPr>
          <a:xfrm>
            <a:off x="822960" y="2743200"/>
            <a:ext cx="7955280" cy="457200"/>
          </a:xfrm>
          <a:prstGeom prst="rect">
            <a:avLst/>
          </a:prstGeom>
          <a:noFill/>
          <a:ln/>
        </p:spPr>
        <p:txBody>
          <a:bodyPr wrap="square" lIns="0" tIns="0" rIns="0" bIns="0" rtlCol="0" anchor="ctr"/>
          <a:lstStyle/>
          <a:p>
            <a:pPr marL="0" indent="0">
              <a:buNone/>
            </a:pPr>
            <a:r>
              <a:rPr lang="en-US" sz="1250" dirty="0">
                <a:solidFill>
                  <a:srgbClr val="CAD3E0"/>
                </a:solidFill>
                <a:latin typeface="Calibri" pitchFamily="34" charset="0"/>
                <a:ea typeface="Calibri" pitchFamily="34" charset="-122"/>
                <a:cs typeface="Calibri" pitchFamily="34" charset="-120"/>
              </a:rPr>
              <a:t>Investigate the application of NLP and AI-driven threat intelligence in identifying and mitigating phishing and social engineering attacks.</a:t>
            </a:r>
            <a:endParaRPr lang="en-US" sz="1250" dirty="0"/>
          </a:p>
        </p:txBody>
      </p:sp>
      <p:sp>
        <p:nvSpPr>
          <p:cNvPr id="21" name="Shape 19"/>
          <p:cNvSpPr/>
          <p:nvPr/>
        </p:nvSpPr>
        <p:spPr>
          <a:xfrm>
            <a:off x="274320" y="3392424"/>
            <a:ext cx="8595360" cy="66751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2" name="Shape 20"/>
          <p:cNvSpPr/>
          <p:nvPr/>
        </p:nvSpPr>
        <p:spPr>
          <a:xfrm>
            <a:off x="274320" y="3392424"/>
            <a:ext cx="475488" cy="667512"/>
          </a:xfrm>
          <a:prstGeom prst="rect">
            <a:avLst/>
          </a:prstGeom>
          <a:solidFill>
            <a:srgbClr val="00B4D8"/>
          </a:solidFill>
          <a:ln w="12700">
            <a:solidFill>
              <a:srgbClr val="00B4D8"/>
            </a:solidFill>
            <a:prstDash val="solid"/>
          </a:ln>
        </p:spPr>
      </p:sp>
      <p:sp>
        <p:nvSpPr>
          <p:cNvPr id="23" name="Text 21"/>
          <p:cNvSpPr/>
          <p:nvPr/>
        </p:nvSpPr>
        <p:spPr>
          <a:xfrm>
            <a:off x="274320" y="3392424"/>
            <a:ext cx="475488" cy="667512"/>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O4</a:t>
            </a:r>
            <a:endParaRPr lang="en-US" sz="1400" dirty="0"/>
          </a:p>
        </p:txBody>
      </p:sp>
      <p:sp>
        <p:nvSpPr>
          <p:cNvPr id="24" name="Text 22"/>
          <p:cNvSpPr/>
          <p:nvPr/>
        </p:nvSpPr>
        <p:spPr>
          <a:xfrm>
            <a:off x="822960" y="3502152"/>
            <a:ext cx="7955280" cy="457200"/>
          </a:xfrm>
          <a:prstGeom prst="rect">
            <a:avLst/>
          </a:prstGeom>
          <a:noFill/>
          <a:ln/>
        </p:spPr>
        <p:txBody>
          <a:bodyPr wrap="square" lIns="0" tIns="0" rIns="0" bIns="0" rtlCol="0" anchor="ctr"/>
          <a:lstStyle/>
          <a:p>
            <a:pPr marL="0" indent="0">
              <a:buNone/>
            </a:pPr>
            <a:r>
              <a:rPr lang="en-US" sz="1250" dirty="0">
                <a:solidFill>
                  <a:srgbClr val="CAD3E0"/>
                </a:solidFill>
                <a:latin typeface="Calibri" pitchFamily="34" charset="0"/>
                <a:ea typeface="Calibri" pitchFamily="34" charset="-122"/>
                <a:cs typeface="Calibri" pitchFamily="34" charset="-120"/>
              </a:rPr>
              <a:t>Evaluate the effectiveness of AI-powered automated incident response systems in reducing breach impact and response time.</a:t>
            </a:r>
            <a:endParaRPr lang="en-US" sz="1250" dirty="0"/>
          </a:p>
        </p:txBody>
      </p:sp>
      <p:sp>
        <p:nvSpPr>
          <p:cNvPr id="25" name="Shape 23"/>
          <p:cNvSpPr/>
          <p:nvPr/>
        </p:nvSpPr>
        <p:spPr>
          <a:xfrm>
            <a:off x="274320" y="4151376"/>
            <a:ext cx="8595360" cy="66751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6" name="Shape 24"/>
          <p:cNvSpPr/>
          <p:nvPr/>
        </p:nvSpPr>
        <p:spPr>
          <a:xfrm>
            <a:off x="274320" y="4151376"/>
            <a:ext cx="475488" cy="667512"/>
          </a:xfrm>
          <a:prstGeom prst="rect">
            <a:avLst/>
          </a:prstGeom>
          <a:solidFill>
            <a:srgbClr val="00B4D8"/>
          </a:solidFill>
          <a:ln w="12700">
            <a:solidFill>
              <a:srgbClr val="00B4D8"/>
            </a:solidFill>
            <a:prstDash val="solid"/>
          </a:ln>
        </p:spPr>
      </p:sp>
      <p:sp>
        <p:nvSpPr>
          <p:cNvPr id="27" name="Text 25"/>
          <p:cNvSpPr/>
          <p:nvPr/>
        </p:nvSpPr>
        <p:spPr>
          <a:xfrm>
            <a:off x="274320" y="4151376"/>
            <a:ext cx="475488" cy="667512"/>
          </a:xfrm>
          <a:prstGeom prst="rect">
            <a:avLst/>
          </a:prstGeom>
          <a:noFill/>
          <a:ln/>
        </p:spPr>
        <p:txBody>
          <a:bodyPr wrap="square"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O5</a:t>
            </a:r>
            <a:endParaRPr lang="en-US" sz="1400" dirty="0"/>
          </a:p>
        </p:txBody>
      </p:sp>
      <p:sp>
        <p:nvSpPr>
          <p:cNvPr id="28" name="Text 26"/>
          <p:cNvSpPr/>
          <p:nvPr/>
        </p:nvSpPr>
        <p:spPr>
          <a:xfrm>
            <a:off x="822960" y="4261104"/>
            <a:ext cx="7955280" cy="457200"/>
          </a:xfrm>
          <a:prstGeom prst="rect">
            <a:avLst/>
          </a:prstGeom>
          <a:noFill/>
          <a:ln/>
        </p:spPr>
        <p:txBody>
          <a:bodyPr wrap="square" lIns="0" tIns="0" rIns="0" bIns="0" rtlCol="0" anchor="ctr"/>
          <a:lstStyle/>
          <a:p>
            <a:pPr marL="0" indent="0">
              <a:buNone/>
            </a:pPr>
            <a:r>
              <a:rPr lang="en-US" sz="1250" dirty="0">
                <a:solidFill>
                  <a:srgbClr val="CAD3E0"/>
                </a:solidFill>
                <a:latin typeface="Calibri" pitchFamily="34" charset="0"/>
                <a:ea typeface="Calibri" pitchFamily="34" charset="-122"/>
                <a:cs typeface="Calibri" pitchFamily="34" charset="-120"/>
              </a:rPr>
              <a:t>Identify key challenges, ethical considerations, and future directions for AI integration into enterprise cybersecurity frameworks.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Research Methodology</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11</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Research Design Overview</a:t>
            </a:r>
            <a:endParaRPr lang="en-US" sz="1600" dirty="0"/>
          </a:p>
        </p:txBody>
      </p:sp>
      <p:sp>
        <p:nvSpPr>
          <p:cNvPr id="9" name="Text 7"/>
          <p:cNvSpPr/>
          <p:nvPr/>
        </p:nvSpPr>
        <p:spPr>
          <a:xfrm>
            <a:off x="365760" y="1097280"/>
            <a:ext cx="8412480" cy="640080"/>
          </a:xfrm>
          <a:prstGeom prst="rect">
            <a:avLst/>
          </a:prstGeom>
          <a:noFill/>
          <a:ln/>
        </p:spPr>
        <p:txBody>
          <a:bodyPr wrap="square" rtlCol="0" anchor="ctr"/>
          <a:lstStyle/>
          <a:p>
            <a:pPr marL="0" indent="0">
              <a:buNone/>
            </a:pPr>
            <a:r>
              <a:rPr lang="en-US" sz="1300" dirty="0">
                <a:solidFill>
                  <a:srgbClr val="CAD3E0"/>
                </a:solidFill>
                <a:latin typeface="Calibri" pitchFamily="34" charset="0"/>
                <a:ea typeface="Calibri" pitchFamily="34" charset="-122"/>
                <a:cs typeface="Calibri" pitchFamily="34" charset="-120"/>
              </a:rPr>
              <a:t>This study adopts a mixed-methods research design, integrating both quantitative and qualitative approaches to comprehensively investigate AI's role in cybersecurity enhancement. The research follows a descriptive-analytical framework.</a:t>
            </a:r>
            <a:endParaRPr lang="en-US" sz="1300" dirty="0"/>
          </a:p>
        </p:txBody>
      </p:sp>
      <p:sp>
        <p:nvSpPr>
          <p:cNvPr id="10" name="Shape 8"/>
          <p:cNvSpPr/>
          <p:nvPr/>
        </p:nvSpPr>
        <p:spPr>
          <a:xfrm>
            <a:off x="274320" y="1828800"/>
            <a:ext cx="2743200" cy="132588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1" name="Text 9"/>
          <p:cNvSpPr/>
          <p:nvPr/>
        </p:nvSpPr>
        <p:spPr>
          <a:xfrm>
            <a:off x="274320" y="1920240"/>
            <a:ext cx="2743200" cy="4114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2" name="Text 10"/>
          <p:cNvSpPr/>
          <p:nvPr/>
        </p:nvSpPr>
        <p:spPr>
          <a:xfrm>
            <a:off x="384048" y="2331720"/>
            <a:ext cx="2523744" cy="256032"/>
          </a:xfrm>
          <a:prstGeom prst="rect">
            <a:avLst/>
          </a:prstGeom>
          <a:noFill/>
          <a:ln/>
        </p:spPr>
        <p:txBody>
          <a:bodyPr wrap="square" lIns="0" tIns="0" rIns="0" bIns="0"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Research Type</a:t>
            </a:r>
            <a:endParaRPr lang="en-US" sz="1100" dirty="0"/>
          </a:p>
        </p:txBody>
      </p:sp>
      <p:sp>
        <p:nvSpPr>
          <p:cNvPr id="13" name="Text 11"/>
          <p:cNvSpPr/>
          <p:nvPr/>
        </p:nvSpPr>
        <p:spPr>
          <a:xfrm>
            <a:off x="384048" y="2606040"/>
            <a:ext cx="2523744" cy="502920"/>
          </a:xfrm>
          <a:prstGeom prst="rect">
            <a:avLst/>
          </a:prstGeom>
          <a:noFill/>
          <a:ln/>
        </p:spPr>
        <p:txBody>
          <a:bodyPr wrap="square" lIns="0" tIns="0" rIns="0" bIns="0" rtlCol="0" anchor="ctr"/>
          <a:lstStyle/>
          <a:p>
            <a:pPr marL="0" indent="0" algn="ctr">
              <a:buNone/>
            </a:pPr>
            <a:r>
              <a:rPr lang="en-US" sz="1050" dirty="0">
                <a:solidFill>
                  <a:srgbClr val="CAD3E0"/>
                </a:solidFill>
                <a:latin typeface="Calibri" pitchFamily="34" charset="0"/>
                <a:ea typeface="Calibri" pitchFamily="34" charset="-122"/>
                <a:cs typeface="Calibri" pitchFamily="34" charset="-120"/>
              </a:rPr>
              <a:t>Applied Research (Descriptive + Analytical)</a:t>
            </a:r>
            <a:endParaRPr lang="en-US" sz="1050" dirty="0"/>
          </a:p>
        </p:txBody>
      </p:sp>
      <p:sp>
        <p:nvSpPr>
          <p:cNvPr id="14" name="Shape 12"/>
          <p:cNvSpPr/>
          <p:nvPr/>
        </p:nvSpPr>
        <p:spPr>
          <a:xfrm>
            <a:off x="3227832" y="1828800"/>
            <a:ext cx="2743200" cy="132588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5" name="Text 13"/>
          <p:cNvSpPr/>
          <p:nvPr/>
        </p:nvSpPr>
        <p:spPr>
          <a:xfrm>
            <a:off x="3227832" y="1920240"/>
            <a:ext cx="2743200" cy="4114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6" name="Text 14"/>
          <p:cNvSpPr/>
          <p:nvPr/>
        </p:nvSpPr>
        <p:spPr>
          <a:xfrm>
            <a:off x="3337560" y="2331720"/>
            <a:ext cx="2523744" cy="256032"/>
          </a:xfrm>
          <a:prstGeom prst="rect">
            <a:avLst/>
          </a:prstGeom>
          <a:noFill/>
          <a:ln/>
        </p:spPr>
        <p:txBody>
          <a:bodyPr wrap="square" lIns="0" tIns="0" rIns="0" bIns="0"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Approach</a:t>
            </a:r>
            <a:endParaRPr lang="en-US" sz="1100" dirty="0"/>
          </a:p>
        </p:txBody>
      </p:sp>
      <p:sp>
        <p:nvSpPr>
          <p:cNvPr id="17" name="Text 15"/>
          <p:cNvSpPr/>
          <p:nvPr/>
        </p:nvSpPr>
        <p:spPr>
          <a:xfrm>
            <a:off x="3337560" y="2606040"/>
            <a:ext cx="2523744" cy="502920"/>
          </a:xfrm>
          <a:prstGeom prst="rect">
            <a:avLst/>
          </a:prstGeom>
          <a:noFill/>
          <a:ln/>
        </p:spPr>
        <p:txBody>
          <a:bodyPr wrap="square" lIns="0" tIns="0" rIns="0" bIns="0" rtlCol="0" anchor="ctr"/>
          <a:lstStyle/>
          <a:p>
            <a:pPr marL="0" indent="0" algn="ctr">
              <a:buNone/>
            </a:pPr>
            <a:r>
              <a:rPr lang="en-US" sz="1050" dirty="0">
                <a:solidFill>
                  <a:srgbClr val="CAD3E0"/>
                </a:solidFill>
                <a:latin typeface="Calibri" pitchFamily="34" charset="0"/>
                <a:ea typeface="Calibri" pitchFamily="34" charset="-122"/>
                <a:cs typeface="Calibri" pitchFamily="34" charset="-120"/>
              </a:rPr>
              <a:t>Mixed Methods (Quantitative + Qualitative)</a:t>
            </a:r>
            <a:endParaRPr lang="en-US" sz="1050" dirty="0"/>
          </a:p>
        </p:txBody>
      </p:sp>
      <p:sp>
        <p:nvSpPr>
          <p:cNvPr id="18" name="Shape 16"/>
          <p:cNvSpPr/>
          <p:nvPr/>
        </p:nvSpPr>
        <p:spPr>
          <a:xfrm>
            <a:off x="6181344" y="1828800"/>
            <a:ext cx="2743200" cy="132588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9" name="Text 17"/>
          <p:cNvSpPr/>
          <p:nvPr/>
        </p:nvSpPr>
        <p:spPr>
          <a:xfrm>
            <a:off x="6181344" y="1920240"/>
            <a:ext cx="2743200" cy="4114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0" name="Text 18"/>
          <p:cNvSpPr/>
          <p:nvPr/>
        </p:nvSpPr>
        <p:spPr>
          <a:xfrm>
            <a:off x="6291072" y="2331720"/>
            <a:ext cx="2523744" cy="256032"/>
          </a:xfrm>
          <a:prstGeom prst="rect">
            <a:avLst/>
          </a:prstGeom>
          <a:noFill/>
          <a:ln/>
        </p:spPr>
        <p:txBody>
          <a:bodyPr wrap="square" lIns="0" tIns="0" rIns="0" bIns="0"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Data Sources</a:t>
            </a:r>
            <a:endParaRPr lang="en-US" sz="1100" dirty="0"/>
          </a:p>
        </p:txBody>
      </p:sp>
      <p:sp>
        <p:nvSpPr>
          <p:cNvPr id="21" name="Text 19"/>
          <p:cNvSpPr/>
          <p:nvPr/>
        </p:nvSpPr>
        <p:spPr>
          <a:xfrm>
            <a:off x="6291072" y="2606040"/>
            <a:ext cx="2523744" cy="502920"/>
          </a:xfrm>
          <a:prstGeom prst="rect">
            <a:avLst/>
          </a:prstGeom>
          <a:noFill/>
          <a:ln/>
        </p:spPr>
        <p:txBody>
          <a:bodyPr wrap="square" lIns="0" tIns="0" rIns="0" bIns="0" rtlCol="0" anchor="ctr"/>
          <a:lstStyle/>
          <a:p>
            <a:pPr marL="0" indent="0" algn="ctr">
              <a:buNone/>
            </a:pPr>
            <a:r>
              <a:rPr lang="en-US" sz="1050" dirty="0">
                <a:solidFill>
                  <a:srgbClr val="CAD3E0"/>
                </a:solidFill>
                <a:latin typeface="Calibri" pitchFamily="34" charset="0"/>
                <a:ea typeface="Calibri" pitchFamily="34" charset="-122"/>
                <a:cs typeface="Calibri" pitchFamily="34" charset="-120"/>
              </a:rPr>
              <a:t>Primary (Surveys, Interviews) + Secondary (Journals, Reports)</a:t>
            </a:r>
            <a:endParaRPr lang="en-US" sz="1050" dirty="0"/>
          </a:p>
        </p:txBody>
      </p:sp>
      <p:sp>
        <p:nvSpPr>
          <p:cNvPr id="22" name="Shape 20"/>
          <p:cNvSpPr/>
          <p:nvPr/>
        </p:nvSpPr>
        <p:spPr>
          <a:xfrm>
            <a:off x="274320" y="3337560"/>
            <a:ext cx="2743200" cy="132588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3" name="Text 21"/>
          <p:cNvSpPr/>
          <p:nvPr/>
        </p:nvSpPr>
        <p:spPr>
          <a:xfrm>
            <a:off x="274320" y="3429000"/>
            <a:ext cx="2743200" cy="4114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4" name="Text 22"/>
          <p:cNvSpPr/>
          <p:nvPr/>
        </p:nvSpPr>
        <p:spPr>
          <a:xfrm>
            <a:off x="384048" y="3840480"/>
            <a:ext cx="2523744" cy="256032"/>
          </a:xfrm>
          <a:prstGeom prst="rect">
            <a:avLst/>
          </a:prstGeom>
          <a:noFill/>
          <a:ln/>
        </p:spPr>
        <p:txBody>
          <a:bodyPr wrap="square" lIns="0" tIns="0" rIns="0" bIns="0"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Sample</a:t>
            </a:r>
            <a:endParaRPr lang="en-US" sz="1100" dirty="0"/>
          </a:p>
        </p:txBody>
      </p:sp>
      <p:sp>
        <p:nvSpPr>
          <p:cNvPr id="25" name="Text 23"/>
          <p:cNvSpPr/>
          <p:nvPr/>
        </p:nvSpPr>
        <p:spPr>
          <a:xfrm>
            <a:off x="384048" y="4114800"/>
            <a:ext cx="2523744" cy="502920"/>
          </a:xfrm>
          <a:prstGeom prst="rect">
            <a:avLst/>
          </a:prstGeom>
          <a:noFill/>
          <a:ln/>
        </p:spPr>
        <p:txBody>
          <a:bodyPr wrap="square" lIns="0" tIns="0" rIns="0" bIns="0" rtlCol="0" anchor="ctr"/>
          <a:lstStyle/>
          <a:p>
            <a:pPr marL="0" indent="0" algn="ctr">
              <a:buNone/>
            </a:pPr>
            <a:r>
              <a:rPr lang="en-US" sz="1050" dirty="0">
                <a:solidFill>
                  <a:srgbClr val="CAD3E0"/>
                </a:solidFill>
                <a:latin typeface="Calibri" pitchFamily="34" charset="0"/>
                <a:ea typeface="Calibri" pitchFamily="34" charset="-122"/>
                <a:cs typeface="Calibri" pitchFamily="34" charset="-120"/>
              </a:rPr>
              <a:t>IT Security Professionals (n=120), Organizations (n=30)</a:t>
            </a:r>
            <a:endParaRPr lang="en-US" sz="1050" dirty="0"/>
          </a:p>
        </p:txBody>
      </p:sp>
      <p:sp>
        <p:nvSpPr>
          <p:cNvPr id="26" name="Shape 24"/>
          <p:cNvSpPr/>
          <p:nvPr/>
        </p:nvSpPr>
        <p:spPr>
          <a:xfrm>
            <a:off x="3227832" y="3337560"/>
            <a:ext cx="2743200" cy="132588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7" name="Text 25"/>
          <p:cNvSpPr/>
          <p:nvPr/>
        </p:nvSpPr>
        <p:spPr>
          <a:xfrm>
            <a:off x="3227832" y="3429000"/>
            <a:ext cx="2743200" cy="4114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8" name="Text 26"/>
          <p:cNvSpPr/>
          <p:nvPr/>
        </p:nvSpPr>
        <p:spPr>
          <a:xfrm>
            <a:off x="3337560" y="3840480"/>
            <a:ext cx="2523744" cy="256032"/>
          </a:xfrm>
          <a:prstGeom prst="rect">
            <a:avLst/>
          </a:prstGeom>
          <a:noFill/>
          <a:ln/>
        </p:spPr>
        <p:txBody>
          <a:bodyPr wrap="square" lIns="0" tIns="0" rIns="0" bIns="0"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Analysis Tools</a:t>
            </a:r>
            <a:endParaRPr lang="en-US" sz="1100" dirty="0"/>
          </a:p>
        </p:txBody>
      </p:sp>
      <p:sp>
        <p:nvSpPr>
          <p:cNvPr id="29" name="Text 27"/>
          <p:cNvSpPr/>
          <p:nvPr/>
        </p:nvSpPr>
        <p:spPr>
          <a:xfrm>
            <a:off x="3337560" y="4114800"/>
            <a:ext cx="2523744" cy="502920"/>
          </a:xfrm>
          <a:prstGeom prst="rect">
            <a:avLst/>
          </a:prstGeom>
          <a:noFill/>
          <a:ln/>
        </p:spPr>
        <p:txBody>
          <a:bodyPr wrap="square" lIns="0" tIns="0" rIns="0" bIns="0" rtlCol="0" anchor="ctr"/>
          <a:lstStyle/>
          <a:p>
            <a:pPr marL="0" indent="0" algn="ctr">
              <a:buNone/>
            </a:pPr>
            <a:r>
              <a:rPr lang="en-US" sz="1050" dirty="0">
                <a:solidFill>
                  <a:srgbClr val="CAD3E0"/>
                </a:solidFill>
                <a:latin typeface="Calibri" pitchFamily="34" charset="0"/>
                <a:ea typeface="Calibri" pitchFamily="34" charset="-122"/>
                <a:cs typeface="Calibri" pitchFamily="34" charset="-120"/>
              </a:rPr>
              <a:t>SPSS, Python (Pandas, Matplotlib), Thematic Analysis</a:t>
            </a:r>
            <a:endParaRPr lang="en-US" sz="1050" dirty="0"/>
          </a:p>
        </p:txBody>
      </p:sp>
      <p:sp>
        <p:nvSpPr>
          <p:cNvPr id="30" name="Shape 28"/>
          <p:cNvSpPr/>
          <p:nvPr/>
        </p:nvSpPr>
        <p:spPr>
          <a:xfrm>
            <a:off x="6181344" y="3337560"/>
            <a:ext cx="2743200" cy="132588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31" name="Text 29"/>
          <p:cNvSpPr/>
          <p:nvPr/>
        </p:nvSpPr>
        <p:spPr>
          <a:xfrm>
            <a:off x="6181344" y="3429000"/>
            <a:ext cx="2743200" cy="4114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2" name="Text 30"/>
          <p:cNvSpPr/>
          <p:nvPr/>
        </p:nvSpPr>
        <p:spPr>
          <a:xfrm>
            <a:off x="6291072" y="3840480"/>
            <a:ext cx="2523744" cy="256032"/>
          </a:xfrm>
          <a:prstGeom prst="rect">
            <a:avLst/>
          </a:prstGeom>
          <a:noFill/>
          <a:ln/>
        </p:spPr>
        <p:txBody>
          <a:bodyPr wrap="square" lIns="0" tIns="0" rIns="0" bIns="0"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Ethical Standards</a:t>
            </a:r>
            <a:endParaRPr lang="en-US" sz="1100" dirty="0"/>
          </a:p>
        </p:txBody>
      </p:sp>
      <p:sp>
        <p:nvSpPr>
          <p:cNvPr id="33" name="Text 31"/>
          <p:cNvSpPr/>
          <p:nvPr/>
        </p:nvSpPr>
        <p:spPr>
          <a:xfrm>
            <a:off x="6291072" y="4114800"/>
            <a:ext cx="2523744" cy="502920"/>
          </a:xfrm>
          <a:prstGeom prst="rect">
            <a:avLst/>
          </a:prstGeom>
          <a:noFill/>
          <a:ln/>
        </p:spPr>
        <p:txBody>
          <a:bodyPr wrap="square" lIns="0" tIns="0" rIns="0" bIns="0" rtlCol="0" anchor="ctr"/>
          <a:lstStyle/>
          <a:p>
            <a:pPr marL="0" indent="0" algn="ctr">
              <a:buNone/>
            </a:pPr>
            <a:r>
              <a:rPr lang="en-US" sz="1050" dirty="0">
                <a:solidFill>
                  <a:srgbClr val="CAD3E0"/>
                </a:solidFill>
                <a:latin typeface="Calibri" pitchFamily="34" charset="0"/>
                <a:ea typeface="Calibri" pitchFamily="34" charset="-122"/>
                <a:cs typeface="Calibri" pitchFamily="34" charset="-120"/>
              </a:rPr>
              <a:t>Informed consent, data anonymization, IRB compliance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Collection Methods</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12</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Primary &amp; Secondary Data Sources</a:t>
            </a:r>
            <a:endParaRPr lang="en-US" sz="1600" dirty="0"/>
          </a:p>
        </p:txBody>
      </p:sp>
      <p:sp>
        <p:nvSpPr>
          <p:cNvPr id="9" name="Shape 7"/>
          <p:cNvSpPr/>
          <p:nvPr/>
        </p:nvSpPr>
        <p:spPr>
          <a:xfrm>
            <a:off x="274320" y="1143000"/>
            <a:ext cx="4114800" cy="36576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0" name="Shape 8"/>
          <p:cNvSpPr/>
          <p:nvPr/>
        </p:nvSpPr>
        <p:spPr>
          <a:xfrm>
            <a:off x="274320" y="1143000"/>
            <a:ext cx="4114800" cy="384048"/>
          </a:xfrm>
          <a:prstGeom prst="rect">
            <a:avLst/>
          </a:prstGeom>
          <a:solidFill>
            <a:srgbClr val="0077B6"/>
          </a:solidFill>
          <a:ln w="12700">
            <a:solidFill>
              <a:srgbClr val="0077B6"/>
            </a:solidFill>
            <a:prstDash val="solid"/>
          </a:ln>
        </p:spPr>
      </p:sp>
      <p:sp>
        <p:nvSpPr>
          <p:cNvPr id="11" name="Text 9"/>
          <p:cNvSpPr/>
          <p:nvPr/>
        </p:nvSpPr>
        <p:spPr>
          <a:xfrm>
            <a:off x="274320" y="1143000"/>
            <a:ext cx="411480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PRIMARY DATA</a:t>
            </a:r>
            <a:endParaRPr lang="en-US" sz="1300" dirty="0"/>
          </a:p>
        </p:txBody>
      </p:sp>
      <p:sp>
        <p:nvSpPr>
          <p:cNvPr id="12" name="Text 10"/>
          <p:cNvSpPr/>
          <p:nvPr/>
        </p:nvSpPr>
        <p:spPr>
          <a:xfrm>
            <a:off x="411480" y="1600200"/>
            <a:ext cx="3840480" cy="3108960"/>
          </a:xfrm>
          <a:prstGeom prst="rect">
            <a:avLst/>
          </a:prstGeom>
          <a:noFill/>
          <a:ln/>
        </p:spPr>
        <p:txBody>
          <a:bodyPr wrap="square" rtlCol="0" anchor="ctr"/>
          <a:lstStyle/>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Structured questionnaires distributed to 120 IT security professionals across 30 organizations</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Semi-structured interviews with 15 Chief Information Security Officers (CISOs)</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Surveys covering AI tool adoption, effectiveness rating, and implementation challenges</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Focus groups with 3 enterprise security teams (15 participants each)</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Observation of AI security dashboards in two partner organizations</a:t>
            </a:r>
            <a:endParaRPr lang="en-US" sz="1150" dirty="0"/>
          </a:p>
          <a:p>
            <a:pPr marL="0" indent="0">
              <a:buNone/>
            </a:pPr>
            <a:endParaRPr lang="en-US" sz="1150" dirty="0"/>
          </a:p>
        </p:txBody>
      </p:sp>
      <p:sp>
        <p:nvSpPr>
          <p:cNvPr id="13" name="Shape 11"/>
          <p:cNvSpPr/>
          <p:nvPr/>
        </p:nvSpPr>
        <p:spPr>
          <a:xfrm>
            <a:off x="4754880" y="1143000"/>
            <a:ext cx="4114800" cy="36576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4" name="Shape 12"/>
          <p:cNvSpPr/>
          <p:nvPr/>
        </p:nvSpPr>
        <p:spPr>
          <a:xfrm>
            <a:off x="4754880" y="1143000"/>
            <a:ext cx="4114800" cy="384048"/>
          </a:xfrm>
          <a:prstGeom prst="rect">
            <a:avLst/>
          </a:prstGeom>
          <a:solidFill>
            <a:srgbClr val="06D6A0"/>
          </a:solidFill>
          <a:ln w="12700">
            <a:solidFill>
              <a:srgbClr val="06D6A0"/>
            </a:solidFill>
            <a:prstDash val="solid"/>
          </a:ln>
        </p:spPr>
      </p:sp>
      <p:sp>
        <p:nvSpPr>
          <p:cNvPr id="15" name="Text 13"/>
          <p:cNvSpPr/>
          <p:nvPr/>
        </p:nvSpPr>
        <p:spPr>
          <a:xfrm>
            <a:off x="4754880" y="1143000"/>
            <a:ext cx="4114800" cy="384048"/>
          </a:xfrm>
          <a:prstGeom prst="rect">
            <a:avLst/>
          </a:prstGeom>
          <a:noFill/>
          <a:ln/>
        </p:spPr>
        <p:txBody>
          <a:bodyPr wrap="square"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SECONDARY DATA</a:t>
            </a:r>
            <a:endParaRPr lang="en-US" sz="1300" dirty="0"/>
          </a:p>
        </p:txBody>
      </p:sp>
      <p:sp>
        <p:nvSpPr>
          <p:cNvPr id="16" name="Text 14"/>
          <p:cNvSpPr/>
          <p:nvPr/>
        </p:nvSpPr>
        <p:spPr>
          <a:xfrm>
            <a:off x="4892040" y="1600200"/>
            <a:ext cx="3840480" cy="3108960"/>
          </a:xfrm>
          <a:prstGeom prst="rect">
            <a:avLst/>
          </a:prstGeom>
          <a:noFill/>
          <a:ln/>
        </p:spPr>
        <p:txBody>
          <a:bodyPr wrap="square" rtlCol="0" anchor="ctr"/>
          <a:lstStyle/>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Peer-reviewed journals: IEEE, ACM, Elsevier (2018–2024) — 60+ articles reviewed</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Industry reports: Gartner, IDC, Forrester, IBM X-Force Threat Intelligence Index</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Government publications: NIST, ENISA, CISA cybersecurity frameworks</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Open datasets: KDD Cup '99, CICIDS 2017/2018, NSL-KDD for AI model validation</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Vendor white papers: Darktrace, CrowdStrike, Palo Alto Networks, Microsoft Sentinel</a:t>
            </a:r>
            <a:endParaRPr lang="en-US" sz="1150" dirty="0"/>
          </a:p>
          <a:p>
            <a:pPr marL="0" indent="0">
              <a:buNone/>
            </a:pP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Sampling Strategy &amp; Research Ethics</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13</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4114800" cy="347472"/>
          </a:xfrm>
          <a:prstGeom prst="rect">
            <a:avLst/>
          </a:prstGeom>
          <a:noFill/>
          <a:ln/>
        </p:spPr>
        <p:txBody>
          <a:bodyPr wrap="square" rtlCol="0" anchor="ctr"/>
          <a:lstStyle/>
          <a:p>
            <a:pPr marL="0" indent="0">
              <a:buNone/>
            </a:pPr>
            <a:r>
              <a:rPr lang="en-US" sz="1500" b="1" dirty="0">
                <a:solidFill>
                  <a:srgbClr val="00B4D8"/>
                </a:solidFill>
                <a:latin typeface="Calibri" pitchFamily="34" charset="0"/>
                <a:ea typeface="Calibri" pitchFamily="34" charset="-122"/>
                <a:cs typeface="Calibri" pitchFamily="34" charset="-120"/>
              </a:rPr>
              <a:t>Sampling Design</a:t>
            </a:r>
            <a:endParaRPr lang="en-US" sz="1500" dirty="0"/>
          </a:p>
        </p:txBody>
      </p:sp>
      <p:sp>
        <p:nvSpPr>
          <p:cNvPr id="9" name="Text 7"/>
          <p:cNvSpPr/>
          <p:nvPr/>
        </p:nvSpPr>
        <p:spPr>
          <a:xfrm>
            <a:off x="4754880" y="685800"/>
            <a:ext cx="4114800" cy="347472"/>
          </a:xfrm>
          <a:prstGeom prst="rect">
            <a:avLst/>
          </a:prstGeom>
          <a:noFill/>
          <a:ln/>
        </p:spPr>
        <p:txBody>
          <a:bodyPr wrap="square" rtlCol="0" anchor="ctr"/>
          <a:lstStyle/>
          <a:p>
            <a:pPr marL="0" indent="0">
              <a:buNone/>
            </a:pPr>
            <a:r>
              <a:rPr lang="en-US" sz="1500" b="1" dirty="0">
                <a:solidFill>
                  <a:srgbClr val="06D6A0"/>
                </a:solidFill>
                <a:latin typeface="Calibri" pitchFamily="34" charset="0"/>
                <a:ea typeface="Calibri" pitchFamily="34" charset="-122"/>
                <a:cs typeface="Calibri" pitchFamily="34" charset="-120"/>
              </a:rPr>
              <a:t>Research Ethics</a:t>
            </a:r>
            <a:endParaRPr lang="en-US" sz="1500" dirty="0"/>
          </a:p>
        </p:txBody>
      </p:sp>
      <p:sp>
        <p:nvSpPr>
          <p:cNvPr id="10" name="Shape 8"/>
          <p:cNvSpPr/>
          <p:nvPr/>
        </p:nvSpPr>
        <p:spPr>
          <a:xfrm>
            <a:off x="274320" y="1115568"/>
            <a:ext cx="4114800" cy="585216"/>
          </a:xfrm>
          <a:prstGeom prst="rect">
            <a:avLst/>
          </a:prstGeom>
          <a:solidFill>
            <a:srgbClr val="0D2B55"/>
          </a:solidFill>
          <a:ln w="6350">
            <a:solidFill>
              <a:srgbClr val="0077B6"/>
            </a:solidFill>
            <a:prstDash val="solid"/>
          </a:ln>
        </p:spPr>
      </p:sp>
      <p:sp>
        <p:nvSpPr>
          <p:cNvPr id="11" name="Text 9"/>
          <p:cNvSpPr/>
          <p:nvPr/>
        </p:nvSpPr>
        <p:spPr>
          <a:xfrm>
            <a:off x="384048" y="1179576"/>
            <a:ext cx="1280160" cy="256032"/>
          </a:xfrm>
          <a:prstGeom prst="rect">
            <a:avLst/>
          </a:prstGeom>
          <a:noFill/>
          <a:ln/>
        </p:spPr>
        <p:txBody>
          <a:bodyPr wrap="square" lIns="0" tIns="0" rIns="0" bIns="0"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Population</a:t>
            </a:r>
            <a:endParaRPr lang="en-US" sz="1100" dirty="0"/>
          </a:p>
        </p:txBody>
      </p:sp>
      <p:sp>
        <p:nvSpPr>
          <p:cNvPr id="12" name="Text 10"/>
          <p:cNvSpPr/>
          <p:nvPr/>
        </p:nvSpPr>
        <p:spPr>
          <a:xfrm>
            <a:off x="384048" y="1435608"/>
            <a:ext cx="3840480" cy="237744"/>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IT security professionals, CISOs, security engineers across sectors</a:t>
            </a:r>
            <a:endParaRPr lang="en-US" sz="1100" dirty="0"/>
          </a:p>
        </p:txBody>
      </p:sp>
      <p:sp>
        <p:nvSpPr>
          <p:cNvPr id="13" name="Shape 11"/>
          <p:cNvSpPr/>
          <p:nvPr/>
        </p:nvSpPr>
        <p:spPr>
          <a:xfrm>
            <a:off x="274320" y="1801368"/>
            <a:ext cx="4114800" cy="585216"/>
          </a:xfrm>
          <a:prstGeom prst="rect">
            <a:avLst/>
          </a:prstGeom>
          <a:solidFill>
            <a:srgbClr val="0D2B55"/>
          </a:solidFill>
          <a:ln w="6350">
            <a:solidFill>
              <a:srgbClr val="0077B6"/>
            </a:solidFill>
            <a:prstDash val="solid"/>
          </a:ln>
        </p:spPr>
      </p:sp>
      <p:sp>
        <p:nvSpPr>
          <p:cNvPr id="14" name="Text 12"/>
          <p:cNvSpPr/>
          <p:nvPr/>
        </p:nvSpPr>
        <p:spPr>
          <a:xfrm>
            <a:off x="384048" y="1865376"/>
            <a:ext cx="1280160" cy="256032"/>
          </a:xfrm>
          <a:prstGeom prst="rect">
            <a:avLst/>
          </a:prstGeom>
          <a:noFill/>
          <a:ln/>
        </p:spPr>
        <p:txBody>
          <a:bodyPr wrap="square" lIns="0" tIns="0" rIns="0" bIns="0"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Sample Size</a:t>
            </a:r>
            <a:endParaRPr lang="en-US" sz="1100" dirty="0"/>
          </a:p>
        </p:txBody>
      </p:sp>
      <p:sp>
        <p:nvSpPr>
          <p:cNvPr id="15" name="Text 13"/>
          <p:cNvSpPr/>
          <p:nvPr/>
        </p:nvSpPr>
        <p:spPr>
          <a:xfrm>
            <a:off x="384048" y="2121408"/>
            <a:ext cx="3840480" cy="237744"/>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120 survey respondents + 15 interview subjects</a:t>
            </a:r>
            <a:endParaRPr lang="en-US" sz="1100" dirty="0"/>
          </a:p>
        </p:txBody>
      </p:sp>
      <p:sp>
        <p:nvSpPr>
          <p:cNvPr id="16" name="Shape 14"/>
          <p:cNvSpPr/>
          <p:nvPr/>
        </p:nvSpPr>
        <p:spPr>
          <a:xfrm>
            <a:off x="274320" y="2487168"/>
            <a:ext cx="4114800" cy="585216"/>
          </a:xfrm>
          <a:prstGeom prst="rect">
            <a:avLst/>
          </a:prstGeom>
          <a:solidFill>
            <a:srgbClr val="0D2B55"/>
          </a:solidFill>
          <a:ln w="6350">
            <a:solidFill>
              <a:srgbClr val="0077B6"/>
            </a:solidFill>
            <a:prstDash val="solid"/>
          </a:ln>
        </p:spPr>
      </p:sp>
      <p:sp>
        <p:nvSpPr>
          <p:cNvPr id="17" name="Text 15"/>
          <p:cNvSpPr/>
          <p:nvPr/>
        </p:nvSpPr>
        <p:spPr>
          <a:xfrm>
            <a:off x="384048" y="2551176"/>
            <a:ext cx="1280160" cy="256032"/>
          </a:xfrm>
          <a:prstGeom prst="rect">
            <a:avLst/>
          </a:prstGeom>
          <a:noFill/>
          <a:ln/>
        </p:spPr>
        <p:txBody>
          <a:bodyPr wrap="square" lIns="0" tIns="0" rIns="0" bIns="0"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Technique</a:t>
            </a:r>
            <a:endParaRPr lang="en-US" sz="1100" dirty="0"/>
          </a:p>
        </p:txBody>
      </p:sp>
      <p:sp>
        <p:nvSpPr>
          <p:cNvPr id="18" name="Text 16"/>
          <p:cNvSpPr/>
          <p:nvPr/>
        </p:nvSpPr>
        <p:spPr>
          <a:xfrm>
            <a:off x="384048" y="2807208"/>
            <a:ext cx="3840480" cy="237744"/>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Purposive sampling for interviews; stratified random for surveys</a:t>
            </a:r>
            <a:endParaRPr lang="en-US" sz="1100" dirty="0"/>
          </a:p>
        </p:txBody>
      </p:sp>
      <p:sp>
        <p:nvSpPr>
          <p:cNvPr id="19" name="Shape 17"/>
          <p:cNvSpPr/>
          <p:nvPr/>
        </p:nvSpPr>
        <p:spPr>
          <a:xfrm>
            <a:off x="274320" y="3172968"/>
            <a:ext cx="4114800" cy="585216"/>
          </a:xfrm>
          <a:prstGeom prst="rect">
            <a:avLst/>
          </a:prstGeom>
          <a:solidFill>
            <a:srgbClr val="0D2B55"/>
          </a:solidFill>
          <a:ln w="6350">
            <a:solidFill>
              <a:srgbClr val="0077B6"/>
            </a:solidFill>
            <a:prstDash val="solid"/>
          </a:ln>
        </p:spPr>
      </p:sp>
      <p:sp>
        <p:nvSpPr>
          <p:cNvPr id="20" name="Text 18"/>
          <p:cNvSpPr/>
          <p:nvPr/>
        </p:nvSpPr>
        <p:spPr>
          <a:xfrm>
            <a:off x="384048" y="3236976"/>
            <a:ext cx="1280160" cy="256032"/>
          </a:xfrm>
          <a:prstGeom prst="rect">
            <a:avLst/>
          </a:prstGeom>
          <a:noFill/>
          <a:ln/>
        </p:spPr>
        <p:txBody>
          <a:bodyPr wrap="square" lIns="0" tIns="0" rIns="0" bIns="0"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Sectors</a:t>
            </a:r>
            <a:endParaRPr lang="en-US" sz="1100" dirty="0"/>
          </a:p>
        </p:txBody>
      </p:sp>
      <p:sp>
        <p:nvSpPr>
          <p:cNvPr id="21" name="Text 19"/>
          <p:cNvSpPr/>
          <p:nvPr/>
        </p:nvSpPr>
        <p:spPr>
          <a:xfrm>
            <a:off x="384048" y="3493008"/>
            <a:ext cx="3840480" cy="237744"/>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Banking (25%), Healthcare (20%), IT Services (30%), Government (25%)</a:t>
            </a:r>
            <a:endParaRPr lang="en-US" sz="1100" dirty="0"/>
          </a:p>
        </p:txBody>
      </p:sp>
      <p:sp>
        <p:nvSpPr>
          <p:cNvPr id="22" name="Shape 20"/>
          <p:cNvSpPr/>
          <p:nvPr/>
        </p:nvSpPr>
        <p:spPr>
          <a:xfrm>
            <a:off x="274320" y="3858768"/>
            <a:ext cx="4114800" cy="585216"/>
          </a:xfrm>
          <a:prstGeom prst="rect">
            <a:avLst/>
          </a:prstGeom>
          <a:solidFill>
            <a:srgbClr val="0D2B55"/>
          </a:solidFill>
          <a:ln w="6350">
            <a:solidFill>
              <a:srgbClr val="0077B6"/>
            </a:solidFill>
            <a:prstDash val="solid"/>
          </a:ln>
        </p:spPr>
      </p:sp>
      <p:sp>
        <p:nvSpPr>
          <p:cNvPr id="23" name="Text 21"/>
          <p:cNvSpPr/>
          <p:nvPr/>
        </p:nvSpPr>
        <p:spPr>
          <a:xfrm>
            <a:off x="384048" y="3922776"/>
            <a:ext cx="1280160" cy="256032"/>
          </a:xfrm>
          <a:prstGeom prst="rect">
            <a:avLst/>
          </a:prstGeom>
          <a:noFill/>
          <a:ln/>
        </p:spPr>
        <p:txBody>
          <a:bodyPr wrap="square" lIns="0" tIns="0" rIns="0" bIns="0"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Geography</a:t>
            </a:r>
            <a:endParaRPr lang="en-US" sz="1100" dirty="0"/>
          </a:p>
        </p:txBody>
      </p:sp>
      <p:sp>
        <p:nvSpPr>
          <p:cNvPr id="24" name="Text 22"/>
          <p:cNvSpPr/>
          <p:nvPr/>
        </p:nvSpPr>
        <p:spPr>
          <a:xfrm>
            <a:off x="384048" y="4178808"/>
            <a:ext cx="3840480" cy="237744"/>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Pan-India with select international comparative analysis</a:t>
            </a:r>
            <a:endParaRPr lang="en-US" sz="1100" dirty="0"/>
          </a:p>
        </p:txBody>
      </p:sp>
      <p:sp>
        <p:nvSpPr>
          <p:cNvPr id="25" name="Shape 23"/>
          <p:cNvSpPr/>
          <p:nvPr/>
        </p:nvSpPr>
        <p:spPr>
          <a:xfrm>
            <a:off x="4754880" y="1115568"/>
            <a:ext cx="4114800" cy="585216"/>
          </a:xfrm>
          <a:prstGeom prst="rect">
            <a:avLst/>
          </a:prstGeom>
          <a:solidFill>
            <a:srgbClr val="0D2B55"/>
          </a:solidFill>
          <a:ln w="6350">
            <a:solidFill>
              <a:srgbClr val="06D6A0"/>
            </a:solidFill>
            <a:prstDash val="solid"/>
          </a:ln>
        </p:spPr>
      </p:sp>
      <p:sp>
        <p:nvSpPr>
          <p:cNvPr id="26" name="Text 24"/>
          <p:cNvSpPr/>
          <p:nvPr/>
        </p:nvSpPr>
        <p:spPr>
          <a:xfrm>
            <a:off x="4864608" y="1179576"/>
            <a:ext cx="1463040" cy="256032"/>
          </a:xfrm>
          <a:prstGeom prst="rect">
            <a:avLst/>
          </a:prstGeom>
          <a:noFill/>
          <a:ln/>
        </p:spPr>
        <p:txBody>
          <a:bodyPr wrap="square" lIns="0" tIns="0" rIns="0" bIns="0" rtlCol="0" anchor="ctr"/>
          <a:lstStyle/>
          <a:p>
            <a:pPr marL="0" indent="0">
              <a:buNone/>
            </a:pPr>
            <a:r>
              <a:rPr lang="en-US" sz="1100" b="1" dirty="0">
                <a:solidFill>
                  <a:srgbClr val="06D6A0"/>
                </a:solidFill>
                <a:latin typeface="Calibri" pitchFamily="34" charset="0"/>
                <a:ea typeface="Calibri" pitchFamily="34" charset="-122"/>
                <a:cs typeface="Calibri" pitchFamily="34" charset="-120"/>
              </a:rPr>
              <a:t>Informed Consent</a:t>
            </a:r>
            <a:endParaRPr lang="en-US" sz="1100" dirty="0"/>
          </a:p>
        </p:txBody>
      </p:sp>
      <p:sp>
        <p:nvSpPr>
          <p:cNvPr id="27" name="Text 25"/>
          <p:cNvSpPr/>
          <p:nvPr/>
        </p:nvSpPr>
        <p:spPr>
          <a:xfrm>
            <a:off x="4864608" y="1435608"/>
            <a:ext cx="3840480" cy="237744"/>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All participants provided written consent prior to data collection</a:t>
            </a:r>
            <a:endParaRPr lang="en-US" sz="1100" dirty="0"/>
          </a:p>
        </p:txBody>
      </p:sp>
      <p:sp>
        <p:nvSpPr>
          <p:cNvPr id="28" name="Shape 26"/>
          <p:cNvSpPr/>
          <p:nvPr/>
        </p:nvSpPr>
        <p:spPr>
          <a:xfrm>
            <a:off x="4754880" y="1801368"/>
            <a:ext cx="4114800" cy="585216"/>
          </a:xfrm>
          <a:prstGeom prst="rect">
            <a:avLst/>
          </a:prstGeom>
          <a:solidFill>
            <a:srgbClr val="0D2B55"/>
          </a:solidFill>
          <a:ln w="6350">
            <a:solidFill>
              <a:srgbClr val="06D6A0"/>
            </a:solidFill>
            <a:prstDash val="solid"/>
          </a:ln>
        </p:spPr>
      </p:sp>
      <p:sp>
        <p:nvSpPr>
          <p:cNvPr id="29" name="Text 27"/>
          <p:cNvSpPr/>
          <p:nvPr/>
        </p:nvSpPr>
        <p:spPr>
          <a:xfrm>
            <a:off x="4864608" y="1865376"/>
            <a:ext cx="1463040" cy="256032"/>
          </a:xfrm>
          <a:prstGeom prst="rect">
            <a:avLst/>
          </a:prstGeom>
          <a:noFill/>
          <a:ln/>
        </p:spPr>
        <p:txBody>
          <a:bodyPr wrap="square" lIns="0" tIns="0" rIns="0" bIns="0" rtlCol="0" anchor="ctr"/>
          <a:lstStyle/>
          <a:p>
            <a:pPr marL="0" indent="0">
              <a:buNone/>
            </a:pPr>
            <a:r>
              <a:rPr lang="en-US" sz="1100" b="1" dirty="0">
                <a:solidFill>
                  <a:srgbClr val="06D6A0"/>
                </a:solidFill>
                <a:latin typeface="Calibri" pitchFamily="34" charset="0"/>
                <a:ea typeface="Calibri" pitchFamily="34" charset="-122"/>
                <a:cs typeface="Calibri" pitchFamily="34" charset="-120"/>
              </a:rPr>
              <a:t>Anonymization</a:t>
            </a:r>
            <a:endParaRPr lang="en-US" sz="1100" dirty="0"/>
          </a:p>
        </p:txBody>
      </p:sp>
      <p:sp>
        <p:nvSpPr>
          <p:cNvPr id="30" name="Text 28"/>
          <p:cNvSpPr/>
          <p:nvPr/>
        </p:nvSpPr>
        <p:spPr>
          <a:xfrm>
            <a:off x="4864608" y="2121408"/>
            <a:ext cx="3840480" cy="237744"/>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Organizational and personal data anonymized in all reported findings</a:t>
            </a:r>
            <a:endParaRPr lang="en-US" sz="1100" dirty="0"/>
          </a:p>
        </p:txBody>
      </p:sp>
      <p:sp>
        <p:nvSpPr>
          <p:cNvPr id="31" name="Shape 29"/>
          <p:cNvSpPr/>
          <p:nvPr/>
        </p:nvSpPr>
        <p:spPr>
          <a:xfrm>
            <a:off x="4754880" y="2487168"/>
            <a:ext cx="4114800" cy="585216"/>
          </a:xfrm>
          <a:prstGeom prst="rect">
            <a:avLst/>
          </a:prstGeom>
          <a:solidFill>
            <a:srgbClr val="0D2B55"/>
          </a:solidFill>
          <a:ln w="6350">
            <a:solidFill>
              <a:srgbClr val="06D6A0"/>
            </a:solidFill>
            <a:prstDash val="solid"/>
          </a:ln>
        </p:spPr>
      </p:sp>
      <p:sp>
        <p:nvSpPr>
          <p:cNvPr id="32" name="Text 30"/>
          <p:cNvSpPr/>
          <p:nvPr/>
        </p:nvSpPr>
        <p:spPr>
          <a:xfrm>
            <a:off x="4864608" y="2551176"/>
            <a:ext cx="1463040" cy="256032"/>
          </a:xfrm>
          <a:prstGeom prst="rect">
            <a:avLst/>
          </a:prstGeom>
          <a:noFill/>
          <a:ln/>
        </p:spPr>
        <p:txBody>
          <a:bodyPr wrap="square" lIns="0" tIns="0" rIns="0" bIns="0" rtlCol="0" anchor="ctr"/>
          <a:lstStyle/>
          <a:p>
            <a:pPr marL="0" indent="0">
              <a:buNone/>
            </a:pPr>
            <a:r>
              <a:rPr lang="en-US" sz="1100" b="1" dirty="0">
                <a:solidFill>
                  <a:srgbClr val="06D6A0"/>
                </a:solidFill>
                <a:latin typeface="Calibri" pitchFamily="34" charset="0"/>
                <a:ea typeface="Calibri" pitchFamily="34" charset="-122"/>
                <a:cs typeface="Calibri" pitchFamily="34" charset="-120"/>
              </a:rPr>
              <a:t>Data Security</a:t>
            </a:r>
            <a:endParaRPr lang="en-US" sz="1100" dirty="0"/>
          </a:p>
        </p:txBody>
      </p:sp>
      <p:sp>
        <p:nvSpPr>
          <p:cNvPr id="33" name="Text 31"/>
          <p:cNvSpPr/>
          <p:nvPr/>
        </p:nvSpPr>
        <p:spPr>
          <a:xfrm>
            <a:off x="4864608" y="2807208"/>
            <a:ext cx="3840480" cy="237744"/>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Survey data stored on encrypted servers with restricted access</a:t>
            </a:r>
            <a:endParaRPr lang="en-US" sz="1100" dirty="0"/>
          </a:p>
        </p:txBody>
      </p:sp>
      <p:sp>
        <p:nvSpPr>
          <p:cNvPr id="34" name="Shape 32"/>
          <p:cNvSpPr/>
          <p:nvPr/>
        </p:nvSpPr>
        <p:spPr>
          <a:xfrm>
            <a:off x="4754880" y="3172968"/>
            <a:ext cx="4114800" cy="585216"/>
          </a:xfrm>
          <a:prstGeom prst="rect">
            <a:avLst/>
          </a:prstGeom>
          <a:solidFill>
            <a:srgbClr val="0D2B55"/>
          </a:solidFill>
          <a:ln w="6350">
            <a:solidFill>
              <a:srgbClr val="06D6A0"/>
            </a:solidFill>
            <a:prstDash val="solid"/>
          </a:ln>
        </p:spPr>
      </p:sp>
      <p:sp>
        <p:nvSpPr>
          <p:cNvPr id="35" name="Text 33"/>
          <p:cNvSpPr/>
          <p:nvPr/>
        </p:nvSpPr>
        <p:spPr>
          <a:xfrm>
            <a:off x="4864608" y="3236976"/>
            <a:ext cx="1463040" cy="256032"/>
          </a:xfrm>
          <a:prstGeom prst="rect">
            <a:avLst/>
          </a:prstGeom>
          <a:noFill/>
          <a:ln/>
        </p:spPr>
        <p:txBody>
          <a:bodyPr wrap="square" lIns="0" tIns="0" rIns="0" bIns="0" rtlCol="0" anchor="ctr"/>
          <a:lstStyle/>
          <a:p>
            <a:pPr marL="0" indent="0">
              <a:buNone/>
            </a:pPr>
            <a:r>
              <a:rPr lang="en-US" sz="1100" b="1" dirty="0">
                <a:solidFill>
                  <a:srgbClr val="06D6A0"/>
                </a:solidFill>
                <a:latin typeface="Calibri" pitchFamily="34" charset="0"/>
                <a:ea typeface="Calibri" pitchFamily="34" charset="-122"/>
                <a:cs typeface="Calibri" pitchFamily="34" charset="-120"/>
              </a:rPr>
              <a:t>Right to Withdraw</a:t>
            </a:r>
            <a:endParaRPr lang="en-US" sz="1100" dirty="0"/>
          </a:p>
        </p:txBody>
      </p:sp>
      <p:sp>
        <p:nvSpPr>
          <p:cNvPr id="36" name="Text 34"/>
          <p:cNvSpPr/>
          <p:nvPr/>
        </p:nvSpPr>
        <p:spPr>
          <a:xfrm>
            <a:off x="4864608" y="3493008"/>
            <a:ext cx="3840480" cy="237744"/>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Participants informed of their right to withdraw at any time</a:t>
            </a:r>
            <a:endParaRPr lang="en-US" sz="1100" dirty="0"/>
          </a:p>
        </p:txBody>
      </p:sp>
      <p:sp>
        <p:nvSpPr>
          <p:cNvPr id="37" name="Shape 35"/>
          <p:cNvSpPr/>
          <p:nvPr/>
        </p:nvSpPr>
        <p:spPr>
          <a:xfrm>
            <a:off x="4754880" y="3858768"/>
            <a:ext cx="4114800" cy="585216"/>
          </a:xfrm>
          <a:prstGeom prst="rect">
            <a:avLst/>
          </a:prstGeom>
          <a:solidFill>
            <a:srgbClr val="0D2B55"/>
          </a:solidFill>
          <a:ln w="6350">
            <a:solidFill>
              <a:srgbClr val="06D6A0"/>
            </a:solidFill>
            <a:prstDash val="solid"/>
          </a:ln>
        </p:spPr>
      </p:sp>
      <p:sp>
        <p:nvSpPr>
          <p:cNvPr id="38" name="Text 36"/>
          <p:cNvSpPr/>
          <p:nvPr/>
        </p:nvSpPr>
        <p:spPr>
          <a:xfrm>
            <a:off x="4864608" y="3922776"/>
            <a:ext cx="1463040" cy="256032"/>
          </a:xfrm>
          <a:prstGeom prst="rect">
            <a:avLst/>
          </a:prstGeom>
          <a:noFill/>
          <a:ln/>
        </p:spPr>
        <p:txBody>
          <a:bodyPr wrap="square" lIns="0" tIns="0" rIns="0" bIns="0" rtlCol="0" anchor="ctr"/>
          <a:lstStyle/>
          <a:p>
            <a:pPr marL="0" indent="0">
              <a:buNone/>
            </a:pPr>
            <a:r>
              <a:rPr lang="en-US" sz="1100" b="1" dirty="0">
                <a:solidFill>
                  <a:srgbClr val="06D6A0"/>
                </a:solidFill>
                <a:latin typeface="Calibri" pitchFamily="34" charset="0"/>
                <a:ea typeface="Calibri" pitchFamily="34" charset="-122"/>
                <a:cs typeface="Calibri" pitchFamily="34" charset="-120"/>
              </a:rPr>
              <a:t>No Deception</a:t>
            </a:r>
            <a:endParaRPr lang="en-US" sz="1100" dirty="0"/>
          </a:p>
        </p:txBody>
      </p:sp>
      <p:sp>
        <p:nvSpPr>
          <p:cNvPr id="39" name="Text 37"/>
          <p:cNvSpPr/>
          <p:nvPr/>
        </p:nvSpPr>
        <p:spPr>
          <a:xfrm>
            <a:off x="4864608" y="4178808"/>
            <a:ext cx="3840480" cy="237744"/>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Full transparency about research purpose and use of results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AI Technologies in Cybersecurity — Overview</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14</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The AI-Cybersecurity Technology Stack</a:t>
            </a:r>
            <a:endParaRPr lang="en-US" sz="1600" dirty="0"/>
          </a:p>
        </p:txBody>
      </p:sp>
      <p:sp>
        <p:nvSpPr>
          <p:cNvPr id="9" name="Text 7"/>
          <p:cNvSpPr/>
          <p:nvPr/>
        </p:nvSpPr>
        <p:spPr>
          <a:xfrm>
            <a:off x="365760" y="1078992"/>
            <a:ext cx="8412480" cy="411480"/>
          </a:xfrm>
          <a:prstGeom prst="rect">
            <a:avLst/>
          </a:prstGeom>
          <a:noFill/>
          <a:ln/>
        </p:spPr>
        <p:txBody>
          <a:bodyPr wrap="square" rtlCol="0" anchor="ctr"/>
          <a:lstStyle/>
          <a:p>
            <a:pPr marL="0" indent="0">
              <a:buNone/>
            </a:pPr>
            <a:r>
              <a:rPr lang="en-US" sz="1300" dirty="0">
                <a:solidFill>
                  <a:srgbClr val="CAD3E0"/>
                </a:solidFill>
                <a:latin typeface="Calibri" pitchFamily="34" charset="0"/>
                <a:ea typeface="Calibri" pitchFamily="34" charset="-122"/>
                <a:cs typeface="Calibri" pitchFamily="34" charset="-120"/>
              </a:rPr>
              <a:t>Multiple AI paradigms converge in modern cybersecurity platforms to create layered, intelligent defense systems:</a:t>
            </a:r>
            <a:endParaRPr lang="en-US" sz="1300" dirty="0"/>
          </a:p>
        </p:txBody>
      </p:sp>
      <p:sp>
        <p:nvSpPr>
          <p:cNvPr id="10" name="Shape 8"/>
          <p:cNvSpPr/>
          <p:nvPr/>
        </p:nvSpPr>
        <p:spPr>
          <a:xfrm>
            <a:off x="274320" y="1572768"/>
            <a:ext cx="2743200" cy="1389888"/>
          </a:xfrm>
          <a:prstGeom prst="rect">
            <a:avLst/>
          </a:prstGeom>
          <a:solidFill>
            <a:srgbClr val="0D2B55"/>
          </a:solidFill>
          <a:ln w="19050">
            <a:solidFill>
              <a:srgbClr val="0077B6"/>
            </a:solidFill>
            <a:prstDash val="solid"/>
          </a:ln>
          <a:effectLst>
            <a:outerShdw blurRad="101600" dist="38100" dir="8100000" algn="bl" rotWithShape="0">
              <a:srgbClr val="000000">
                <a:alpha val="20000"/>
              </a:srgbClr>
            </a:outerShdw>
          </a:effectLst>
        </p:spPr>
      </p:sp>
      <p:sp>
        <p:nvSpPr>
          <p:cNvPr id="11" name="Shape 9"/>
          <p:cNvSpPr/>
          <p:nvPr/>
        </p:nvSpPr>
        <p:spPr>
          <a:xfrm>
            <a:off x="274320" y="1572768"/>
            <a:ext cx="2743200" cy="54864"/>
          </a:xfrm>
          <a:prstGeom prst="rect">
            <a:avLst/>
          </a:prstGeom>
          <a:solidFill>
            <a:srgbClr val="0077B6"/>
          </a:solidFill>
          <a:ln w="12700">
            <a:solidFill>
              <a:srgbClr val="0077B6"/>
            </a:solidFill>
            <a:prstDash val="solid"/>
          </a:ln>
        </p:spPr>
      </p:sp>
      <p:sp>
        <p:nvSpPr>
          <p:cNvPr id="12" name="Text 10"/>
          <p:cNvSpPr/>
          <p:nvPr/>
        </p:nvSpPr>
        <p:spPr>
          <a:xfrm>
            <a:off x="365760" y="1682496"/>
            <a:ext cx="256032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Machine Learning (ML)</a:t>
            </a:r>
            <a:endParaRPr lang="en-US" sz="1250" dirty="0"/>
          </a:p>
        </p:txBody>
      </p:sp>
      <p:sp>
        <p:nvSpPr>
          <p:cNvPr id="13" name="Text 11"/>
          <p:cNvSpPr/>
          <p:nvPr/>
        </p:nvSpPr>
        <p:spPr>
          <a:xfrm>
            <a:off x="365760" y="2048256"/>
            <a:ext cx="2560320" cy="82296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Intrusion detection, spam filtering, malware classification, fraud detection</a:t>
            </a:r>
            <a:endParaRPr lang="en-US" sz="1100" dirty="0"/>
          </a:p>
        </p:txBody>
      </p:sp>
      <p:sp>
        <p:nvSpPr>
          <p:cNvPr id="14" name="Shape 12"/>
          <p:cNvSpPr/>
          <p:nvPr/>
        </p:nvSpPr>
        <p:spPr>
          <a:xfrm>
            <a:off x="3227832" y="1572768"/>
            <a:ext cx="2743200" cy="1389888"/>
          </a:xfrm>
          <a:prstGeom prst="rect">
            <a:avLst/>
          </a:prstGeom>
          <a:solidFill>
            <a:srgbClr val="0D2B55"/>
          </a:solidFill>
          <a:ln w="19050">
            <a:solidFill>
              <a:srgbClr val="7B2FBE"/>
            </a:solidFill>
            <a:prstDash val="solid"/>
          </a:ln>
          <a:effectLst>
            <a:outerShdw blurRad="101600" dist="38100" dir="8100000" algn="bl" rotWithShape="0">
              <a:srgbClr val="000000">
                <a:alpha val="20000"/>
              </a:srgbClr>
            </a:outerShdw>
          </a:effectLst>
        </p:spPr>
      </p:sp>
      <p:sp>
        <p:nvSpPr>
          <p:cNvPr id="15" name="Shape 13"/>
          <p:cNvSpPr/>
          <p:nvPr/>
        </p:nvSpPr>
        <p:spPr>
          <a:xfrm>
            <a:off x="3227832" y="1572768"/>
            <a:ext cx="2743200" cy="54864"/>
          </a:xfrm>
          <a:prstGeom prst="rect">
            <a:avLst/>
          </a:prstGeom>
          <a:solidFill>
            <a:srgbClr val="7B2FBE"/>
          </a:solidFill>
          <a:ln w="12700">
            <a:solidFill>
              <a:srgbClr val="7B2FBE"/>
            </a:solidFill>
            <a:prstDash val="solid"/>
          </a:ln>
        </p:spPr>
      </p:sp>
      <p:sp>
        <p:nvSpPr>
          <p:cNvPr id="16" name="Text 14"/>
          <p:cNvSpPr/>
          <p:nvPr/>
        </p:nvSpPr>
        <p:spPr>
          <a:xfrm>
            <a:off x="3319272" y="1682496"/>
            <a:ext cx="256032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Deep Learning (DL)</a:t>
            </a:r>
            <a:endParaRPr lang="en-US" sz="1250" dirty="0"/>
          </a:p>
        </p:txBody>
      </p:sp>
      <p:sp>
        <p:nvSpPr>
          <p:cNvPr id="17" name="Text 15"/>
          <p:cNvSpPr/>
          <p:nvPr/>
        </p:nvSpPr>
        <p:spPr>
          <a:xfrm>
            <a:off x="3319272" y="2048256"/>
            <a:ext cx="2560320" cy="82296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Advanced malware analysis, image-based threat detection, vulnerability scoring</a:t>
            </a:r>
            <a:endParaRPr lang="en-US" sz="1100" dirty="0"/>
          </a:p>
        </p:txBody>
      </p:sp>
      <p:sp>
        <p:nvSpPr>
          <p:cNvPr id="18" name="Shape 16"/>
          <p:cNvSpPr/>
          <p:nvPr/>
        </p:nvSpPr>
        <p:spPr>
          <a:xfrm>
            <a:off x="6181344" y="1572768"/>
            <a:ext cx="2743200" cy="1389888"/>
          </a:xfrm>
          <a:prstGeom prst="rect">
            <a:avLst/>
          </a:prstGeom>
          <a:solidFill>
            <a:srgbClr val="0D2B55"/>
          </a:solidFill>
          <a:ln w="19050">
            <a:solidFill>
              <a:srgbClr val="0EA5E9"/>
            </a:solidFill>
            <a:prstDash val="solid"/>
          </a:ln>
          <a:effectLst>
            <a:outerShdw blurRad="101600" dist="38100" dir="8100000" algn="bl" rotWithShape="0">
              <a:srgbClr val="000000">
                <a:alpha val="20000"/>
              </a:srgbClr>
            </a:outerShdw>
          </a:effectLst>
        </p:spPr>
      </p:sp>
      <p:sp>
        <p:nvSpPr>
          <p:cNvPr id="19" name="Shape 17"/>
          <p:cNvSpPr/>
          <p:nvPr/>
        </p:nvSpPr>
        <p:spPr>
          <a:xfrm>
            <a:off x="6181344" y="1572768"/>
            <a:ext cx="2743200" cy="54864"/>
          </a:xfrm>
          <a:prstGeom prst="rect">
            <a:avLst/>
          </a:prstGeom>
          <a:solidFill>
            <a:srgbClr val="0EA5E9"/>
          </a:solidFill>
          <a:ln w="12700">
            <a:solidFill>
              <a:srgbClr val="0EA5E9"/>
            </a:solidFill>
            <a:prstDash val="solid"/>
          </a:ln>
        </p:spPr>
      </p:sp>
      <p:sp>
        <p:nvSpPr>
          <p:cNvPr id="20" name="Text 18"/>
          <p:cNvSpPr/>
          <p:nvPr/>
        </p:nvSpPr>
        <p:spPr>
          <a:xfrm>
            <a:off x="6272784" y="1682496"/>
            <a:ext cx="256032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Natural Language Processing</a:t>
            </a:r>
            <a:endParaRPr lang="en-US" sz="1250" dirty="0"/>
          </a:p>
        </p:txBody>
      </p:sp>
      <p:sp>
        <p:nvSpPr>
          <p:cNvPr id="21" name="Text 19"/>
          <p:cNvSpPr/>
          <p:nvPr/>
        </p:nvSpPr>
        <p:spPr>
          <a:xfrm>
            <a:off x="6272784" y="2048256"/>
            <a:ext cx="2560320" cy="82296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Phishing email detection, dark web monitoring, threat intelligence parsing</a:t>
            </a:r>
            <a:endParaRPr lang="en-US" sz="1100" dirty="0"/>
          </a:p>
        </p:txBody>
      </p:sp>
      <p:sp>
        <p:nvSpPr>
          <p:cNvPr id="22" name="Shape 20"/>
          <p:cNvSpPr/>
          <p:nvPr/>
        </p:nvSpPr>
        <p:spPr>
          <a:xfrm>
            <a:off x="274320" y="3145536"/>
            <a:ext cx="2743200" cy="1389888"/>
          </a:xfrm>
          <a:prstGeom prst="rect">
            <a:avLst/>
          </a:prstGeom>
          <a:solidFill>
            <a:srgbClr val="0D2B55"/>
          </a:solidFill>
          <a:ln w="19050">
            <a:solidFill>
              <a:srgbClr val="059669"/>
            </a:solidFill>
            <a:prstDash val="solid"/>
          </a:ln>
          <a:effectLst>
            <a:outerShdw blurRad="101600" dist="38100" dir="8100000" algn="bl" rotWithShape="0">
              <a:srgbClr val="000000">
                <a:alpha val="20000"/>
              </a:srgbClr>
            </a:outerShdw>
          </a:effectLst>
        </p:spPr>
      </p:sp>
      <p:sp>
        <p:nvSpPr>
          <p:cNvPr id="23" name="Shape 21"/>
          <p:cNvSpPr/>
          <p:nvPr/>
        </p:nvSpPr>
        <p:spPr>
          <a:xfrm>
            <a:off x="274320" y="3145536"/>
            <a:ext cx="2743200" cy="54864"/>
          </a:xfrm>
          <a:prstGeom prst="rect">
            <a:avLst/>
          </a:prstGeom>
          <a:solidFill>
            <a:srgbClr val="059669"/>
          </a:solidFill>
          <a:ln w="12700">
            <a:solidFill>
              <a:srgbClr val="059669"/>
            </a:solidFill>
            <a:prstDash val="solid"/>
          </a:ln>
        </p:spPr>
      </p:sp>
      <p:sp>
        <p:nvSpPr>
          <p:cNvPr id="24" name="Text 22"/>
          <p:cNvSpPr/>
          <p:nvPr/>
        </p:nvSpPr>
        <p:spPr>
          <a:xfrm>
            <a:off x="365760" y="3255264"/>
            <a:ext cx="256032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Reinforcement Learning (RL)</a:t>
            </a:r>
            <a:endParaRPr lang="en-US" sz="1250" dirty="0"/>
          </a:p>
        </p:txBody>
      </p:sp>
      <p:sp>
        <p:nvSpPr>
          <p:cNvPr id="25" name="Text 23"/>
          <p:cNvSpPr/>
          <p:nvPr/>
        </p:nvSpPr>
        <p:spPr>
          <a:xfrm>
            <a:off x="365760" y="3621024"/>
            <a:ext cx="2560320" cy="82296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Autonomous cyber defense agents, adaptive firewall rules, dynamic pentesting</a:t>
            </a:r>
            <a:endParaRPr lang="en-US" sz="1100" dirty="0"/>
          </a:p>
        </p:txBody>
      </p:sp>
      <p:sp>
        <p:nvSpPr>
          <p:cNvPr id="26" name="Shape 24"/>
          <p:cNvSpPr/>
          <p:nvPr/>
        </p:nvSpPr>
        <p:spPr>
          <a:xfrm>
            <a:off x="3227832" y="3145536"/>
            <a:ext cx="2743200" cy="1389888"/>
          </a:xfrm>
          <a:prstGeom prst="rect">
            <a:avLst/>
          </a:prstGeom>
          <a:solidFill>
            <a:srgbClr val="0D2B55"/>
          </a:solidFill>
          <a:ln w="19050">
            <a:solidFill>
              <a:srgbClr val="DC2626"/>
            </a:solidFill>
            <a:prstDash val="solid"/>
          </a:ln>
          <a:effectLst>
            <a:outerShdw blurRad="101600" dist="38100" dir="8100000" algn="bl" rotWithShape="0">
              <a:srgbClr val="000000">
                <a:alpha val="20000"/>
              </a:srgbClr>
            </a:outerShdw>
          </a:effectLst>
        </p:spPr>
      </p:sp>
      <p:sp>
        <p:nvSpPr>
          <p:cNvPr id="27" name="Shape 25"/>
          <p:cNvSpPr/>
          <p:nvPr/>
        </p:nvSpPr>
        <p:spPr>
          <a:xfrm>
            <a:off x="3227832" y="3145536"/>
            <a:ext cx="2743200" cy="54864"/>
          </a:xfrm>
          <a:prstGeom prst="rect">
            <a:avLst/>
          </a:prstGeom>
          <a:solidFill>
            <a:srgbClr val="DC2626"/>
          </a:solidFill>
          <a:ln w="12700">
            <a:solidFill>
              <a:srgbClr val="DC2626"/>
            </a:solidFill>
            <a:prstDash val="solid"/>
          </a:ln>
        </p:spPr>
      </p:sp>
      <p:sp>
        <p:nvSpPr>
          <p:cNvPr id="28" name="Text 26"/>
          <p:cNvSpPr/>
          <p:nvPr/>
        </p:nvSpPr>
        <p:spPr>
          <a:xfrm>
            <a:off x="3319272" y="3255264"/>
            <a:ext cx="256032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Graph Neural Networks</a:t>
            </a:r>
            <a:endParaRPr lang="en-US" sz="1250" dirty="0"/>
          </a:p>
        </p:txBody>
      </p:sp>
      <p:sp>
        <p:nvSpPr>
          <p:cNvPr id="29" name="Text 27"/>
          <p:cNvSpPr/>
          <p:nvPr/>
        </p:nvSpPr>
        <p:spPr>
          <a:xfrm>
            <a:off x="3319272" y="3621024"/>
            <a:ext cx="2560320" cy="82296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Network topology analysis, lateral movement detection, APT tracking</a:t>
            </a:r>
            <a:endParaRPr lang="en-US" sz="1100" dirty="0"/>
          </a:p>
        </p:txBody>
      </p:sp>
      <p:sp>
        <p:nvSpPr>
          <p:cNvPr id="30" name="Shape 28"/>
          <p:cNvSpPr/>
          <p:nvPr/>
        </p:nvSpPr>
        <p:spPr>
          <a:xfrm>
            <a:off x="6181344" y="3145536"/>
            <a:ext cx="2743200" cy="1389888"/>
          </a:xfrm>
          <a:prstGeom prst="rect">
            <a:avLst/>
          </a:prstGeom>
          <a:solidFill>
            <a:srgbClr val="0D2B55"/>
          </a:solidFill>
          <a:ln w="19050">
            <a:solidFill>
              <a:srgbClr val="D97706"/>
            </a:solidFill>
            <a:prstDash val="solid"/>
          </a:ln>
          <a:effectLst>
            <a:outerShdw blurRad="101600" dist="38100" dir="8100000" algn="bl" rotWithShape="0">
              <a:srgbClr val="000000">
                <a:alpha val="20000"/>
              </a:srgbClr>
            </a:outerShdw>
          </a:effectLst>
        </p:spPr>
      </p:sp>
      <p:sp>
        <p:nvSpPr>
          <p:cNvPr id="31" name="Shape 29"/>
          <p:cNvSpPr/>
          <p:nvPr/>
        </p:nvSpPr>
        <p:spPr>
          <a:xfrm>
            <a:off x="6181344" y="3145536"/>
            <a:ext cx="2743200" cy="54864"/>
          </a:xfrm>
          <a:prstGeom prst="rect">
            <a:avLst/>
          </a:prstGeom>
          <a:solidFill>
            <a:srgbClr val="D97706"/>
          </a:solidFill>
          <a:ln w="12700">
            <a:solidFill>
              <a:srgbClr val="D97706"/>
            </a:solidFill>
            <a:prstDash val="solid"/>
          </a:ln>
        </p:spPr>
      </p:sp>
      <p:sp>
        <p:nvSpPr>
          <p:cNvPr id="32" name="Text 30"/>
          <p:cNvSpPr/>
          <p:nvPr/>
        </p:nvSpPr>
        <p:spPr>
          <a:xfrm>
            <a:off x="6272784" y="3255264"/>
            <a:ext cx="256032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Federated Learning</a:t>
            </a:r>
            <a:endParaRPr lang="en-US" sz="1250" dirty="0"/>
          </a:p>
        </p:txBody>
      </p:sp>
      <p:sp>
        <p:nvSpPr>
          <p:cNvPr id="33" name="Text 31"/>
          <p:cNvSpPr/>
          <p:nvPr/>
        </p:nvSpPr>
        <p:spPr>
          <a:xfrm>
            <a:off x="6272784" y="3621024"/>
            <a:ext cx="2560320" cy="82296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Privacy-preserving threat intelligence sharing across organizations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Machine Learning for Intrusion Detection Systems (IDS)</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15</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ML-Based IDS Architecture</a:t>
            </a:r>
            <a:endParaRPr lang="en-US" sz="1600" dirty="0"/>
          </a:p>
        </p:txBody>
      </p:sp>
      <p:sp>
        <p:nvSpPr>
          <p:cNvPr id="9" name="Text 7"/>
          <p:cNvSpPr/>
          <p:nvPr/>
        </p:nvSpPr>
        <p:spPr>
          <a:xfrm>
            <a:off x="365760" y="1078992"/>
            <a:ext cx="8412480" cy="594360"/>
          </a:xfrm>
          <a:prstGeom prst="rect">
            <a:avLst/>
          </a:prstGeom>
          <a:noFill/>
          <a:ln/>
        </p:spPr>
        <p:txBody>
          <a:bodyPr wrap="square" rtlCol="0" anchor="ctr"/>
          <a:lstStyle/>
          <a:p>
            <a:pPr marL="0" indent="0">
              <a:buNone/>
            </a:pPr>
            <a:r>
              <a:rPr lang="en-US" sz="1300" dirty="0">
                <a:solidFill>
                  <a:srgbClr val="CAD3E0"/>
                </a:solidFill>
                <a:latin typeface="Calibri" pitchFamily="34" charset="0"/>
                <a:ea typeface="Calibri" pitchFamily="34" charset="-122"/>
                <a:cs typeface="Calibri" pitchFamily="34" charset="-120"/>
              </a:rPr>
              <a:t>Machine learning transforms traditional IDS from static, signature-based tools to dynamic, adaptive systems capable of identifying zero-day exploits and novel attack patterns without prior threat signatures.</a:t>
            </a:r>
            <a:endParaRPr lang="en-US" sz="1300" dirty="0"/>
          </a:p>
        </p:txBody>
      </p:sp>
      <p:sp>
        <p:nvSpPr>
          <p:cNvPr id="10" name="Shape 8"/>
          <p:cNvSpPr/>
          <p:nvPr/>
        </p:nvSpPr>
        <p:spPr>
          <a:xfrm>
            <a:off x="274320" y="1783080"/>
            <a:ext cx="8595360" cy="9144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1" name="Shape 9"/>
          <p:cNvSpPr/>
          <p:nvPr/>
        </p:nvSpPr>
        <p:spPr>
          <a:xfrm>
            <a:off x="274320" y="1783080"/>
            <a:ext cx="1828800" cy="914400"/>
          </a:xfrm>
          <a:prstGeom prst="rect">
            <a:avLst/>
          </a:prstGeom>
          <a:solidFill>
            <a:srgbClr val="0D2B55"/>
          </a:solidFill>
          <a:ln w="12700">
            <a:solidFill>
              <a:srgbClr val="0077B6"/>
            </a:solidFill>
            <a:prstDash val="solid"/>
          </a:ln>
        </p:spPr>
      </p:sp>
      <p:sp>
        <p:nvSpPr>
          <p:cNvPr id="12" name="Text 10"/>
          <p:cNvSpPr/>
          <p:nvPr/>
        </p:nvSpPr>
        <p:spPr>
          <a:xfrm>
            <a:off x="274320" y="1783080"/>
            <a:ext cx="1828800" cy="914400"/>
          </a:xfrm>
          <a:prstGeom prst="rect">
            <a:avLst/>
          </a:prstGeom>
          <a:noFill/>
          <a:ln/>
        </p:spPr>
        <p:txBody>
          <a:bodyPr wrap="square" rtlCol="0" anchor="ctr"/>
          <a:lstStyle/>
          <a:p>
            <a:pPr marL="0" indent="0" algn="ctr">
              <a:buNone/>
            </a:pPr>
            <a:r>
              <a:rPr lang="en-US" sz="1200" b="1" dirty="0">
                <a:solidFill>
                  <a:srgbClr val="00B4D8"/>
                </a:solidFill>
                <a:latin typeface="Calibri" pitchFamily="34" charset="0"/>
                <a:ea typeface="Calibri" pitchFamily="34" charset="-122"/>
                <a:cs typeface="Calibri" pitchFamily="34" charset="-120"/>
              </a:rPr>
              <a:t>Supervised Learning</a:t>
            </a:r>
            <a:endParaRPr lang="en-US" sz="1200" dirty="0"/>
          </a:p>
        </p:txBody>
      </p:sp>
      <p:sp>
        <p:nvSpPr>
          <p:cNvPr id="13" name="Text 11"/>
          <p:cNvSpPr/>
          <p:nvPr/>
        </p:nvSpPr>
        <p:spPr>
          <a:xfrm>
            <a:off x="2240280" y="1856232"/>
            <a:ext cx="32918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Examples: SVM, Random Forest, Gradient Boosting</a:t>
            </a:r>
            <a:endParaRPr lang="en-US" sz="1100" dirty="0"/>
          </a:p>
        </p:txBody>
      </p:sp>
      <p:sp>
        <p:nvSpPr>
          <p:cNvPr id="14" name="Text 12"/>
          <p:cNvSpPr/>
          <p:nvPr/>
        </p:nvSpPr>
        <p:spPr>
          <a:xfrm>
            <a:off x="2240280" y="2130552"/>
            <a:ext cx="3291840" cy="228600"/>
          </a:xfrm>
          <a:prstGeom prst="rect">
            <a:avLst/>
          </a:prstGeom>
          <a:noFill/>
          <a:ln/>
        </p:spPr>
        <p:txBody>
          <a:bodyPr wrap="square" lIns="0" tIns="0" rIns="0" bIns="0" rtlCol="0" anchor="ctr"/>
          <a:lstStyle/>
          <a:p>
            <a:pPr marL="0" indent="0">
              <a:buNone/>
            </a:pPr>
            <a:r>
              <a:rPr lang="en-US" sz="1100" dirty="0">
                <a:solidFill>
                  <a:srgbClr val="06D6A0"/>
                </a:solidFill>
                <a:latin typeface="Calibri" pitchFamily="34" charset="0"/>
                <a:ea typeface="Calibri" pitchFamily="34" charset="-122"/>
                <a:cs typeface="Calibri" pitchFamily="34" charset="-120"/>
              </a:rPr>
              <a:t>✓ High accuracy for known attack patterns</a:t>
            </a:r>
            <a:endParaRPr lang="en-US" sz="1100" dirty="0"/>
          </a:p>
        </p:txBody>
      </p:sp>
      <p:sp>
        <p:nvSpPr>
          <p:cNvPr id="15" name="Text 13"/>
          <p:cNvSpPr/>
          <p:nvPr/>
        </p:nvSpPr>
        <p:spPr>
          <a:xfrm>
            <a:off x="2240280" y="2377440"/>
            <a:ext cx="3291840" cy="228600"/>
          </a:xfrm>
          <a:prstGeom prst="rect">
            <a:avLst/>
          </a:prstGeom>
          <a:noFill/>
          <a:ln/>
        </p:spPr>
        <p:txBody>
          <a:bodyPr wrap="square" lIns="0" tIns="0" rIns="0" bIns="0" rtlCol="0" anchor="ctr"/>
          <a:lstStyle/>
          <a:p>
            <a:pPr marL="0" indent="0">
              <a:buNone/>
            </a:pPr>
            <a:r>
              <a:rPr lang="en-US" sz="1100" dirty="0">
                <a:solidFill>
                  <a:srgbClr val="EF233C"/>
                </a:solidFill>
                <a:latin typeface="Calibri" pitchFamily="34" charset="0"/>
                <a:ea typeface="Calibri" pitchFamily="34" charset="-122"/>
                <a:cs typeface="Calibri" pitchFamily="34" charset="-120"/>
              </a:rPr>
              <a:t>✗ Requires large labeled datasets</a:t>
            </a:r>
            <a:endParaRPr lang="en-US" sz="1100" dirty="0"/>
          </a:p>
        </p:txBody>
      </p:sp>
      <p:sp>
        <p:nvSpPr>
          <p:cNvPr id="16" name="Text 14"/>
          <p:cNvSpPr/>
          <p:nvPr/>
        </p:nvSpPr>
        <p:spPr>
          <a:xfrm>
            <a:off x="5669280" y="1783080"/>
            <a:ext cx="3108960" cy="914400"/>
          </a:xfrm>
          <a:prstGeom prst="rect">
            <a:avLst/>
          </a:prstGeom>
          <a:noFill/>
          <a:ln/>
        </p:spPr>
        <p:txBody>
          <a:bodyPr wrap="square" rtlCol="0" anchor="ctr"/>
          <a:lstStyle/>
          <a:p>
            <a:pPr marL="0" indent="0" algn="ctr">
              <a:buNone/>
            </a:pPr>
            <a:r>
              <a:rPr lang="en-US" sz="2800" b="1" dirty="0">
                <a:solidFill>
                  <a:srgbClr val="00B4D8"/>
                </a:solidFill>
                <a:latin typeface="Calibri" pitchFamily="34" charset="0"/>
                <a:ea typeface="Calibri" pitchFamily="34" charset="-122"/>
                <a:cs typeface="Calibri" pitchFamily="34" charset="-120"/>
              </a:rPr>
              <a:t>Accuracy: 97.2%</a:t>
            </a:r>
            <a:endParaRPr lang="en-US" sz="2800" dirty="0"/>
          </a:p>
        </p:txBody>
      </p:sp>
      <p:sp>
        <p:nvSpPr>
          <p:cNvPr id="17" name="Shape 15"/>
          <p:cNvSpPr/>
          <p:nvPr/>
        </p:nvSpPr>
        <p:spPr>
          <a:xfrm>
            <a:off x="274320" y="2834640"/>
            <a:ext cx="8595360" cy="9144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8" name="Shape 16"/>
          <p:cNvSpPr/>
          <p:nvPr/>
        </p:nvSpPr>
        <p:spPr>
          <a:xfrm>
            <a:off x="274320" y="2834640"/>
            <a:ext cx="1828800" cy="914400"/>
          </a:xfrm>
          <a:prstGeom prst="rect">
            <a:avLst/>
          </a:prstGeom>
          <a:solidFill>
            <a:srgbClr val="0D2B55"/>
          </a:solidFill>
          <a:ln w="12700">
            <a:solidFill>
              <a:srgbClr val="0077B6"/>
            </a:solidFill>
            <a:prstDash val="solid"/>
          </a:ln>
        </p:spPr>
      </p:sp>
      <p:sp>
        <p:nvSpPr>
          <p:cNvPr id="19" name="Text 17"/>
          <p:cNvSpPr/>
          <p:nvPr/>
        </p:nvSpPr>
        <p:spPr>
          <a:xfrm>
            <a:off x="274320" y="2834640"/>
            <a:ext cx="1828800" cy="914400"/>
          </a:xfrm>
          <a:prstGeom prst="rect">
            <a:avLst/>
          </a:prstGeom>
          <a:noFill/>
          <a:ln/>
        </p:spPr>
        <p:txBody>
          <a:bodyPr wrap="square" rtlCol="0" anchor="ctr"/>
          <a:lstStyle/>
          <a:p>
            <a:pPr marL="0" indent="0" algn="ctr">
              <a:buNone/>
            </a:pPr>
            <a:r>
              <a:rPr lang="en-US" sz="1200" b="1" dirty="0">
                <a:solidFill>
                  <a:srgbClr val="00B4D8"/>
                </a:solidFill>
                <a:latin typeface="Calibri" pitchFamily="34" charset="0"/>
                <a:ea typeface="Calibri" pitchFamily="34" charset="-122"/>
                <a:cs typeface="Calibri" pitchFamily="34" charset="-120"/>
              </a:rPr>
              <a:t>Unsupervised Learning</a:t>
            </a:r>
            <a:endParaRPr lang="en-US" sz="1200" dirty="0"/>
          </a:p>
        </p:txBody>
      </p:sp>
      <p:sp>
        <p:nvSpPr>
          <p:cNvPr id="20" name="Text 18"/>
          <p:cNvSpPr/>
          <p:nvPr/>
        </p:nvSpPr>
        <p:spPr>
          <a:xfrm>
            <a:off x="2240280" y="2907792"/>
            <a:ext cx="32918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Examples: K-Means, DBSCAN, Autoencoders</a:t>
            </a:r>
            <a:endParaRPr lang="en-US" sz="1100" dirty="0"/>
          </a:p>
        </p:txBody>
      </p:sp>
      <p:sp>
        <p:nvSpPr>
          <p:cNvPr id="21" name="Text 19"/>
          <p:cNvSpPr/>
          <p:nvPr/>
        </p:nvSpPr>
        <p:spPr>
          <a:xfrm>
            <a:off x="2240280" y="3182112"/>
            <a:ext cx="3291840" cy="228600"/>
          </a:xfrm>
          <a:prstGeom prst="rect">
            <a:avLst/>
          </a:prstGeom>
          <a:noFill/>
          <a:ln/>
        </p:spPr>
        <p:txBody>
          <a:bodyPr wrap="square" lIns="0" tIns="0" rIns="0" bIns="0" rtlCol="0" anchor="ctr"/>
          <a:lstStyle/>
          <a:p>
            <a:pPr marL="0" indent="0">
              <a:buNone/>
            </a:pPr>
            <a:r>
              <a:rPr lang="en-US" sz="1100" dirty="0">
                <a:solidFill>
                  <a:srgbClr val="06D6A0"/>
                </a:solidFill>
                <a:latin typeface="Calibri" pitchFamily="34" charset="0"/>
                <a:ea typeface="Calibri" pitchFamily="34" charset="-122"/>
                <a:cs typeface="Calibri" pitchFamily="34" charset="-120"/>
              </a:rPr>
              <a:t>✓ Detects novel/unknown attacks</a:t>
            </a:r>
            <a:endParaRPr lang="en-US" sz="1100" dirty="0"/>
          </a:p>
        </p:txBody>
      </p:sp>
      <p:sp>
        <p:nvSpPr>
          <p:cNvPr id="22" name="Text 20"/>
          <p:cNvSpPr/>
          <p:nvPr/>
        </p:nvSpPr>
        <p:spPr>
          <a:xfrm>
            <a:off x="2240280" y="3429000"/>
            <a:ext cx="3291840" cy="228600"/>
          </a:xfrm>
          <a:prstGeom prst="rect">
            <a:avLst/>
          </a:prstGeom>
          <a:noFill/>
          <a:ln/>
        </p:spPr>
        <p:txBody>
          <a:bodyPr wrap="square" lIns="0" tIns="0" rIns="0" bIns="0" rtlCol="0" anchor="ctr"/>
          <a:lstStyle/>
          <a:p>
            <a:pPr marL="0" indent="0">
              <a:buNone/>
            </a:pPr>
            <a:r>
              <a:rPr lang="en-US" sz="1100" dirty="0">
                <a:solidFill>
                  <a:srgbClr val="EF233C"/>
                </a:solidFill>
                <a:latin typeface="Calibri" pitchFamily="34" charset="0"/>
                <a:ea typeface="Calibri" pitchFamily="34" charset="-122"/>
                <a:cs typeface="Calibri" pitchFamily="34" charset="-120"/>
              </a:rPr>
              <a:t>✗ Higher false positive rates</a:t>
            </a:r>
            <a:endParaRPr lang="en-US" sz="1100" dirty="0"/>
          </a:p>
        </p:txBody>
      </p:sp>
      <p:sp>
        <p:nvSpPr>
          <p:cNvPr id="23" name="Text 21"/>
          <p:cNvSpPr/>
          <p:nvPr/>
        </p:nvSpPr>
        <p:spPr>
          <a:xfrm>
            <a:off x="5669280" y="2834640"/>
            <a:ext cx="3108960" cy="914400"/>
          </a:xfrm>
          <a:prstGeom prst="rect">
            <a:avLst/>
          </a:prstGeom>
          <a:noFill/>
          <a:ln/>
        </p:spPr>
        <p:txBody>
          <a:bodyPr wrap="square" rtlCol="0" anchor="ctr"/>
          <a:lstStyle/>
          <a:p>
            <a:pPr marL="0" indent="0" algn="ctr">
              <a:buNone/>
            </a:pPr>
            <a:r>
              <a:rPr lang="en-US" sz="2800" b="1" dirty="0">
                <a:solidFill>
                  <a:srgbClr val="00B4D8"/>
                </a:solidFill>
                <a:latin typeface="Calibri" pitchFamily="34" charset="0"/>
                <a:ea typeface="Calibri" pitchFamily="34" charset="-122"/>
                <a:cs typeface="Calibri" pitchFamily="34" charset="-120"/>
              </a:rPr>
              <a:t>Accuracy: 89.4%</a:t>
            </a:r>
            <a:endParaRPr lang="en-US" sz="2800" dirty="0"/>
          </a:p>
        </p:txBody>
      </p:sp>
      <p:sp>
        <p:nvSpPr>
          <p:cNvPr id="24" name="Shape 22"/>
          <p:cNvSpPr/>
          <p:nvPr/>
        </p:nvSpPr>
        <p:spPr>
          <a:xfrm>
            <a:off x="274320" y="3886200"/>
            <a:ext cx="8595360" cy="9144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5" name="Shape 23"/>
          <p:cNvSpPr/>
          <p:nvPr/>
        </p:nvSpPr>
        <p:spPr>
          <a:xfrm>
            <a:off x="274320" y="3886200"/>
            <a:ext cx="1828800" cy="914400"/>
          </a:xfrm>
          <a:prstGeom prst="rect">
            <a:avLst/>
          </a:prstGeom>
          <a:solidFill>
            <a:srgbClr val="0D2B55"/>
          </a:solidFill>
          <a:ln w="12700">
            <a:solidFill>
              <a:srgbClr val="0077B6"/>
            </a:solidFill>
            <a:prstDash val="solid"/>
          </a:ln>
        </p:spPr>
      </p:sp>
      <p:sp>
        <p:nvSpPr>
          <p:cNvPr id="26" name="Text 24"/>
          <p:cNvSpPr/>
          <p:nvPr/>
        </p:nvSpPr>
        <p:spPr>
          <a:xfrm>
            <a:off x="274320" y="3886200"/>
            <a:ext cx="1828800" cy="914400"/>
          </a:xfrm>
          <a:prstGeom prst="rect">
            <a:avLst/>
          </a:prstGeom>
          <a:noFill/>
          <a:ln/>
        </p:spPr>
        <p:txBody>
          <a:bodyPr wrap="square" rtlCol="0" anchor="ctr"/>
          <a:lstStyle/>
          <a:p>
            <a:pPr marL="0" indent="0" algn="ctr">
              <a:buNone/>
            </a:pPr>
            <a:r>
              <a:rPr lang="en-US" sz="1200" b="1" dirty="0">
                <a:solidFill>
                  <a:srgbClr val="00B4D8"/>
                </a:solidFill>
                <a:latin typeface="Calibri" pitchFamily="34" charset="0"/>
                <a:ea typeface="Calibri" pitchFamily="34" charset="-122"/>
                <a:cs typeface="Calibri" pitchFamily="34" charset="-120"/>
              </a:rPr>
              <a:t>Semi-Supervised</a:t>
            </a:r>
            <a:endParaRPr lang="en-US" sz="1200" dirty="0"/>
          </a:p>
        </p:txBody>
      </p:sp>
      <p:sp>
        <p:nvSpPr>
          <p:cNvPr id="27" name="Text 25"/>
          <p:cNvSpPr/>
          <p:nvPr/>
        </p:nvSpPr>
        <p:spPr>
          <a:xfrm>
            <a:off x="2240280" y="3959352"/>
            <a:ext cx="32918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Examples: Self-training, Co-training models</a:t>
            </a:r>
            <a:endParaRPr lang="en-US" sz="1100" dirty="0"/>
          </a:p>
        </p:txBody>
      </p:sp>
      <p:sp>
        <p:nvSpPr>
          <p:cNvPr id="28" name="Text 26"/>
          <p:cNvSpPr/>
          <p:nvPr/>
        </p:nvSpPr>
        <p:spPr>
          <a:xfrm>
            <a:off x="2240280" y="4233672"/>
            <a:ext cx="3291840" cy="228600"/>
          </a:xfrm>
          <a:prstGeom prst="rect">
            <a:avLst/>
          </a:prstGeom>
          <a:noFill/>
          <a:ln/>
        </p:spPr>
        <p:txBody>
          <a:bodyPr wrap="square" lIns="0" tIns="0" rIns="0" bIns="0" rtlCol="0" anchor="ctr"/>
          <a:lstStyle/>
          <a:p>
            <a:pPr marL="0" indent="0">
              <a:buNone/>
            </a:pPr>
            <a:r>
              <a:rPr lang="en-US" sz="1100" dirty="0">
                <a:solidFill>
                  <a:srgbClr val="06D6A0"/>
                </a:solidFill>
                <a:latin typeface="Calibri" pitchFamily="34" charset="0"/>
                <a:ea typeface="Calibri" pitchFamily="34" charset="-122"/>
                <a:cs typeface="Calibri" pitchFamily="34" charset="-120"/>
              </a:rPr>
              <a:t>✓ Works with limited labeled data</a:t>
            </a:r>
            <a:endParaRPr lang="en-US" sz="1100" dirty="0"/>
          </a:p>
        </p:txBody>
      </p:sp>
      <p:sp>
        <p:nvSpPr>
          <p:cNvPr id="29" name="Text 27"/>
          <p:cNvSpPr/>
          <p:nvPr/>
        </p:nvSpPr>
        <p:spPr>
          <a:xfrm>
            <a:off x="2240280" y="4480560"/>
            <a:ext cx="3291840" cy="228600"/>
          </a:xfrm>
          <a:prstGeom prst="rect">
            <a:avLst/>
          </a:prstGeom>
          <a:noFill/>
          <a:ln/>
        </p:spPr>
        <p:txBody>
          <a:bodyPr wrap="square" lIns="0" tIns="0" rIns="0" bIns="0" rtlCol="0" anchor="ctr"/>
          <a:lstStyle/>
          <a:p>
            <a:pPr marL="0" indent="0">
              <a:buNone/>
            </a:pPr>
            <a:r>
              <a:rPr lang="en-US" sz="1100" dirty="0">
                <a:solidFill>
                  <a:srgbClr val="EF233C"/>
                </a:solidFill>
                <a:latin typeface="Calibri" pitchFamily="34" charset="0"/>
                <a:ea typeface="Calibri" pitchFamily="34" charset="-122"/>
                <a:cs typeface="Calibri" pitchFamily="34" charset="-120"/>
              </a:rPr>
              <a:t>✗ Complex implementation</a:t>
            </a:r>
            <a:endParaRPr lang="en-US" sz="1100" dirty="0"/>
          </a:p>
        </p:txBody>
      </p:sp>
      <p:sp>
        <p:nvSpPr>
          <p:cNvPr id="30" name="Text 28"/>
          <p:cNvSpPr/>
          <p:nvPr/>
        </p:nvSpPr>
        <p:spPr>
          <a:xfrm>
            <a:off x="5669280" y="3886200"/>
            <a:ext cx="3108960" cy="914400"/>
          </a:xfrm>
          <a:prstGeom prst="rect">
            <a:avLst/>
          </a:prstGeom>
          <a:noFill/>
          <a:ln/>
        </p:spPr>
        <p:txBody>
          <a:bodyPr wrap="square" rtlCol="0" anchor="ctr"/>
          <a:lstStyle/>
          <a:p>
            <a:pPr marL="0" indent="0" algn="ctr">
              <a:buNone/>
            </a:pPr>
            <a:r>
              <a:rPr lang="en-US" sz="2800" b="1" dirty="0">
                <a:solidFill>
                  <a:srgbClr val="00B4D8"/>
                </a:solidFill>
                <a:latin typeface="Calibri" pitchFamily="34" charset="0"/>
                <a:ea typeface="Calibri" pitchFamily="34" charset="-122"/>
                <a:cs typeface="Calibri" pitchFamily="34" charset="-120"/>
              </a:rPr>
              <a:t>Accuracy: 93.7%</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Deep Learning in Cybersecurity</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16</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Neural Network Architectures for Threat Detection</a:t>
            </a:r>
            <a:endParaRPr lang="en-US" sz="1600" dirty="0"/>
          </a:p>
        </p:txBody>
      </p:sp>
      <p:sp>
        <p:nvSpPr>
          <p:cNvPr id="9" name="Shape 7"/>
          <p:cNvSpPr/>
          <p:nvPr/>
        </p:nvSpPr>
        <p:spPr>
          <a:xfrm>
            <a:off x="274320" y="1143000"/>
            <a:ext cx="4206240" cy="16002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0" name="Text 8"/>
          <p:cNvSpPr/>
          <p:nvPr/>
        </p:nvSpPr>
        <p:spPr>
          <a:xfrm>
            <a:off x="274320" y="1234440"/>
            <a:ext cx="822960" cy="141732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1" name="Text 9"/>
          <p:cNvSpPr/>
          <p:nvPr/>
        </p:nvSpPr>
        <p:spPr>
          <a:xfrm>
            <a:off x="1143000" y="1252728"/>
            <a:ext cx="3200400" cy="32004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CNN (Convolutional Neural Network)</a:t>
            </a:r>
            <a:endParaRPr lang="en-US" sz="1200" dirty="0"/>
          </a:p>
        </p:txBody>
      </p:sp>
      <p:sp>
        <p:nvSpPr>
          <p:cNvPr id="12" name="Text 10"/>
          <p:cNvSpPr/>
          <p:nvPr/>
        </p:nvSpPr>
        <p:spPr>
          <a:xfrm>
            <a:off x="1143000" y="1600200"/>
            <a:ext cx="3200400" cy="109728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Malware visualization, binary analysis, image-based anomaly detection. Converts malware binaries to grayscale images for classification. Accuracy: 98.5% on MNIST malware dataset.</a:t>
            </a:r>
            <a:endParaRPr lang="en-US" sz="1100" dirty="0"/>
          </a:p>
        </p:txBody>
      </p:sp>
      <p:sp>
        <p:nvSpPr>
          <p:cNvPr id="13" name="Shape 11"/>
          <p:cNvSpPr/>
          <p:nvPr/>
        </p:nvSpPr>
        <p:spPr>
          <a:xfrm>
            <a:off x="4754880" y="1143000"/>
            <a:ext cx="4206240" cy="16002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4" name="Text 12"/>
          <p:cNvSpPr/>
          <p:nvPr/>
        </p:nvSpPr>
        <p:spPr>
          <a:xfrm>
            <a:off x="4754880" y="1234440"/>
            <a:ext cx="822960" cy="141732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5" name="Text 13"/>
          <p:cNvSpPr/>
          <p:nvPr/>
        </p:nvSpPr>
        <p:spPr>
          <a:xfrm>
            <a:off x="5623560" y="1252728"/>
            <a:ext cx="3200400" cy="32004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LSTM (Long Short-Term Memory)</a:t>
            </a:r>
            <a:endParaRPr lang="en-US" sz="1200" dirty="0"/>
          </a:p>
        </p:txBody>
      </p:sp>
      <p:sp>
        <p:nvSpPr>
          <p:cNvPr id="16" name="Text 14"/>
          <p:cNvSpPr/>
          <p:nvPr/>
        </p:nvSpPr>
        <p:spPr>
          <a:xfrm>
            <a:off x="5623560" y="1600200"/>
            <a:ext cx="3200400" cy="109728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Network traffic sequence analysis, user behavior profiling, log anomaly detection. Excels at capturing temporal dependencies in sequential security data. Detects APT lateral movement.</a:t>
            </a:r>
            <a:endParaRPr lang="en-US" sz="1100" dirty="0"/>
          </a:p>
        </p:txBody>
      </p:sp>
      <p:sp>
        <p:nvSpPr>
          <p:cNvPr id="17" name="Shape 15"/>
          <p:cNvSpPr/>
          <p:nvPr/>
        </p:nvSpPr>
        <p:spPr>
          <a:xfrm>
            <a:off x="274320" y="2926080"/>
            <a:ext cx="4206240" cy="16002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8" name="Text 16"/>
          <p:cNvSpPr/>
          <p:nvPr/>
        </p:nvSpPr>
        <p:spPr>
          <a:xfrm>
            <a:off x="274320" y="3017520"/>
            <a:ext cx="822960" cy="141732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9" name="Text 17"/>
          <p:cNvSpPr/>
          <p:nvPr/>
        </p:nvSpPr>
        <p:spPr>
          <a:xfrm>
            <a:off x="1143000" y="3035808"/>
            <a:ext cx="3200400" cy="32004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Transformer / BERT</a:t>
            </a:r>
            <a:endParaRPr lang="en-US" sz="1200" dirty="0"/>
          </a:p>
        </p:txBody>
      </p:sp>
      <p:sp>
        <p:nvSpPr>
          <p:cNvPr id="20" name="Text 18"/>
          <p:cNvSpPr/>
          <p:nvPr/>
        </p:nvSpPr>
        <p:spPr>
          <a:xfrm>
            <a:off x="1143000" y="3383280"/>
            <a:ext cx="3200400" cy="109728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Vulnerability report analysis, CVE description processing, threat intelligence extraction from unstructured text. Enables contextual understanding of security advisories at scale.</a:t>
            </a:r>
            <a:endParaRPr lang="en-US" sz="1100" dirty="0"/>
          </a:p>
        </p:txBody>
      </p:sp>
      <p:sp>
        <p:nvSpPr>
          <p:cNvPr id="21" name="Shape 19"/>
          <p:cNvSpPr/>
          <p:nvPr/>
        </p:nvSpPr>
        <p:spPr>
          <a:xfrm>
            <a:off x="4754880" y="2926080"/>
            <a:ext cx="4206240" cy="16002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2" name="Text 20"/>
          <p:cNvSpPr/>
          <p:nvPr/>
        </p:nvSpPr>
        <p:spPr>
          <a:xfrm>
            <a:off x="4754880" y="3017520"/>
            <a:ext cx="822960" cy="141732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23" name="Text 21"/>
          <p:cNvSpPr/>
          <p:nvPr/>
        </p:nvSpPr>
        <p:spPr>
          <a:xfrm>
            <a:off x="5623560" y="3035808"/>
            <a:ext cx="3200400" cy="32004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Autoencoder (AE)</a:t>
            </a:r>
            <a:endParaRPr lang="en-US" sz="1200" dirty="0"/>
          </a:p>
        </p:txBody>
      </p:sp>
      <p:sp>
        <p:nvSpPr>
          <p:cNvPr id="24" name="Text 22"/>
          <p:cNvSpPr/>
          <p:nvPr/>
        </p:nvSpPr>
        <p:spPr>
          <a:xfrm>
            <a:off x="5623560" y="3383280"/>
            <a:ext cx="3200400" cy="109728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Unsupervised anomaly detection in network traffic. Learns normal behavior; reconstruction error flags anomalies. Effective in IoT and SCADA/ICS security environments.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NLP &amp; AI for Threat Intelligence</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17</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Natural Language Processing in Cybersecurity Operations</a:t>
            </a:r>
            <a:endParaRPr lang="en-US" sz="1600" dirty="0"/>
          </a:p>
        </p:txBody>
      </p:sp>
      <p:sp>
        <p:nvSpPr>
          <p:cNvPr id="9" name="Text 7"/>
          <p:cNvSpPr/>
          <p:nvPr/>
        </p:nvSpPr>
        <p:spPr>
          <a:xfrm>
            <a:off x="365760" y="1078992"/>
            <a:ext cx="8412480" cy="594360"/>
          </a:xfrm>
          <a:prstGeom prst="rect">
            <a:avLst/>
          </a:prstGeom>
          <a:noFill/>
          <a:ln/>
        </p:spPr>
        <p:txBody>
          <a:bodyPr wrap="square" rtlCol="0" anchor="ctr"/>
          <a:lstStyle/>
          <a:p>
            <a:pPr marL="0" indent="0">
              <a:buNone/>
            </a:pPr>
            <a:r>
              <a:rPr lang="en-US" sz="1300" dirty="0">
                <a:solidFill>
                  <a:srgbClr val="CAD3E0"/>
                </a:solidFill>
                <a:latin typeface="Calibri" pitchFamily="34" charset="0"/>
                <a:ea typeface="Calibri" pitchFamily="34" charset="-122"/>
                <a:cs typeface="Calibri" pitchFamily="34" charset="-120"/>
              </a:rPr>
              <a:t>NLP enables security teams to process massive volumes of unstructured text data — threat reports, security advisories, dark web forums, and phishing emails — at machine speed, extracting actionable intelligence.</a:t>
            </a:r>
            <a:endParaRPr lang="en-US" sz="1300" dirty="0"/>
          </a:p>
        </p:txBody>
      </p:sp>
      <p:sp>
        <p:nvSpPr>
          <p:cNvPr id="10" name="Shape 8"/>
          <p:cNvSpPr/>
          <p:nvPr/>
        </p:nvSpPr>
        <p:spPr>
          <a:xfrm>
            <a:off x="274320" y="1783080"/>
            <a:ext cx="4206240" cy="13716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1" name="Text 9"/>
          <p:cNvSpPr/>
          <p:nvPr/>
        </p:nvSpPr>
        <p:spPr>
          <a:xfrm>
            <a:off x="274320" y="1874520"/>
            <a:ext cx="1188720" cy="640080"/>
          </a:xfrm>
          <a:prstGeom prst="rect">
            <a:avLst/>
          </a:prstGeom>
          <a:noFill/>
          <a:ln/>
        </p:spPr>
        <p:txBody>
          <a:bodyPr wrap="square" rtlCol="0" anchor="ctr"/>
          <a:lstStyle/>
          <a:p>
            <a:pPr marL="0" indent="0" algn="ctr">
              <a:buNone/>
            </a:pPr>
            <a:r>
              <a:rPr lang="en-US" sz="3000" b="1" dirty="0">
                <a:solidFill>
                  <a:srgbClr val="00B4D8"/>
                </a:solidFill>
                <a:latin typeface="Calibri" pitchFamily="34" charset="0"/>
                <a:ea typeface="Calibri" pitchFamily="34" charset="-122"/>
                <a:cs typeface="Calibri" pitchFamily="34" charset="-120"/>
              </a:rPr>
              <a:t>99.2%</a:t>
            </a:r>
            <a:endParaRPr lang="en-US" sz="3000" dirty="0"/>
          </a:p>
        </p:txBody>
      </p:sp>
      <p:sp>
        <p:nvSpPr>
          <p:cNvPr id="12" name="Text 10"/>
          <p:cNvSpPr/>
          <p:nvPr/>
        </p:nvSpPr>
        <p:spPr>
          <a:xfrm>
            <a:off x="274320" y="2532888"/>
            <a:ext cx="1188720" cy="27432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detection rate</a:t>
            </a:r>
            <a:endParaRPr lang="en-US" sz="900" dirty="0"/>
          </a:p>
        </p:txBody>
      </p:sp>
      <p:sp>
        <p:nvSpPr>
          <p:cNvPr id="13" name="Shape 11"/>
          <p:cNvSpPr/>
          <p:nvPr/>
        </p:nvSpPr>
        <p:spPr>
          <a:xfrm>
            <a:off x="1463040" y="1874520"/>
            <a:ext cx="0" cy="1188720"/>
          </a:xfrm>
          <a:prstGeom prst="line">
            <a:avLst/>
          </a:prstGeom>
          <a:noFill/>
          <a:ln w="6350">
            <a:solidFill>
              <a:srgbClr val="0077B6"/>
            </a:solidFill>
            <a:prstDash val="solid"/>
          </a:ln>
        </p:spPr>
      </p:sp>
      <p:sp>
        <p:nvSpPr>
          <p:cNvPr id="14" name="Text 12"/>
          <p:cNvSpPr/>
          <p:nvPr/>
        </p:nvSpPr>
        <p:spPr>
          <a:xfrm>
            <a:off x="1600200" y="1874520"/>
            <a:ext cx="274320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Phishing Detection</a:t>
            </a:r>
            <a:endParaRPr lang="en-US" sz="1250" dirty="0"/>
          </a:p>
        </p:txBody>
      </p:sp>
      <p:sp>
        <p:nvSpPr>
          <p:cNvPr id="15" name="Text 13"/>
          <p:cNvSpPr/>
          <p:nvPr/>
        </p:nvSpPr>
        <p:spPr>
          <a:xfrm>
            <a:off x="1600200" y="2221992"/>
            <a:ext cx="2743200" cy="91440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BERT-based classifiers analyze email content, sender patterns, and URL structures to identify phishing attempts with near-human-level accuracy.</a:t>
            </a:r>
            <a:endParaRPr lang="en-US" sz="1100" dirty="0"/>
          </a:p>
        </p:txBody>
      </p:sp>
      <p:sp>
        <p:nvSpPr>
          <p:cNvPr id="16" name="Shape 14"/>
          <p:cNvSpPr/>
          <p:nvPr/>
        </p:nvSpPr>
        <p:spPr>
          <a:xfrm>
            <a:off x="4754880" y="1783080"/>
            <a:ext cx="4206240" cy="13716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7" name="Text 15"/>
          <p:cNvSpPr/>
          <p:nvPr/>
        </p:nvSpPr>
        <p:spPr>
          <a:xfrm>
            <a:off x="4754880" y="1874520"/>
            <a:ext cx="1188720" cy="640080"/>
          </a:xfrm>
          <a:prstGeom prst="rect">
            <a:avLst/>
          </a:prstGeom>
          <a:noFill/>
          <a:ln/>
        </p:spPr>
        <p:txBody>
          <a:bodyPr wrap="square" rtlCol="0" anchor="ctr"/>
          <a:lstStyle/>
          <a:p>
            <a:pPr marL="0" indent="0" algn="ctr">
              <a:buNone/>
            </a:pPr>
            <a:r>
              <a:rPr lang="en-US" sz="3000" b="1" dirty="0">
                <a:solidFill>
                  <a:srgbClr val="00B4D8"/>
                </a:solidFill>
                <a:latin typeface="Calibri" pitchFamily="34" charset="0"/>
                <a:ea typeface="Calibri" pitchFamily="34" charset="-122"/>
                <a:cs typeface="Calibri" pitchFamily="34" charset="-120"/>
              </a:rPr>
              <a:t>10x</a:t>
            </a:r>
            <a:endParaRPr lang="en-US" sz="3000" dirty="0"/>
          </a:p>
        </p:txBody>
      </p:sp>
      <p:sp>
        <p:nvSpPr>
          <p:cNvPr id="18" name="Text 16"/>
          <p:cNvSpPr/>
          <p:nvPr/>
        </p:nvSpPr>
        <p:spPr>
          <a:xfrm>
            <a:off x="4754880" y="2532888"/>
            <a:ext cx="1188720" cy="27432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faster analysis</a:t>
            </a:r>
            <a:endParaRPr lang="en-US" sz="900" dirty="0"/>
          </a:p>
        </p:txBody>
      </p:sp>
      <p:sp>
        <p:nvSpPr>
          <p:cNvPr id="19" name="Shape 17"/>
          <p:cNvSpPr/>
          <p:nvPr/>
        </p:nvSpPr>
        <p:spPr>
          <a:xfrm>
            <a:off x="5943600" y="1874520"/>
            <a:ext cx="0" cy="1188720"/>
          </a:xfrm>
          <a:prstGeom prst="line">
            <a:avLst/>
          </a:prstGeom>
          <a:noFill/>
          <a:ln w="6350">
            <a:solidFill>
              <a:srgbClr val="0077B6"/>
            </a:solidFill>
            <a:prstDash val="solid"/>
          </a:ln>
        </p:spPr>
      </p:sp>
      <p:sp>
        <p:nvSpPr>
          <p:cNvPr id="20" name="Text 18"/>
          <p:cNvSpPr/>
          <p:nvPr/>
        </p:nvSpPr>
        <p:spPr>
          <a:xfrm>
            <a:off x="6080760" y="1874520"/>
            <a:ext cx="274320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Vulnerability Mining</a:t>
            </a:r>
            <a:endParaRPr lang="en-US" sz="1250" dirty="0"/>
          </a:p>
        </p:txBody>
      </p:sp>
      <p:sp>
        <p:nvSpPr>
          <p:cNvPr id="21" name="Text 19"/>
          <p:cNvSpPr/>
          <p:nvPr/>
        </p:nvSpPr>
        <p:spPr>
          <a:xfrm>
            <a:off x="6080760" y="2221992"/>
            <a:ext cx="2743200" cy="91440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NLP models parse CVE databases, security bulletins, and vendor advisories to automatically extract vulnerability metadata and severity scoring.</a:t>
            </a:r>
            <a:endParaRPr lang="en-US" sz="1100" dirty="0"/>
          </a:p>
        </p:txBody>
      </p:sp>
      <p:sp>
        <p:nvSpPr>
          <p:cNvPr id="22" name="Shape 20"/>
          <p:cNvSpPr/>
          <p:nvPr/>
        </p:nvSpPr>
        <p:spPr>
          <a:xfrm>
            <a:off x="274320" y="3337560"/>
            <a:ext cx="4206240" cy="13716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3" name="Text 21"/>
          <p:cNvSpPr/>
          <p:nvPr/>
        </p:nvSpPr>
        <p:spPr>
          <a:xfrm>
            <a:off x="274320" y="3429000"/>
            <a:ext cx="1188720" cy="640080"/>
          </a:xfrm>
          <a:prstGeom prst="rect">
            <a:avLst/>
          </a:prstGeom>
          <a:noFill/>
          <a:ln/>
        </p:spPr>
        <p:txBody>
          <a:bodyPr wrap="square" rtlCol="0" anchor="ctr"/>
          <a:lstStyle/>
          <a:p>
            <a:pPr marL="0" indent="0" algn="ctr">
              <a:buNone/>
            </a:pPr>
            <a:r>
              <a:rPr lang="en-US" sz="3000" b="1" dirty="0">
                <a:solidFill>
                  <a:srgbClr val="00B4D8"/>
                </a:solidFill>
                <a:latin typeface="Calibri" pitchFamily="34" charset="0"/>
                <a:ea typeface="Calibri" pitchFamily="34" charset="-122"/>
                <a:cs typeface="Calibri" pitchFamily="34" charset="-120"/>
              </a:rPr>
              <a:t>24/7</a:t>
            </a:r>
            <a:endParaRPr lang="en-US" sz="3000" dirty="0"/>
          </a:p>
        </p:txBody>
      </p:sp>
      <p:sp>
        <p:nvSpPr>
          <p:cNvPr id="24" name="Text 22"/>
          <p:cNvSpPr/>
          <p:nvPr/>
        </p:nvSpPr>
        <p:spPr>
          <a:xfrm>
            <a:off x="274320" y="4087368"/>
            <a:ext cx="1188720" cy="27432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continuous scan</a:t>
            </a:r>
            <a:endParaRPr lang="en-US" sz="900" dirty="0"/>
          </a:p>
        </p:txBody>
      </p:sp>
      <p:sp>
        <p:nvSpPr>
          <p:cNvPr id="25" name="Shape 23"/>
          <p:cNvSpPr/>
          <p:nvPr/>
        </p:nvSpPr>
        <p:spPr>
          <a:xfrm>
            <a:off x="1463040" y="3429000"/>
            <a:ext cx="0" cy="1188720"/>
          </a:xfrm>
          <a:prstGeom prst="line">
            <a:avLst/>
          </a:prstGeom>
          <a:noFill/>
          <a:ln w="6350">
            <a:solidFill>
              <a:srgbClr val="0077B6"/>
            </a:solidFill>
            <a:prstDash val="solid"/>
          </a:ln>
        </p:spPr>
      </p:sp>
      <p:sp>
        <p:nvSpPr>
          <p:cNvPr id="26" name="Text 24"/>
          <p:cNvSpPr/>
          <p:nvPr/>
        </p:nvSpPr>
        <p:spPr>
          <a:xfrm>
            <a:off x="1600200" y="3429000"/>
            <a:ext cx="274320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Dark Web Monitoring</a:t>
            </a:r>
            <a:endParaRPr lang="en-US" sz="1250" dirty="0"/>
          </a:p>
        </p:txBody>
      </p:sp>
      <p:sp>
        <p:nvSpPr>
          <p:cNvPr id="27" name="Text 25"/>
          <p:cNvSpPr/>
          <p:nvPr/>
        </p:nvSpPr>
        <p:spPr>
          <a:xfrm>
            <a:off x="1600200" y="3776472"/>
            <a:ext cx="2743200" cy="91440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AI crawlers monitor underground forums and marketplaces for credential leaks, exploit discussions, and targeted attack planning using entity extraction.</a:t>
            </a:r>
            <a:endParaRPr lang="en-US" sz="1100" dirty="0"/>
          </a:p>
        </p:txBody>
      </p:sp>
      <p:sp>
        <p:nvSpPr>
          <p:cNvPr id="28" name="Shape 26"/>
          <p:cNvSpPr/>
          <p:nvPr/>
        </p:nvSpPr>
        <p:spPr>
          <a:xfrm>
            <a:off x="4754880" y="3337560"/>
            <a:ext cx="4206240" cy="13716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9" name="Text 27"/>
          <p:cNvSpPr/>
          <p:nvPr/>
        </p:nvSpPr>
        <p:spPr>
          <a:xfrm>
            <a:off x="4754880" y="3429000"/>
            <a:ext cx="1188720" cy="640080"/>
          </a:xfrm>
          <a:prstGeom prst="rect">
            <a:avLst/>
          </a:prstGeom>
          <a:noFill/>
          <a:ln/>
        </p:spPr>
        <p:txBody>
          <a:bodyPr wrap="square" rtlCol="0" anchor="ctr"/>
          <a:lstStyle/>
          <a:p>
            <a:pPr marL="0" indent="0" algn="ctr">
              <a:buNone/>
            </a:pPr>
            <a:r>
              <a:rPr lang="en-US" sz="3000" b="1" dirty="0">
                <a:solidFill>
                  <a:srgbClr val="00B4D8"/>
                </a:solidFill>
                <a:latin typeface="Calibri" pitchFamily="34" charset="0"/>
                <a:ea typeface="Calibri" pitchFamily="34" charset="-122"/>
                <a:cs typeface="Calibri" pitchFamily="34" charset="-120"/>
              </a:rPr>
              <a:t>85%</a:t>
            </a:r>
            <a:endParaRPr lang="en-US" sz="3000" dirty="0"/>
          </a:p>
        </p:txBody>
      </p:sp>
      <p:sp>
        <p:nvSpPr>
          <p:cNvPr id="30" name="Text 28"/>
          <p:cNvSpPr/>
          <p:nvPr/>
        </p:nvSpPr>
        <p:spPr>
          <a:xfrm>
            <a:off x="4754880" y="4087368"/>
            <a:ext cx="1188720" cy="27432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time saved</a:t>
            </a:r>
            <a:endParaRPr lang="en-US" sz="900" dirty="0"/>
          </a:p>
        </p:txBody>
      </p:sp>
      <p:sp>
        <p:nvSpPr>
          <p:cNvPr id="31" name="Shape 29"/>
          <p:cNvSpPr/>
          <p:nvPr/>
        </p:nvSpPr>
        <p:spPr>
          <a:xfrm>
            <a:off x="5943600" y="3429000"/>
            <a:ext cx="0" cy="1188720"/>
          </a:xfrm>
          <a:prstGeom prst="line">
            <a:avLst/>
          </a:prstGeom>
          <a:noFill/>
          <a:ln w="6350">
            <a:solidFill>
              <a:srgbClr val="0077B6"/>
            </a:solidFill>
            <a:prstDash val="solid"/>
          </a:ln>
        </p:spPr>
      </p:sp>
      <p:sp>
        <p:nvSpPr>
          <p:cNvPr id="32" name="Text 30"/>
          <p:cNvSpPr/>
          <p:nvPr/>
        </p:nvSpPr>
        <p:spPr>
          <a:xfrm>
            <a:off x="6080760" y="3429000"/>
            <a:ext cx="274320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Threat Report Synthesis</a:t>
            </a:r>
            <a:endParaRPr lang="en-US" sz="1250" dirty="0"/>
          </a:p>
        </p:txBody>
      </p:sp>
      <p:sp>
        <p:nvSpPr>
          <p:cNvPr id="33" name="Text 31"/>
          <p:cNvSpPr/>
          <p:nvPr/>
        </p:nvSpPr>
        <p:spPr>
          <a:xfrm>
            <a:off x="6080760" y="3776472"/>
            <a:ext cx="2743200" cy="91440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LLMs automatically summarize threat intelligence reports, correlate indicators of compromise (IoCs), and generate actionable security recommendations.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AI-Powered Endpoint Detection &amp; Response (EDR)</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18</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Next-Generation Endpoint Protection</a:t>
            </a:r>
            <a:endParaRPr lang="en-US" sz="1600" dirty="0"/>
          </a:p>
        </p:txBody>
      </p:sp>
      <p:sp>
        <p:nvSpPr>
          <p:cNvPr id="9" name="Text 7"/>
          <p:cNvSpPr/>
          <p:nvPr/>
        </p:nvSpPr>
        <p:spPr>
          <a:xfrm>
            <a:off x="365760" y="1078992"/>
            <a:ext cx="8412480" cy="594360"/>
          </a:xfrm>
          <a:prstGeom prst="rect">
            <a:avLst/>
          </a:prstGeom>
          <a:noFill/>
          <a:ln/>
        </p:spPr>
        <p:txBody>
          <a:bodyPr wrap="square" rtlCol="0" anchor="ctr"/>
          <a:lstStyle/>
          <a:p>
            <a:pPr marL="0" indent="0">
              <a:buNone/>
            </a:pPr>
            <a:r>
              <a:rPr lang="en-US" sz="1300" dirty="0">
                <a:solidFill>
                  <a:srgbClr val="CAD3E0"/>
                </a:solidFill>
                <a:latin typeface="Calibri" pitchFamily="34" charset="0"/>
                <a:ea typeface="Calibri" pitchFamily="34" charset="-122"/>
                <a:cs typeface="Calibri" pitchFamily="34" charset="-120"/>
              </a:rPr>
              <a:t>Traditional signature-based antivirus detects only ~50% of modern malware. AI-powered EDR continuously monitors endpoint behavior, correlates events across the kill chain, and autonomously contains threats.</a:t>
            </a:r>
            <a:endParaRPr lang="en-US" sz="1300" dirty="0"/>
          </a:p>
        </p:txBody>
      </p:sp>
      <p:sp>
        <p:nvSpPr>
          <p:cNvPr id="10" name="Shape 8"/>
          <p:cNvSpPr/>
          <p:nvPr/>
        </p:nvSpPr>
        <p:spPr>
          <a:xfrm>
            <a:off x="274320" y="1783080"/>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1" name="Shape 9"/>
          <p:cNvSpPr/>
          <p:nvPr/>
        </p:nvSpPr>
        <p:spPr>
          <a:xfrm>
            <a:off x="274320" y="1783080"/>
            <a:ext cx="73152" cy="658368"/>
          </a:xfrm>
          <a:prstGeom prst="rect">
            <a:avLst/>
          </a:prstGeom>
          <a:solidFill>
            <a:srgbClr val="00B4D8"/>
          </a:solidFill>
          <a:ln w="12700">
            <a:solidFill>
              <a:srgbClr val="00B4D8"/>
            </a:solidFill>
            <a:prstDash val="solid"/>
          </a:ln>
        </p:spPr>
      </p:sp>
      <p:sp>
        <p:nvSpPr>
          <p:cNvPr id="12" name="Text 10"/>
          <p:cNvSpPr/>
          <p:nvPr/>
        </p:nvSpPr>
        <p:spPr>
          <a:xfrm>
            <a:off x="457200" y="1847088"/>
            <a:ext cx="201168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Behavioral Analysis</a:t>
            </a:r>
            <a:endParaRPr lang="en-US" sz="1200" dirty="0"/>
          </a:p>
        </p:txBody>
      </p:sp>
      <p:sp>
        <p:nvSpPr>
          <p:cNvPr id="13" name="Text 11"/>
          <p:cNvSpPr/>
          <p:nvPr/>
        </p:nvSpPr>
        <p:spPr>
          <a:xfrm>
            <a:off x="457200" y="2148840"/>
            <a:ext cx="8321040" cy="256032"/>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ML models profile normal user and process behavior. Deviations—like unusual file access patterns, privilege escalation, or process injection—trigger automated alerts and containment.</a:t>
            </a:r>
            <a:endParaRPr lang="en-US" sz="1150" dirty="0"/>
          </a:p>
        </p:txBody>
      </p:sp>
      <p:sp>
        <p:nvSpPr>
          <p:cNvPr id="14" name="Shape 12"/>
          <p:cNvSpPr/>
          <p:nvPr/>
        </p:nvSpPr>
        <p:spPr>
          <a:xfrm>
            <a:off x="274320" y="2542032"/>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5" name="Shape 13"/>
          <p:cNvSpPr/>
          <p:nvPr/>
        </p:nvSpPr>
        <p:spPr>
          <a:xfrm>
            <a:off x="274320" y="2542032"/>
            <a:ext cx="73152" cy="658368"/>
          </a:xfrm>
          <a:prstGeom prst="rect">
            <a:avLst/>
          </a:prstGeom>
          <a:solidFill>
            <a:srgbClr val="00B4D8"/>
          </a:solidFill>
          <a:ln w="12700">
            <a:solidFill>
              <a:srgbClr val="00B4D8"/>
            </a:solidFill>
            <a:prstDash val="solid"/>
          </a:ln>
        </p:spPr>
      </p:sp>
      <p:sp>
        <p:nvSpPr>
          <p:cNvPr id="16" name="Text 14"/>
          <p:cNvSpPr/>
          <p:nvPr/>
        </p:nvSpPr>
        <p:spPr>
          <a:xfrm>
            <a:off x="457200" y="2606040"/>
            <a:ext cx="201168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Memory Analysis</a:t>
            </a:r>
            <a:endParaRPr lang="en-US" sz="1200" dirty="0"/>
          </a:p>
        </p:txBody>
      </p:sp>
      <p:sp>
        <p:nvSpPr>
          <p:cNvPr id="17" name="Text 15"/>
          <p:cNvSpPr/>
          <p:nvPr/>
        </p:nvSpPr>
        <p:spPr>
          <a:xfrm>
            <a:off x="457200" y="2907792"/>
            <a:ext cx="8321040" cy="256032"/>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Deep learning scans process memory in real-time to detect fileless malware and in-memory attacks that leave no disk footprint, evading traditional AV tools.</a:t>
            </a:r>
            <a:endParaRPr lang="en-US" sz="1150" dirty="0"/>
          </a:p>
        </p:txBody>
      </p:sp>
      <p:sp>
        <p:nvSpPr>
          <p:cNvPr id="18" name="Shape 16"/>
          <p:cNvSpPr/>
          <p:nvPr/>
        </p:nvSpPr>
        <p:spPr>
          <a:xfrm>
            <a:off x="274320" y="3300984"/>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9" name="Shape 17"/>
          <p:cNvSpPr/>
          <p:nvPr/>
        </p:nvSpPr>
        <p:spPr>
          <a:xfrm>
            <a:off x="274320" y="3300984"/>
            <a:ext cx="73152" cy="658368"/>
          </a:xfrm>
          <a:prstGeom prst="rect">
            <a:avLst/>
          </a:prstGeom>
          <a:solidFill>
            <a:srgbClr val="00B4D8"/>
          </a:solidFill>
          <a:ln w="12700">
            <a:solidFill>
              <a:srgbClr val="00B4D8"/>
            </a:solidFill>
            <a:prstDash val="solid"/>
          </a:ln>
        </p:spPr>
      </p:sp>
      <p:sp>
        <p:nvSpPr>
          <p:cNvPr id="20" name="Text 18"/>
          <p:cNvSpPr/>
          <p:nvPr/>
        </p:nvSpPr>
        <p:spPr>
          <a:xfrm>
            <a:off x="457200" y="3364992"/>
            <a:ext cx="201168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MITRE ATT&amp;CK Mapping</a:t>
            </a:r>
            <a:endParaRPr lang="en-US" sz="1200" dirty="0"/>
          </a:p>
        </p:txBody>
      </p:sp>
      <p:sp>
        <p:nvSpPr>
          <p:cNvPr id="21" name="Text 19"/>
          <p:cNvSpPr/>
          <p:nvPr/>
        </p:nvSpPr>
        <p:spPr>
          <a:xfrm>
            <a:off x="457200" y="3666744"/>
            <a:ext cx="8321040" cy="256032"/>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AI automatically maps detected activities to MITRE ATT&amp;CK framework tactics and techniques, enabling structured threat hunting and gap analysis.</a:t>
            </a:r>
            <a:endParaRPr lang="en-US" sz="1150" dirty="0"/>
          </a:p>
        </p:txBody>
      </p:sp>
      <p:sp>
        <p:nvSpPr>
          <p:cNvPr id="22" name="Shape 20"/>
          <p:cNvSpPr/>
          <p:nvPr/>
        </p:nvSpPr>
        <p:spPr>
          <a:xfrm>
            <a:off x="274320" y="4059936"/>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3" name="Shape 21"/>
          <p:cNvSpPr/>
          <p:nvPr/>
        </p:nvSpPr>
        <p:spPr>
          <a:xfrm>
            <a:off x="274320" y="4059936"/>
            <a:ext cx="73152" cy="658368"/>
          </a:xfrm>
          <a:prstGeom prst="rect">
            <a:avLst/>
          </a:prstGeom>
          <a:solidFill>
            <a:srgbClr val="00B4D8"/>
          </a:solidFill>
          <a:ln w="12700">
            <a:solidFill>
              <a:srgbClr val="00B4D8"/>
            </a:solidFill>
            <a:prstDash val="solid"/>
          </a:ln>
        </p:spPr>
      </p:sp>
      <p:sp>
        <p:nvSpPr>
          <p:cNvPr id="24" name="Text 22"/>
          <p:cNvSpPr/>
          <p:nvPr/>
        </p:nvSpPr>
        <p:spPr>
          <a:xfrm>
            <a:off x="457200" y="4123944"/>
            <a:ext cx="201168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Automated Containment</a:t>
            </a:r>
            <a:endParaRPr lang="en-US" sz="1200" dirty="0"/>
          </a:p>
        </p:txBody>
      </p:sp>
      <p:sp>
        <p:nvSpPr>
          <p:cNvPr id="25" name="Text 23"/>
          <p:cNvSpPr/>
          <p:nvPr/>
        </p:nvSpPr>
        <p:spPr>
          <a:xfrm>
            <a:off x="457200" y="4425696"/>
            <a:ext cx="8321040" cy="256032"/>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Upon threat confirmation (&gt;95% confidence), EDR isolates the endpoint, terminates malicious processes, and initiates forensic evidence collection autonomously.</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AI in Network Security &amp; Traffic Analysis</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19</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Intelligent Network Defense Systems</a:t>
            </a:r>
            <a:endParaRPr lang="en-US" sz="1600" dirty="0"/>
          </a:p>
        </p:txBody>
      </p:sp>
      <p:sp>
        <p:nvSpPr>
          <p:cNvPr id="9" name="Text 7"/>
          <p:cNvSpPr/>
          <p:nvPr/>
        </p:nvSpPr>
        <p:spPr>
          <a:xfrm>
            <a:off x="365760" y="1078992"/>
            <a:ext cx="8412480" cy="548640"/>
          </a:xfrm>
          <a:prstGeom prst="rect">
            <a:avLst/>
          </a:prstGeom>
          <a:noFill/>
          <a:ln/>
        </p:spPr>
        <p:txBody>
          <a:bodyPr wrap="square" rtlCol="0" anchor="ctr"/>
          <a:lstStyle/>
          <a:p>
            <a:pPr marL="0" indent="0">
              <a:buNone/>
            </a:pPr>
            <a:r>
              <a:rPr lang="en-US" sz="1300" dirty="0">
                <a:solidFill>
                  <a:srgbClr val="CAD3E0"/>
                </a:solidFill>
                <a:latin typeface="Calibri" pitchFamily="34" charset="0"/>
                <a:ea typeface="Calibri" pitchFamily="34" charset="-122"/>
                <a:cs typeface="Calibri" pitchFamily="34" charset="-120"/>
              </a:rPr>
              <a:t>AI-driven network security platforms analyze millions of packets per second, identifying malicious traffic patterns, DDoS attacks, and command-and-control (C2) communications invisible to traditional tools.</a:t>
            </a:r>
            <a:endParaRPr lang="en-US" sz="1300" dirty="0"/>
          </a:p>
        </p:txBody>
      </p:sp>
      <p:sp>
        <p:nvSpPr>
          <p:cNvPr id="10" name="Shape 8"/>
          <p:cNvSpPr/>
          <p:nvPr/>
        </p:nvSpPr>
        <p:spPr>
          <a:xfrm>
            <a:off x="274320" y="1719072"/>
            <a:ext cx="2743200" cy="138988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1" name="Text 9"/>
          <p:cNvSpPr/>
          <p:nvPr/>
        </p:nvSpPr>
        <p:spPr>
          <a:xfrm>
            <a:off x="365760" y="1792224"/>
            <a:ext cx="25603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DDoS Detection</a:t>
            </a:r>
            <a:endParaRPr lang="en-US" sz="1200" dirty="0"/>
          </a:p>
        </p:txBody>
      </p:sp>
      <p:sp>
        <p:nvSpPr>
          <p:cNvPr id="12" name="Text 10"/>
          <p:cNvSpPr/>
          <p:nvPr/>
        </p:nvSpPr>
        <p:spPr>
          <a:xfrm>
            <a:off x="365760" y="2103120"/>
            <a:ext cx="2560320" cy="384048"/>
          </a:xfrm>
          <a:prstGeom prst="rect">
            <a:avLst/>
          </a:prstGeom>
          <a:noFill/>
          <a:ln/>
        </p:spPr>
        <p:txBody>
          <a:bodyPr wrap="square" lIns="0" tIns="0" rIns="0" bIns="0" rtlCol="0" anchor="ctr"/>
          <a:lstStyle/>
          <a:p>
            <a:pPr marL="0" indent="0">
              <a:buNone/>
            </a:pPr>
            <a:r>
              <a:rPr lang="en-US" sz="2600" b="1" dirty="0">
                <a:solidFill>
                  <a:srgbClr val="00B4D8"/>
                </a:solidFill>
                <a:latin typeface="Calibri" pitchFamily="34" charset="0"/>
                <a:ea typeface="Calibri" pitchFamily="34" charset="-122"/>
                <a:cs typeface="Calibri" pitchFamily="34" charset="-120"/>
              </a:rPr>
              <a:t>&lt; 3 sec</a:t>
            </a:r>
            <a:endParaRPr lang="en-US" sz="2600" dirty="0"/>
          </a:p>
        </p:txBody>
      </p:sp>
      <p:sp>
        <p:nvSpPr>
          <p:cNvPr id="13" name="Text 11"/>
          <p:cNvSpPr/>
          <p:nvPr/>
        </p:nvSpPr>
        <p:spPr>
          <a:xfrm>
            <a:off x="365760" y="2505456"/>
            <a:ext cx="2560320" cy="548640"/>
          </a:xfrm>
          <a:prstGeom prst="rect">
            <a:avLst/>
          </a:prstGeom>
          <a:noFill/>
          <a:ln/>
        </p:spPr>
        <p:txBody>
          <a:bodyPr wrap="square" lIns="0" tIns="0" rIns="0" bIns="0" rtlCol="0" anchor="ctr"/>
          <a:lstStyle/>
          <a:p>
            <a:pPr marL="0" indent="0">
              <a:buNone/>
            </a:pPr>
            <a:r>
              <a:rPr lang="en-US" sz="1050" dirty="0">
                <a:solidFill>
                  <a:srgbClr val="CAD3E0"/>
                </a:solidFill>
                <a:latin typeface="Calibri" pitchFamily="34" charset="0"/>
                <a:ea typeface="Calibri" pitchFamily="34" charset="-122"/>
                <a:cs typeface="Calibri" pitchFamily="34" charset="-120"/>
              </a:rPr>
              <a:t>AI detects volumetric and application-layer DDoS attacks within 3 seconds using traffic baselining and flow analysis</a:t>
            </a:r>
            <a:endParaRPr lang="en-US" sz="1050" dirty="0"/>
          </a:p>
        </p:txBody>
      </p:sp>
      <p:sp>
        <p:nvSpPr>
          <p:cNvPr id="14" name="Shape 12"/>
          <p:cNvSpPr/>
          <p:nvPr/>
        </p:nvSpPr>
        <p:spPr>
          <a:xfrm>
            <a:off x="3227832" y="1719072"/>
            <a:ext cx="2743200" cy="138988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5" name="Text 13"/>
          <p:cNvSpPr/>
          <p:nvPr/>
        </p:nvSpPr>
        <p:spPr>
          <a:xfrm>
            <a:off x="3319272" y="1792224"/>
            <a:ext cx="25603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C2 Detection</a:t>
            </a:r>
            <a:endParaRPr lang="en-US" sz="1200" dirty="0"/>
          </a:p>
        </p:txBody>
      </p:sp>
      <p:sp>
        <p:nvSpPr>
          <p:cNvPr id="16" name="Text 14"/>
          <p:cNvSpPr/>
          <p:nvPr/>
        </p:nvSpPr>
        <p:spPr>
          <a:xfrm>
            <a:off x="3319272" y="2103120"/>
            <a:ext cx="2560320" cy="384048"/>
          </a:xfrm>
          <a:prstGeom prst="rect">
            <a:avLst/>
          </a:prstGeom>
          <a:noFill/>
          <a:ln/>
        </p:spPr>
        <p:txBody>
          <a:bodyPr wrap="square" lIns="0" tIns="0" rIns="0" bIns="0" rtlCol="0" anchor="ctr"/>
          <a:lstStyle/>
          <a:p>
            <a:pPr marL="0" indent="0">
              <a:buNone/>
            </a:pPr>
            <a:r>
              <a:rPr lang="en-US" sz="2600" b="1" dirty="0">
                <a:solidFill>
                  <a:srgbClr val="00B4D8"/>
                </a:solidFill>
                <a:latin typeface="Calibri" pitchFamily="34" charset="0"/>
                <a:ea typeface="Calibri" pitchFamily="34" charset="-122"/>
                <a:cs typeface="Calibri" pitchFamily="34" charset="-120"/>
              </a:rPr>
              <a:t>94.8%</a:t>
            </a:r>
            <a:endParaRPr lang="en-US" sz="2600" dirty="0"/>
          </a:p>
        </p:txBody>
      </p:sp>
      <p:sp>
        <p:nvSpPr>
          <p:cNvPr id="17" name="Text 15"/>
          <p:cNvSpPr/>
          <p:nvPr/>
        </p:nvSpPr>
        <p:spPr>
          <a:xfrm>
            <a:off x="3319272" y="2505456"/>
            <a:ext cx="2560320" cy="548640"/>
          </a:xfrm>
          <a:prstGeom prst="rect">
            <a:avLst/>
          </a:prstGeom>
          <a:noFill/>
          <a:ln/>
        </p:spPr>
        <p:txBody>
          <a:bodyPr wrap="square" lIns="0" tIns="0" rIns="0" bIns="0" rtlCol="0" anchor="ctr"/>
          <a:lstStyle/>
          <a:p>
            <a:pPr marL="0" indent="0">
              <a:buNone/>
            </a:pPr>
            <a:r>
              <a:rPr lang="en-US" sz="1050" dirty="0">
                <a:solidFill>
                  <a:srgbClr val="CAD3E0"/>
                </a:solidFill>
                <a:latin typeface="Calibri" pitchFamily="34" charset="0"/>
                <a:ea typeface="Calibri" pitchFamily="34" charset="-122"/>
                <a:cs typeface="Calibri" pitchFamily="34" charset="-120"/>
              </a:rPr>
              <a:t>ML models identify C2 beaconing patterns through DNS query analysis, timing irregularities, and encrypted traffic metadata</a:t>
            </a:r>
            <a:endParaRPr lang="en-US" sz="1050" dirty="0"/>
          </a:p>
        </p:txBody>
      </p:sp>
      <p:sp>
        <p:nvSpPr>
          <p:cNvPr id="18" name="Shape 16"/>
          <p:cNvSpPr/>
          <p:nvPr/>
        </p:nvSpPr>
        <p:spPr>
          <a:xfrm>
            <a:off x="6181344" y="1719072"/>
            <a:ext cx="2743200" cy="138988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9" name="Text 17"/>
          <p:cNvSpPr/>
          <p:nvPr/>
        </p:nvSpPr>
        <p:spPr>
          <a:xfrm>
            <a:off x="6272784" y="1792224"/>
            <a:ext cx="25603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Lateral Movement</a:t>
            </a:r>
            <a:endParaRPr lang="en-US" sz="1200" dirty="0"/>
          </a:p>
        </p:txBody>
      </p:sp>
      <p:sp>
        <p:nvSpPr>
          <p:cNvPr id="20" name="Text 18"/>
          <p:cNvSpPr/>
          <p:nvPr/>
        </p:nvSpPr>
        <p:spPr>
          <a:xfrm>
            <a:off x="6272784" y="2103120"/>
            <a:ext cx="2560320" cy="384048"/>
          </a:xfrm>
          <a:prstGeom prst="rect">
            <a:avLst/>
          </a:prstGeom>
          <a:noFill/>
          <a:ln/>
        </p:spPr>
        <p:txBody>
          <a:bodyPr wrap="square" lIns="0" tIns="0" rIns="0" bIns="0" rtlCol="0" anchor="ctr"/>
          <a:lstStyle/>
          <a:p>
            <a:pPr marL="0" indent="0">
              <a:buNone/>
            </a:pPr>
            <a:r>
              <a:rPr lang="en-US" sz="2600" b="1" dirty="0">
                <a:solidFill>
                  <a:srgbClr val="00B4D8"/>
                </a:solidFill>
                <a:latin typeface="Calibri" pitchFamily="34" charset="0"/>
                <a:ea typeface="Calibri" pitchFamily="34" charset="-122"/>
                <a:cs typeface="Calibri" pitchFamily="34" charset="-120"/>
              </a:rPr>
              <a:t>91.3%</a:t>
            </a:r>
            <a:endParaRPr lang="en-US" sz="2600" dirty="0"/>
          </a:p>
        </p:txBody>
      </p:sp>
      <p:sp>
        <p:nvSpPr>
          <p:cNvPr id="21" name="Text 19"/>
          <p:cNvSpPr/>
          <p:nvPr/>
        </p:nvSpPr>
        <p:spPr>
          <a:xfrm>
            <a:off x="6272784" y="2505456"/>
            <a:ext cx="2560320" cy="548640"/>
          </a:xfrm>
          <a:prstGeom prst="rect">
            <a:avLst/>
          </a:prstGeom>
          <a:noFill/>
          <a:ln/>
        </p:spPr>
        <p:txBody>
          <a:bodyPr wrap="square" lIns="0" tIns="0" rIns="0" bIns="0" rtlCol="0" anchor="ctr"/>
          <a:lstStyle/>
          <a:p>
            <a:pPr marL="0" indent="0">
              <a:buNone/>
            </a:pPr>
            <a:r>
              <a:rPr lang="en-US" sz="1050" dirty="0">
                <a:solidFill>
                  <a:srgbClr val="CAD3E0"/>
                </a:solidFill>
                <a:latin typeface="Calibri" pitchFamily="34" charset="0"/>
                <a:ea typeface="Calibri" pitchFamily="34" charset="-122"/>
                <a:cs typeface="Calibri" pitchFamily="34" charset="-120"/>
              </a:rPr>
              <a:t>Graph-based AI maps network connections to detect attackers moving between systems during post-exploitation phases</a:t>
            </a:r>
            <a:endParaRPr lang="en-US" sz="1050" dirty="0"/>
          </a:p>
        </p:txBody>
      </p:sp>
      <p:sp>
        <p:nvSpPr>
          <p:cNvPr id="22" name="Shape 20"/>
          <p:cNvSpPr/>
          <p:nvPr/>
        </p:nvSpPr>
        <p:spPr>
          <a:xfrm>
            <a:off x="274320" y="3291840"/>
            <a:ext cx="2743200" cy="138988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3" name="Text 21"/>
          <p:cNvSpPr/>
          <p:nvPr/>
        </p:nvSpPr>
        <p:spPr>
          <a:xfrm>
            <a:off x="365760" y="3364992"/>
            <a:ext cx="25603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DNS Security</a:t>
            </a:r>
            <a:endParaRPr lang="en-US" sz="1200" dirty="0"/>
          </a:p>
        </p:txBody>
      </p:sp>
      <p:sp>
        <p:nvSpPr>
          <p:cNvPr id="24" name="Text 22"/>
          <p:cNvSpPr/>
          <p:nvPr/>
        </p:nvSpPr>
        <p:spPr>
          <a:xfrm>
            <a:off x="365760" y="3675888"/>
            <a:ext cx="2560320" cy="384048"/>
          </a:xfrm>
          <a:prstGeom prst="rect">
            <a:avLst/>
          </a:prstGeom>
          <a:noFill/>
          <a:ln/>
        </p:spPr>
        <p:txBody>
          <a:bodyPr wrap="square" lIns="0" tIns="0" rIns="0" bIns="0" rtlCol="0" anchor="ctr"/>
          <a:lstStyle/>
          <a:p>
            <a:pPr marL="0" indent="0">
              <a:buNone/>
            </a:pPr>
            <a:r>
              <a:rPr lang="en-US" sz="2600" b="1" dirty="0">
                <a:solidFill>
                  <a:srgbClr val="00B4D8"/>
                </a:solidFill>
                <a:latin typeface="Calibri" pitchFamily="34" charset="0"/>
                <a:ea typeface="Calibri" pitchFamily="34" charset="-122"/>
                <a:cs typeface="Calibri" pitchFamily="34" charset="-120"/>
              </a:rPr>
              <a:t>99.1%</a:t>
            </a:r>
            <a:endParaRPr lang="en-US" sz="2600" dirty="0"/>
          </a:p>
        </p:txBody>
      </p:sp>
      <p:sp>
        <p:nvSpPr>
          <p:cNvPr id="25" name="Text 23"/>
          <p:cNvSpPr/>
          <p:nvPr/>
        </p:nvSpPr>
        <p:spPr>
          <a:xfrm>
            <a:off x="365760" y="4078224"/>
            <a:ext cx="2560320" cy="548640"/>
          </a:xfrm>
          <a:prstGeom prst="rect">
            <a:avLst/>
          </a:prstGeom>
          <a:noFill/>
          <a:ln/>
        </p:spPr>
        <p:txBody>
          <a:bodyPr wrap="square" lIns="0" tIns="0" rIns="0" bIns="0" rtlCol="0" anchor="ctr"/>
          <a:lstStyle/>
          <a:p>
            <a:pPr marL="0" indent="0">
              <a:buNone/>
            </a:pPr>
            <a:r>
              <a:rPr lang="en-US" sz="1050" dirty="0">
                <a:solidFill>
                  <a:srgbClr val="CAD3E0"/>
                </a:solidFill>
                <a:latin typeface="Calibri" pitchFamily="34" charset="0"/>
                <a:ea typeface="Calibri" pitchFamily="34" charset="-122"/>
                <a:cs typeface="Calibri" pitchFamily="34" charset="-120"/>
              </a:rPr>
              <a:t>AI-powered DNS analysis detects domain generation algorithms (DGAs), DNS tunneling, and fast-flux attack infrastructure</a:t>
            </a:r>
            <a:endParaRPr lang="en-US" sz="1050" dirty="0"/>
          </a:p>
        </p:txBody>
      </p:sp>
      <p:sp>
        <p:nvSpPr>
          <p:cNvPr id="26" name="Shape 24"/>
          <p:cNvSpPr/>
          <p:nvPr/>
        </p:nvSpPr>
        <p:spPr>
          <a:xfrm>
            <a:off x="3227832" y="3291840"/>
            <a:ext cx="2743200" cy="138988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7" name="Text 25"/>
          <p:cNvSpPr/>
          <p:nvPr/>
        </p:nvSpPr>
        <p:spPr>
          <a:xfrm>
            <a:off x="3319272" y="3364992"/>
            <a:ext cx="25603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Encrypted Traffic</a:t>
            </a:r>
            <a:endParaRPr lang="en-US" sz="1200" dirty="0"/>
          </a:p>
        </p:txBody>
      </p:sp>
      <p:sp>
        <p:nvSpPr>
          <p:cNvPr id="28" name="Text 26"/>
          <p:cNvSpPr/>
          <p:nvPr/>
        </p:nvSpPr>
        <p:spPr>
          <a:xfrm>
            <a:off x="3319272" y="3675888"/>
            <a:ext cx="2560320" cy="384048"/>
          </a:xfrm>
          <a:prstGeom prst="rect">
            <a:avLst/>
          </a:prstGeom>
          <a:noFill/>
          <a:ln/>
        </p:spPr>
        <p:txBody>
          <a:bodyPr wrap="square" lIns="0" tIns="0" rIns="0" bIns="0" rtlCol="0" anchor="ctr"/>
          <a:lstStyle/>
          <a:p>
            <a:pPr marL="0" indent="0">
              <a:buNone/>
            </a:pPr>
            <a:r>
              <a:rPr lang="en-US" sz="2600" b="1" dirty="0">
                <a:solidFill>
                  <a:srgbClr val="00B4D8"/>
                </a:solidFill>
                <a:latin typeface="Calibri" pitchFamily="34" charset="0"/>
                <a:ea typeface="Calibri" pitchFamily="34" charset="-122"/>
                <a:cs typeface="Calibri" pitchFamily="34" charset="-120"/>
              </a:rPr>
              <a:t>88.7%</a:t>
            </a:r>
            <a:endParaRPr lang="en-US" sz="2600" dirty="0"/>
          </a:p>
        </p:txBody>
      </p:sp>
      <p:sp>
        <p:nvSpPr>
          <p:cNvPr id="29" name="Text 27"/>
          <p:cNvSpPr/>
          <p:nvPr/>
        </p:nvSpPr>
        <p:spPr>
          <a:xfrm>
            <a:off x="3319272" y="4078224"/>
            <a:ext cx="2560320" cy="548640"/>
          </a:xfrm>
          <a:prstGeom prst="rect">
            <a:avLst/>
          </a:prstGeom>
          <a:noFill/>
          <a:ln/>
        </p:spPr>
        <p:txBody>
          <a:bodyPr wrap="square" lIns="0" tIns="0" rIns="0" bIns="0" rtlCol="0" anchor="ctr"/>
          <a:lstStyle/>
          <a:p>
            <a:pPr marL="0" indent="0">
              <a:buNone/>
            </a:pPr>
            <a:r>
              <a:rPr lang="en-US" sz="1050" dirty="0">
                <a:solidFill>
                  <a:srgbClr val="CAD3E0"/>
                </a:solidFill>
                <a:latin typeface="Calibri" pitchFamily="34" charset="0"/>
                <a:ea typeface="Calibri" pitchFamily="34" charset="-122"/>
                <a:cs typeface="Calibri" pitchFamily="34" charset="-120"/>
              </a:rPr>
              <a:t>AI classifies malicious traffic even within TLS/SSL encrypted sessions using metadata analysis and behavioral fingerprinting</a:t>
            </a:r>
            <a:endParaRPr lang="en-US" sz="1050" dirty="0"/>
          </a:p>
        </p:txBody>
      </p:sp>
      <p:sp>
        <p:nvSpPr>
          <p:cNvPr id="30" name="Shape 28"/>
          <p:cNvSpPr/>
          <p:nvPr/>
        </p:nvSpPr>
        <p:spPr>
          <a:xfrm>
            <a:off x="6181344" y="3291840"/>
            <a:ext cx="2743200" cy="138988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31" name="Text 29"/>
          <p:cNvSpPr/>
          <p:nvPr/>
        </p:nvSpPr>
        <p:spPr>
          <a:xfrm>
            <a:off x="6272784" y="3364992"/>
            <a:ext cx="25603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Zero-Day Detection</a:t>
            </a:r>
            <a:endParaRPr lang="en-US" sz="1200" dirty="0"/>
          </a:p>
        </p:txBody>
      </p:sp>
      <p:sp>
        <p:nvSpPr>
          <p:cNvPr id="32" name="Text 30"/>
          <p:cNvSpPr/>
          <p:nvPr/>
        </p:nvSpPr>
        <p:spPr>
          <a:xfrm>
            <a:off x="6272784" y="3675888"/>
            <a:ext cx="2560320" cy="384048"/>
          </a:xfrm>
          <a:prstGeom prst="rect">
            <a:avLst/>
          </a:prstGeom>
          <a:noFill/>
          <a:ln/>
        </p:spPr>
        <p:txBody>
          <a:bodyPr wrap="square" lIns="0" tIns="0" rIns="0" bIns="0" rtlCol="0" anchor="ctr"/>
          <a:lstStyle/>
          <a:p>
            <a:pPr marL="0" indent="0">
              <a:buNone/>
            </a:pPr>
            <a:r>
              <a:rPr lang="en-US" sz="2600" b="1" dirty="0">
                <a:solidFill>
                  <a:srgbClr val="00B4D8"/>
                </a:solidFill>
                <a:latin typeface="Calibri" pitchFamily="34" charset="0"/>
                <a:ea typeface="Calibri" pitchFamily="34" charset="-122"/>
                <a:cs typeface="Calibri" pitchFamily="34" charset="-120"/>
              </a:rPr>
              <a:t>87.2%</a:t>
            </a:r>
            <a:endParaRPr lang="en-US" sz="2600" dirty="0"/>
          </a:p>
        </p:txBody>
      </p:sp>
      <p:sp>
        <p:nvSpPr>
          <p:cNvPr id="33" name="Text 31"/>
          <p:cNvSpPr/>
          <p:nvPr/>
        </p:nvSpPr>
        <p:spPr>
          <a:xfrm>
            <a:off x="6272784" y="4078224"/>
            <a:ext cx="2560320" cy="548640"/>
          </a:xfrm>
          <a:prstGeom prst="rect">
            <a:avLst/>
          </a:prstGeom>
          <a:noFill/>
          <a:ln/>
        </p:spPr>
        <p:txBody>
          <a:bodyPr wrap="square" lIns="0" tIns="0" rIns="0" bIns="0" rtlCol="0" anchor="ctr"/>
          <a:lstStyle/>
          <a:p>
            <a:pPr marL="0" indent="0">
              <a:buNone/>
            </a:pPr>
            <a:r>
              <a:rPr lang="en-US" sz="1050" dirty="0">
                <a:solidFill>
                  <a:srgbClr val="CAD3E0"/>
                </a:solidFill>
                <a:latin typeface="Calibri" pitchFamily="34" charset="0"/>
                <a:ea typeface="Calibri" pitchFamily="34" charset="-122"/>
                <a:cs typeface="Calibri" pitchFamily="34" charset="-120"/>
              </a:rPr>
              <a:t>Unsupervised anomaly detection flags previously unknown attack signatures by identifying behavioral deviations from baselines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AI for Cloud Security &amp; CASB</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20</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Securing Cloud Environments with Artificial Intelligence</a:t>
            </a:r>
            <a:endParaRPr lang="en-US" sz="1600" dirty="0"/>
          </a:p>
        </p:txBody>
      </p:sp>
      <p:sp>
        <p:nvSpPr>
          <p:cNvPr id="9" name="Text 7"/>
          <p:cNvSpPr/>
          <p:nvPr/>
        </p:nvSpPr>
        <p:spPr>
          <a:xfrm>
            <a:off x="365760" y="1078992"/>
            <a:ext cx="8412480" cy="594360"/>
          </a:xfrm>
          <a:prstGeom prst="rect">
            <a:avLst/>
          </a:prstGeom>
          <a:noFill/>
          <a:ln/>
        </p:spPr>
        <p:txBody>
          <a:bodyPr wrap="square" rtlCol="0" anchor="ctr"/>
          <a:lstStyle/>
          <a:p>
            <a:pPr marL="0" indent="0">
              <a:buNone/>
            </a:pPr>
            <a:r>
              <a:rPr lang="en-US" sz="1300" dirty="0">
                <a:solidFill>
                  <a:srgbClr val="CAD3E0"/>
                </a:solidFill>
                <a:latin typeface="Calibri" pitchFamily="34" charset="0"/>
                <a:ea typeface="Calibri" pitchFamily="34" charset="-122"/>
                <a:cs typeface="Calibri" pitchFamily="34" charset="-120"/>
              </a:rPr>
              <a:t>As enterprises migrate to multi-cloud architectures, AI-powered Cloud Access Security Brokers (CASB) and Cloud Security Posture Management (CSPM) tools have become essential for maintaining visibility and control.</a:t>
            </a:r>
            <a:endParaRPr lang="en-US" sz="1300" dirty="0"/>
          </a:p>
        </p:txBody>
      </p:sp>
      <p:sp>
        <p:nvSpPr>
          <p:cNvPr id="10" name="Shape 8"/>
          <p:cNvSpPr/>
          <p:nvPr/>
        </p:nvSpPr>
        <p:spPr>
          <a:xfrm>
            <a:off x="274320" y="1783080"/>
            <a:ext cx="4206240" cy="135331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1" name="Shape 9"/>
          <p:cNvSpPr/>
          <p:nvPr/>
        </p:nvSpPr>
        <p:spPr>
          <a:xfrm>
            <a:off x="274320" y="1783080"/>
            <a:ext cx="822960" cy="1353312"/>
          </a:xfrm>
          <a:prstGeom prst="rect">
            <a:avLst/>
          </a:prstGeom>
          <a:solidFill>
            <a:srgbClr val="0077B6"/>
          </a:solidFill>
          <a:ln w="12700">
            <a:solidFill>
              <a:srgbClr val="0077B6"/>
            </a:solidFill>
            <a:prstDash val="solid"/>
          </a:ln>
        </p:spPr>
      </p:sp>
      <p:sp>
        <p:nvSpPr>
          <p:cNvPr id="12" name="Text 10"/>
          <p:cNvSpPr/>
          <p:nvPr/>
        </p:nvSpPr>
        <p:spPr>
          <a:xfrm>
            <a:off x="274320" y="1783080"/>
            <a:ext cx="822960" cy="135331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CSPM</a:t>
            </a:r>
            <a:endParaRPr lang="en-US" sz="1200" dirty="0"/>
          </a:p>
        </p:txBody>
      </p:sp>
      <p:sp>
        <p:nvSpPr>
          <p:cNvPr id="13" name="Text 11"/>
          <p:cNvSpPr/>
          <p:nvPr/>
        </p:nvSpPr>
        <p:spPr>
          <a:xfrm>
            <a:off x="1188720" y="1874520"/>
            <a:ext cx="320040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Cloud Security Posture Management</a:t>
            </a:r>
            <a:endParaRPr lang="en-US" sz="1200" dirty="0"/>
          </a:p>
        </p:txBody>
      </p:sp>
      <p:sp>
        <p:nvSpPr>
          <p:cNvPr id="14" name="Text 12"/>
          <p:cNvSpPr/>
          <p:nvPr/>
        </p:nvSpPr>
        <p:spPr>
          <a:xfrm>
            <a:off x="1188720" y="2203704"/>
            <a:ext cx="3200400" cy="89611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AI continuously scans cloud configurations against CIS benchmarks and compliance frameworks, automatically remediating misconfigurations that represent 95% of cloud security failures.</a:t>
            </a:r>
            <a:endParaRPr lang="en-US" sz="1100" dirty="0"/>
          </a:p>
        </p:txBody>
      </p:sp>
      <p:sp>
        <p:nvSpPr>
          <p:cNvPr id="15" name="Shape 13"/>
          <p:cNvSpPr/>
          <p:nvPr/>
        </p:nvSpPr>
        <p:spPr>
          <a:xfrm>
            <a:off x="4754880" y="1783080"/>
            <a:ext cx="4206240" cy="135331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6" name="Shape 14"/>
          <p:cNvSpPr/>
          <p:nvPr/>
        </p:nvSpPr>
        <p:spPr>
          <a:xfrm>
            <a:off x="4754880" y="1783080"/>
            <a:ext cx="822960" cy="1353312"/>
          </a:xfrm>
          <a:prstGeom prst="rect">
            <a:avLst/>
          </a:prstGeom>
          <a:solidFill>
            <a:srgbClr val="0077B6"/>
          </a:solidFill>
          <a:ln w="12700">
            <a:solidFill>
              <a:srgbClr val="0077B6"/>
            </a:solidFill>
            <a:prstDash val="solid"/>
          </a:ln>
        </p:spPr>
      </p:sp>
      <p:sp>
        <p:nvSpPr>
          <p:cNvPr id="17" name="Text 15"/>
          <p:cNvSpPr/>
          <p:nvPr/>
        </p:nvSpPr>
        <p:spPr>
          <a:xfrm>
            <a:off x="4754880" y="1783080"/>
            <a:ext cx="822960" cy="135331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UEBA</a:t>
            </a:r>
            <a:endParaRPr lang="en-US" sz="1200" dirty="0"/>
          </a:p>
        </p:txBody>
      </p:sp>
      <p:sp>
        <p:nvSpPr>
          <p:cNvPr id="18" name="Text 16"/>
          <p:cNvSpPr/>
          <p:nvPr/>
        </p:nvSpPr>
        <p:spPr>
          <a:xfrm>
            <a:off x="5669280" y="1874520"/>
            <a:ext cx="320040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User &amp; Entity Behavior Analytics</a:t>
            </a:r>
            <a:endParaRPr lang="en-US" sz="1200" dirty="0"/>
          </a:p>
        </p:txBody>
      </p:sp>
      <p:sp>
        <p:nvSpPr>
          <p:cNvPr id="19" name="Text 17"/>
          <p:cNvSpPr/>
          <p:nvPr/>
        </p:nvSpPr>
        <p:spPr>
          <a:xfrm>
            <a:off x="5669280" y="2203704"/>
            <a:ext cx="3200400" cy="89611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ML establishes behavioral baselines for cloud users. Anomalous access patterns—impossible travel, bulk data downloads, off-hours access—trigger adaptive authentication or session termination.</a:t>
            </a:r>
            <a:endParaRPr lang="en-US" sz="1100" dirty="0"/>
          </a:p>
        </p:txBody>
      </p:sp>
      <p:sp>
        <p:nvSpPr>
          <p:cNvPr id="20" name="Shape 18"/>
          <p:cNvSpPr/>
          <p:nvPr/>
        </p:nvSpPr>
        <p:spPr>
          <a:xfrm>
            <a:off x="274320" y="3319272"/>
            <a:ext cx="4206240" cy="135331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1" name="Shape 19"/>
          <p:cNvSpPr/>
          <p:nvPr/>
        </p:nvSpPr>
        <p:spPr>
          <a:xfrm>
            <a:off x="274320" y="3319272"/>
            <a:ext cx="822960" cy="1353312"/>
          </a:xfrm>
          <a:prstGeom prst="rect">
            <a:avLst/>
          </a:prstGeom>
          <a:solidFill>
            <a:srgbClr val="0077B6"/>
          </a:solidFill>
          <a:ln w="12700">
            <a:solidFill>
              <a:srgbClr val="0077B6"/>
            </a:solidFill>
            <a:prstDash val="solid"/>
          </a:ln>
        </p:spPr>
      </p:sp>
      <p:sp>
        <p:nvSpPr>
          <p:cNvPr id="22" name="Text 20"/>
          <p:cNvSpPr/>
          <p:nvPr/>
        </p:nvSpPr>
        <p:spPr>
          <a:xfrm>
            <a:off x="274320" y="3319272"/>
            <a:ext cx="822960" cy="135331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Data Protection</a:t>
            </a:r>
            <a:endParaRPr lang="en-US" sz="1200" dirty="0"/>
          </a:p>
        </p:txBody>
      </p:sp>
      <p:sp>
        <p:nvSpPr>
          <p:cNvPr id="23" name="Text 21"/>
          <p:cNvSpPr/>
          <p:nvPr/>
        </p:nvSpPr>
        <p:spPr>
          <a:xfrm>
            <a:off x="1188720" y="3410712"/>
            <a:ext cx="320040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AI-Driven Data Loss Prevention</a:t>
            </a:r>
            <a:endParaRPr lang="en-US" sz="1200" dirty="0"/>
          </a:p>
        </p:txBody>
      </p:sp>
      <p:sp>
        <p:nvSpPr>
          <p:cNvPr id="24" name="Text 22"/>
          <p:cNvSpPr/>
          <p:nvPr/>
        </p:nvSpPr>
        <p:spPr>
          <a:xfrm>
            <a:off x="1188720" y="3739896"/>
            <a:ext cx="3200400" cy="89611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NLP classifies sensitive data (PII, PHI, PCI) across cloud storage, automatically applying encryption, access controls, and monitoring for unauthorized exfiltration attempts.</a:t>
            </a:r>
            <a:endParaRPr lang="en-US" sz="1100" dirty="0"/>
          </a:p>
        </p:txBody>
      </p:sp>
      <p:sp>
        <p:nvSpPr>
          <p:cNvPr id="25" name="Shape 23"/>
          <p:cNvSpPr/>
          <p:nvPr/>
        </p:nvSpPr>
        <p:spPr>
          <a:xfrm>
            <a:off x="4754880" y="3319272"/>
            <a:ext cx="4206240" cy="135331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6" name="Shape 24"/>
          <p:cNvSpPr/>
          <p:nvPr/>
        </p:nvSpPr>
        <p:spPr>
          <a:xfrm>
            <a:off x="4754880" y="3319272"/>
            <a:ext cx="822960" cy="1353312"/>
          </a:xfrm>
          <a:prstGeom prst="rect">
            <a:avLst/>
          </a:prstGeom>
          <a:solidFill>
            <a:srgbClr val="0077B6"/>
          </a:solidFill>
          <a:ln w="12700">
            <a:solidFill>
              <a:srgbClr val="0077B6"/>
            </a:solidFill>
            <a:prstDash val="solid"/>
          </a:ln>
        </p:spPr>
      </p:sp>
      <p:sp>
        <p:nvSpPr>
          <p:cNvPr id="27" name="Text 25"/>
          <p:cNvSpPr/>
          <p:nvPr/>
        </p:nvSpPr>
        <p:spPr>
          <a:xfrm>
            <a:off x="4754880" y="3319272"/>
            <a:ext cx="822960" cy="135331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Container Security</a:t>
            </a:r>
            <a:endParaRPr lang="en-US" sz="1200" dirty="0"/>
          </a:p>
        </p:txBody>
      </p:sp>
      <p:sp>
        <p:nvSpPr>
          <p:cNvPr id="28" name="Text 26"/>
          <p:cNvSpPr/>
          <p:nvPr/>
        </p:nvSpPr>
        <p:spPr>
          <a:xfrm>
            <a:off x="5669280" y="3410712"/>
            <a:ext cx="320040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Kubernetes &amp; Container Protection</a:t>
            </a:r>
            <a:endParaRPr lang="en-US" sz="1200" dirty="0"/>
          </a:p>
        </p:txBody>
      </p:sp>
      <p:sp>
        <p:nvSpPr>
          <p:cNvPr id="29" name="Text 27"/>
          <p:cNvSpPr/>
          <p:nvPr/>
        </p:nvSpPr>
        <p:spPr>
          <a:xfrm>
            <a:off x="5669280" y="3739896"/>
            <a:ext cx="3200400" cy="89611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AI monitors container runtime behavior, detects privilege escalation, crypto-mining workloads, and lateral movement within containerized microservice architectures.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AI-Powered Security Operations Center (SOC)</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21</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Autonomous SOC: The Future of Cyber Defense</a:t>
            </a:r>
            <a:endParaRPr lang="en-US" sz="1600" dirty="0"/>
          </a:p>
        </p:txBody>
      </p:sp>
      <p:sp>
        <p:nvSpPr>
          <p:cNvPr id="9" name="Text 7"/>
          <p:cNvSpPr/>
          <p:nvPr/>
        </p:nvSpPr>
        <p:spPr>
          <a:xfrm>
            <a:off x="365760" y="1078992"/>
            <a:ext cx="8412480" cy="502920"/>
          </a:xfrm>
          <a:prstGeom prst="rect">
            <a:avLst/>
          </a:prstGeom>
          <a:noFill/>
          <a:ln/>
        </p:spPr>
        <p:txBody>
          <a:bodyPr wrap="square" rtlCol="0" anchor="ctr"/>
          <a:lstStyle/>
          <a:p>
            <a:pPr marL="0" indent="0">
              <a:buNone/>
            </a:pPr>
            <a:r>
              <a:rPr lang="en-US" sz="1300" dirty="0">
                <a:solidFill>
                  <a:srgbClr val="CAD3E0"/>
                </a:solidFill>
                <a:latin typeface="Calibri" pitchFamily="34" charset="0"/>
                <a:ea typeface="Calibri" pitchFamily="34" charset="-122"/>
                <a:cs typeface="Calibri" pitchFamily="34" charset="-120"/>
              </a:rPr>
              <a:t>AI transforms traditional SOC operations by automating tier-1 and tier-2 analyst tasks, dramatically reducing mean-time-to-detect (MTTD) and mean-time-to-respond (MTTR).</a:t>
            </a:r>
            <a:endParaRPr lang="en-US" sz="1300" dirty="0"/>
          </a:p>
        </p:txBody>
      </p:sp>
      <p:sp>
        <p:nvSpPr>
          <p:cNvPr id="10" name="Shape 8"/>
          <p:cNvSpPr/>
          <p:nvPr/>
        </p:nvSpPr>
        <p:spPr>
          <a:xfrm>
            <a:off x="274320" y="1691640"/>
            <a:ext cx="1920240" cy="1234440"/>
          </a:xfrm>
          <a:prstGeom prst="rect">
            <a:avLst/>
          </a:prstGeom>
          <a:solidFill>
            <a:srgbClr val="0D2B55"/>
          </a:solidFill>
          <a:ln w="12700">
            <a:solidFill>
              <a:srgbClr val="00B4D8"/>
            </a:solidFill>
            <a:prstDash val="solid"/>
          </a:ln>
          <a:effectLst>
            <a:outerShdw blurRad="101600" dist="38100" dir="8100000" algn="bl" rotWithShape="0">
              <a:srgbClr val="000000">
                <a:alpha val="20000"/>
              </a:srgbClr>
            </a:outerShdw>
          </a:effectLst>
        </p:spPr>
      </p:sp>
      <p:sp>
        <p:nvSpPr>
          <p:cNvPr id="11" name="Text 9"/>
          <p:cNvSpPr/>
          <p:nvPr/>
        </p:nvSpPr>
        <p:spPr>
          <a:xfrm>
            <a:off x="274320" y="1691640"/>
            <a:ext cx="1920240" cy="685800"/>
          </a:xfrm>
          <a:prstGeom prst="rect">
            <a:avLst/>
          </a:prstGeom>
          <a:noFill/>
          <a:ln/>
        </p:spPr>
        <p:txBody>
          <a:bodyPr wrap="square" rtlCol="0" anchor="ctr"/>
          <a:lstStyle/>
          <a:p>
            <a:pPr marL="0" indent="0" algn="ctr">
              <a:buNone/>
            </a:pPr>
            <a:r>
              <a:rPr lang="en-US" sz="3000" b="1" dirty="0">
                <a:solidFill>
                  <a:srgbClr val="00B4D8"/>
                </a:solidFill>
                <a:latin typeface="Calibri" pitchFamily="34" charset="0"/>
                <a:ea typeface="Calibri" pitchFamily="34" charset="-122"/>
                <a:cs typeface="Calibri" pitchFamily="34" charset="-120"/>
              </a:rPr>
              <a:t>74%</a:t>
            </a:r>
            <a:endParaRPr lang="en-US" sz="3000" dirty="0"/>
          </a:p>
        </p:txBody>
      </p:sp>
      <p:sp>
        <p:nvSpPr>
          <p:cNvPr id="12" name="Text 10"/>
          <p:cNvSpPr/>
          <p:nvPr/>
        </p:nvSpPr>
        <p:spPr>
          <a:xfrm>
            <a:off x="274320" y="2377440"/>
            <a:ext cx="192024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MTTD Reduction</a:t>
            </a:r>
            <a:endParaRPr lang="en-US" sz="1000" dirty="0"/>
          </a:p>
        </p:txBody>
      </p:sp>
      <p:sp>
        <p:nvSpPr>
          <p:cNvPr id="13" name="Text 11"/>
          <p:cNvSpPr/>
          <p:nvPr/>
        </p:nvSpPr>
        <p:spPr>
          <a:xfrm>
            <a:off x="274320" y="2651760"/>
            <a:ext cx="1920240" cy="256032"/>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From 197 days to 51 days avg. breach detection time</a:t>
            </a:r>
            <a:endParaRPr lang="en-US" sz="900" dirty="0"/>
          </a:p>
        </p:txBody>
      </p:sp>
      <p:sp>
        <p:nvSpPr>
          <p:cNvPr id="14" name="Shape 12"/>
          <p:cNvSpPr/>
          <p:nvPr/>
        </p:nvSpPr>
        <p:spPr>
          <a:xfrm>
            <a:off x="2450592" y="1691640"/>
            <a:ext cx="1920240" cy="1234440"/>
          </a:xfrm>
          <a:prstGeom prst="rect">
            <a:avLst/>
          </a:prstGeom>
          <a:solidFill>
            <a:srgbClr val="0D2B55"/>
          </a:solidFill>
          <a:ln w="12700">
            <a:solidFill>
              <a:srgbClr val="00B4D8"/>
            </a:solidFill>
            <a:prstDash val="solid"/>
          </a:ln>
          <a:effectLst>
            <a:outerShdw blurRad="101600" dist="38100" dir="8100000" algn="bl" rotWithShape="0">
              <a:srgbClr val="000000">
                <a:alpha val="20000"/>
              </a:srgbClr>
            </a:outerShdw>
          </a:effectLst>
        </p:spPr>
      </p:sp>
      <p:sp>
        <p:nvSpPr>
          <p:cNvPr id="15" name="Text 13"/>
          <p:cNvSpPr/>
          <p:nvPr/>
        </p:nvSpPr>
        <p:spPr>
          <a:xfrm>
            <a:off x="2450592" y="1691640"/>
            <a:ext cx="1920240" cy="685800"/>
          </a:xfrm>
          <a:prstGeom prst="rect">
            <a:avLst/>
          </a:prstGeom>
          <a:noFill/>
          <a:ln/>
        </p:spPr>
        <p:txBody>
          <a:bodyPr wrap="square" rtlCol="0" anchor="ctr"/>
          <a:lstStyle/>
          <a:p>
            <a:pPr marL="0" indent="0" algn="ctr">
              <a:buNone/>
            </a:pPr>
            <a:r>
              <a:rPr lang="en-US" sz="3000" b="1" dirty="0">
                <a:solidFill>
                  <a:srgbClr val="00B4D8"/>
                </a:solidFill>
                <a:latin typeface="Calibri" pitchFamily="34" charset="0"/>
                <a:ea typeface="Calibri" pitchFamily="34" charset="-122"/>
                <a:cs typeface="Calibri" pitchFamily="34" charset="-120"/>
              </a:rPr>
              <a:t>90%</a:t>
            </a:r>
            <a:endParaRPr lang="en-US" sz="3000" dirty="0"/>
          </a:p>
        </p:txBody>
      </p:sp>
      <p:sp>
        <p:nvSpPr>
          <p:cNvPr id="16" name="Text 14"/>
          <p:cNvSpPr/>
          <p:nvPr/>
        </p:nvSpPr>
        <p:spPr>
          <a:xfrm>
            <a:off x="2450592" y="2377440"/>
            <a:ext cx="192024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Alert Triage</a:t>
            </a:r>
            <a:endParaRPr lang="en-US" sz="1000" dirty="0"/>
          </a:p>
        </p:txBody>
      </p:sp>
      <p:sp>
        <p:nvSpPr>
          <p:cNvPr id="17" name="Text 15"/>
          <p:cNvSpPr/>
          <p:nvPr/>
        </p:nvSpPr>
        <p:spPr>
          <a:xfrm>
            <a:off x="2450592" y="2651760"/>
            <a:ext cx="1920240" cy="256032"/>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Automated false positive reduction eliminating analyst fatigue</a:t>
            </a:r>
            <a:endParaRPr lang="en-US" sz="900" dirty="0"/>
          </a:p>
        </p:txBody>
      </p:sp>
      <p:sp>
        <p:nvSpPr>
          <p:cNvPr id="18" name="Shape 16"/>
          <p:cNvSpPr/>
          <p:nvPr/>
        </p:nvSpPr>
        <p:spPr>
          <a:xfrm>
            <a:off x="4626864" y="1691640"/>
            <a:ext cx="1920240" cy="1234440"/>
          </a:xfrm>
          <a:prstGeom prst="rect">
            <a:avLst/>
          </a:prstGeom>
          <a:solidFill>
            <a:srgbClr val="0D2B55"/>
          </a:solidFill>
          <a:ln w="12700">
            <a:solidFill>
              <a:srgbClr val="00B4D8"/>
            </a:solidFill>
            <a:prstDash val="solid"/>
          </a:ln>
          <a:effectLst>
            <a:outerShdw blurRad="101600" dist="38100" dir="8100000" algn="bl" rotWithShape="0">
              <a:srgbClr val="000000">
                <a:alpha val="20000"/>
              </a:srgbClr>
            </a:outerShdw>
          </a:effectLst>
        </p:spPr>
      </p:sp>
      <p:sp>
        <p:nvSpPr>
          <p:cNvPr id="19" name="Text 17"/>
          <p:cNvSpPr/>
          <p:nvPr/>
        </p:nvSpPr>
        <p:spPr>
          <a:xfrm>
            <a:off x="4626864" y="1691640"/>
            <a:ext cx="1920240" cy="685800"/>
          </a:xfrm>
          <a:prstGeom prst="rect">
            <a:avLst/>
          </a:prstGeom>
          <a:noFill/>
          <a:ln/>
        </p:spPr>
        <p:txBody>
          <a:bodyPr wrap="square" rtlCol="0" anchor="ctr"/>
          <a:lstStyle/>
          <a:p>
            <a:pPr marL="0" indent="0" algn="ctr">
              <a:buNone/>
            </a:pPr>
            <a:r>
              <a:rPr lang="en-US" sz="3000" b="1" dirty="0">
                <a:solidFill>
                  <a:srgbClr val="00B4D8"/>
                </a:solidFill>
                <a:latin typeface="Calibri" pitchFamily="34" charset="0"/>
                <a:ea typeface="Calibri" pitchFamily="34" charset="-122"/>
                <a:cs typeface="Calibri" pitchFamily="34" charset="-120"/>
              </a:rPr>
              <a:t>60%</a:t>
            </a:r>
            <a:endParaRPr lang="en-US" sz="3000" dirty="0"/>
          </a:p>
        </p:txBody>
      </p:sp>
      <p:sp>
        <p:nvSpPr>
          <p:cNvPr id="20" name="Text 18"/>
          <p:cNvSpPr/>
          <p:nvPr/>
        </p:nvSpPr>
        <p:spPr>
          <a:xfrm>
            <a:off x="4626864" y="2377440"/>
            <a:ext cx="192024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MTTR Improvement</a:t>
            </a:r>
            <a:endParaRPr lang="en-US" sz="1000" dirty="0"/>
          </a:p>
        </p:txBody>
      </p:sp>
      <p:sp>
        <p:nvSpPr>
          <p:cNvPr id="21" name="Text 19"/>
          <p:cNvSpPr/>
          <p:nvPr/>
        </p:nvSpPr>
        <p:spPr>
          <a:xfrm>
            <a:off x="4626864" y="2651760"/>
            <a:ext cx="1920240" cy="256032"/>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AI-driven playbooks cut incident response from hours to minutes</a:t>
            </a:r>
            <a:endParaRPr lang="en-US" sz="900" dirty="0"/>
          </a:p>
        </p:txBody>
      </p:sp>
      <p:sp>
        <p:nvSpPr>
          <p:cNvPr id="22" name="Shape 20"/>
          <p:cNvSpPr/>
          <p:nvPr/>
        </p:nvSpPr>
        <p:spPr>
          <a:xfrm>
            <a:off x="6803136" y="1691640"/>
            <a:ext cx="1920240" cy="1234440"/>
          </a:xfrm>
          <a:prstGeom prst="rect">
            <a:avLst/>
          </a:prstGeom>
          <a:solidFill>
            <a:srgbClr val="0D2B55"/>
          </a:solidFill>
          <a:ln w="12700">
            <a:solidFill>
              <a:srgbClr val="00B4D8"/>
            </a:solidFill>
            <a:prstDash val="solid"/>
          </a:ln>
          <a:effectLst>
            <a:outerShdw blurRad="101600" dist="38100" dir="8100000" algn="bl" rotWithShape="0">
              <a:srgbClr val="000000">
                <a:alpha val="20000"/>
              </a:srgbClr>
            </a:outerShdw>
          </a:effectLst>
        </p:spPr>
      </p:sp>
      <p:sp>
        <p:nvSpPr>
          <p:cNvPr id="23" name="Text 21"/>
          <p:cNvSpPr/>
          <p:nvPr/>
        </p:nvSpPr>
        <p:spPr>
          <a:xfrm>
            <a:off x="6803136" y="1691640"/>
            <a:ext cx="1920240" cy="685800"/>
          </a:xfrm>
          <a:prstGeom prst="rect">
            <a:avLst/>
          </a:prstGeom>
          <a:noFill/>
          <a:ln/>
        </p:spPr>
        <p:txBody>
          <a:bodyPr wrap="square" rtlCol="0" anchor="ctr"/>
          <a:lstStyle/>
          <a:p>
            <a:pPr marL="0" indent="0" algn="ctr">
              <a:buNone/>
            </a:pPr>
            <a:r>
              <a:rPr lang="en-US" sz="3000" b="1" dirty="0">
                <a:solidFill>
                  <a:srgbClr val="00B4D8"/>
                </a:solidFill>
                <a:latin typeface="Calibri" pitchFamily="34" charset="0"/>
                <a:ea typeface="Calibri" pitchFamily="34" charset="-122"/>
                <a:cs typeface="Calibri" pitchFamily="34" charset="-120"/>
              </a:rPr>
              <a:t>$3.1M</a:t>
            </a:r>
            <a:endParaRPr lang="en-US" sz="3000" dirty="0"/>
          </a:p>
        </p:txBody>
      </p:sp>
      <p:sp>
        <p:nvSpPr>
          <p:cNvPr id="24" name="Text 22"/>
          <p:cNvSpPr/>
          <p:nvPr/>
        </p:nvSpPr>
        <p:spPr>
          <a:xfrm>
            <a:off x="6803136" y="2377440"/>
            <a:ext cx="192024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Cost Savings</a:t>
            </a:r>
            <a:endParaRPr lang="en-US" sz="1000" dirty="0"/>
          </a:p>
        </p:txBody>
      </p:sp>
      <p:sp>
        <p:nvSpPr>
          <p:cNvPr id="25" name="Text 23"/>
          <p:cNvSpPr/>
          <p:nvPr/>
        </p:nvSpPr>
        <p:spPr>
          <a:xfrm>
            <a:off x="6803136" y="2651760"/>
            <a:ext cx="1920240" cy="256032"/>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Average savings per year for enterprises deploying AI SOC tools</a:t>
            </a:r>
            <a:endParaRPr lang="en-US" sz="900" dirty="0"/>
          </a:p>
        </p:txBody>
      </p:sp>
      <p:sp>
        <p:nvSpPr>
          <p:cNvPr id="26" name="Shape 24"/>
          <p:cNvSpPr/>
          <p:nvPr/>
        </p:nvSpPr>
        <p:spPr>
          <a:xfrm>
            <a:off x="274320" y="3063240"/>
            <a:ext cx="8595360" cy="530352"/>
          </a:xfrm>
          <a:prstGeom prst="rect">
            <a:avLst/>
          </a:prstGeom>
          <a:solidFill>
            <a:srgbClr val="0D2B55"/>
          </a:solidFill>
          <a:ln w="6350">
            <a:solidFill>
              <a:srgbClr val="0077B6"/>
            </a:solidFill>
            <a:prstDash val="solid"/>
          </a:ln>
        </p:spPr>
      </p:sp>
      <p:sp>
        <p:nvSpPr>
          <p:cNvPr id="27" name="Shape 25"/>
          <p:cNvSpPr/>
          <p:nvPr/>
        </p:nvSpPr>
        <p:spPr>
          <a:xfrm>
            <a:off x="274320" y="3063240"/>
            <a:ext cx="54864" cy="530352"/>
          </a:xfrm>
          <a:prstGeom prst="rect">
            <a:avLst/>
          </a:prstGeom>
          <a:solidFill>
            <a:srgbClr val="06D6A0"/>
          </a:solidFill>
          <a:ln w="12700">
            <a:solidFill>
              <a:srgbClr val="06D6A0"/>
            </a:solidFill>
            <a:prstDash val="solid"/>
          </a:ln>
        </p:spPr>
      </p:sp>
      <p:sp>
        <p:nvSpPr>
          <p:cNvPr id="28" name="Text 26"/>
          <p:cNvSpPr/>
          <p:nvPr/>
        </p:nvSpPr>
        <p:spPr>
          <a:xfrm>
            <a:off x="411480" y="3172968"/>
            <a:ext cx="1645920" cy="256032"/>
          </a:xfrm>
          <a:prstGeom prst="rect">
            <a:avLst/>
          </a:prstGeom>
          <a:noFill/>
          <a:ln/>
        </p:spPr>
        <p:txBody>
          <a:bodyPr wrap="square" lIns="0" tIns="0" rIns="0" bIns="0" rtlCol="0" anchor="ctr"/>
          <a:lstStyle/>
          <a:p>
            <a:pPr marL="0" indent="0">
              <a:buNone/>
            </a:pPr>
            <a:r>
              <a:rPr lang="en-US" sz="1150" b="1" dirty="0">
                <a:solidFill>
                  <a:srgbClr val="06D6A0"/>
                </a:solidFill>
                <a:latin typeface="Calibri" pitchFamily="34" charset="0"/>
                <a:ea typeface="Calibri" pitchFamily="34" charset="-122"/>
                <a:cs typeface="Calibri" pitchFamily="34" charset="-120"/>
              </a:rPr>
              <a:t>SIEM Enhancement: </a:t>
            </a:r>
            <a:endParaRPr lang="en-US" sz="1150" dirty="0"/>
          </a:p>
        </p:txBody>
      </p:sp>
      <p:sp>
        <p:nvSpPr>
          <p:cNvPr id="29" name="Text 27"/>
          <p:cNvSpPr/>
          <p:nvPr/>
        </p:nvSpPr>
        <p:spPr>
          <a:xfrm>
            <a:off x="1920240" y="3172968"/>
            <a:ext cx="6858000" cy="347472"/>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AI correlates events from thousands of data sources in real-time, reducing noise from 10,000+ daily alerts to ~50 high-priority incidents requiring human review.</a:t>
            </a:r>
            <a:endParaRPr lang="en-US" sz="1150" dirty="0"/>
          </a:p>
        </p:txBody>
      </p:sp>
      <p:sp>
        <p:nvSpPr>
          <p:cNvPr id="30" name="Shape 28"/>
          <p:cNvSpPr/>
          <p:nvPr/>
        </p:nvSpPr>
        <p:spPr>
          <a:xfrm>
            <a:off x="274320" y="3685032"/>
            <a:ext cx="8595360" cy="530352"/>
          </a:xfrm>
          <a:prstGeom prst="rect">
            <a:avLst/>
          </a:prstGeom>
          <a:solidFill>
            <a:srgbClr val="0D2B55"/>
          </a:solidFill>
          <a:ln w="6350">
            <a:solidFill>
              <a:srgbClr val="0077B6"/>
            </a:solidFill>
            <a:prstDash val="solid"/>
          </a:ln>
        </p:spPr>
      </p:sp>
      <p:sp>
        <p:nvSpPr>
          <p:cNvPr id="31" name="Shape 29"/>
          <p:cNvSpPr/>
          <p:nvPr/>
        </p:nvSpPr>
        <p:spPr>
          <a:xfrm>
            <a:off x="274320" y="3685032"/>
            <a:ext cx="54864" cy="530352"/>
          </a:xfrm>
          <a:prstGeom prst="rect">
            <a:avLst/>
          </a:prstGeom>
          <a:solidFill>
            <a:srgbClr val="06D6A0"/>
          </a:solidFill>
          <a:ln w="12700">
            <a:solidFill>
              <a:srgbClr val="06D6A0"/>
            </a:solidFill>
            <a:prstDash val="solid"/>
          </a:ln>
        </p:spPr>
      </p:sp>
      <p:sp>
        <p:nvSpPr>
          <p:cNvPr id="32" name="Text 30"/>
          <p:cNvSpPr/>
          <p:nvPr/>
        </p:nvSpPr>
        <p:spPr>
          <a:xfrm>
            <a:off x="411480" y="3794760"/>
            <a:ext cx="1645920" cy="256032"/>
          </a:xfrm>
          <a:prstGeom prst="rect">
            <a:avLst/>
          </a:prstGeom>
          <a:noFill/>
          <a:ln/>
        </p:spPr>
        <p:txBody>
          <a:bodyPr wrap="square" lIns="0" tIns="0" rIns="0" bIns="0" rtlCol="0" anchor="ctr"/>
          <a:lstStyle/>
          <a:p>
            <a:pPr marL="0" indent="0">
              <a:buNone/>
            </a:pPr>
            <a:r>
              <a:rPr lang="en-US" sz="1150" b="1" dirty="0">
                <a:solidFill>
                  <a:srgbClr val="06D6A0"/>
                </a:solidFill>
                <a:latin typeface="Calibri" pitchFamily="34" charset="0"/>
                <a:ea typeface="Calibri" pitchFamily="34" charset="-122"/>
                <a:cs typeface="Calibri" pitchFamily="34" charset="-120"/>
              </a:rPr>
              <a:t>SOAR Integration: </a:t>
            </a:r>
            <a:endParaRPr lang="en-US" sz="1150" dirty="0"/>
          </a:p>
        </p:txBody>
      </p:sp>
      <p:sp>
        <p:nvSpPr>
          <p:cNvPr id="33" name="Text 31"/>
          <p:cNvSpPr/>
          <p:nvPr/>
        </p:nvSpPr>
        <p:spPr>
          <a:xfrm>
            <a:off x="1920240" y="3794760"/>
            <a:ext cx="6858000" cy="347472"/>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Security Orchestration, Automation and Response platforms use AI-driven playbooks to automatically execute containment, investigation, and recovery workflows.</a:t>
            </a:r>
            <a:endParaRPr lang="en-US" sz="1150" dirty="0"/>
          </a:p>
        </p:txBody>
      </p:sp>
      <p:sp>
        <p:nvSpPr>
          <p:cNvPr id="34" name="Shape 32"/>
          <p:cNvSpPr/>
          <p:nvPr/>
        </p:nvSpPr>
        <p:spPr>
          <a:xfrm>
            <a:off x="274320" y="4306824"/>
            <a:ext cx="8595360" cy="530352"/>
          </a:xfrm>
          <a:prstGeom prst="rect">
            <a:avLst/>
          </a:prstGeom>
          <a:solidFill>
            <a:srgbClr val="0D2B55"/>
          </a:solidFill>
          <a:ln w="6350">
            <a:solidFill>
              <a:srgbClr val="0077B6"/>
            </a:solidFill>
            <a:prstDash val="solid"/>
          </a:ln>
        </p:spPr>
      </p:sp>
      <p:sp>
        <p:nvSpPr>
          <p:cNvPr id="35" name="Shape 33"/>
          <p:cNvSpPr/>
          <p:nvPr/>
        </p:nvSpPr>
        <p:spPr>
          <a:xfrm>
            <a:off x="274320" y="4306824"/>
            <a:ext cx="54864" cy="530352"/>
          </a:xfrm>
          <a:prstGeom prst="rect">
            <a:avLst/>
          </a:prstGeom>
          <a:solidFill>
            <a:srgbClr val="06D6A0"/>
          </a:solidFill>
          <a:ln w="12700">
            <a:solidFill>
              <a:srgbClr val="06D6A0"/>
            </a:solidFill>
            <a:prstDash val="solid"/>
          </a:ln>
        </p:spPr>
      </p:sp>
      <p:sp>
        <p:nvSpPr>
          <p:cNvPr id="36" name="Text 34"/>
          <p:cNvSpPr/>
          <p:nvPr/>
        </p:nvSpPr>
        <p:spPr>
          <a:xfrm>
            <a:off x="411480" y="4416552"/>
            <a:ext cx="1645920" cy="256032"/>
          </a:xfrm>
          <a:prstGeom prst="rect">
            <a:avLst/>
          </a:prstGeom>
          <a:noFill/>
          <a:ln/>
        </p:spPr>
        <p:txBody>
          <a:bodyPr wrap="square" lIns="0" tIns="0" rIns="0" bIns="0" rtlCol="0" anchor="ctr"/>
          <a:lstStyle/>
          <a:p>
            <a:pPr marL="0" indent="0">
              <a:buNone/>
            </a:pPr>
            <a:r>
              <a:rPr lang="en-US" sz="1150" b="1" dirty="0">
                <a:solidFill>
                  <a:srgbClr val="06D6A0"/>
                </a:solidFill>
                <a:latin typeface="Calibri" pitchFamily="34" charset="0"/>
                <a:ea typeface="Calibri" pitchFamily="34" charset="-122"/>
                <a:cs typeface="Calibri" pitchFamily="34" charset="-120"/>
              </a:rPr>
              <a:t>Threat Hunting: </a:t>
            </a:r>
            <a:endParaRPr lang="en-US" sz="1150" dirty="0"/>
          </a:p>
        </p:txBody>
      </p:sp>
      <p:sp>
        <p:nvSpPr>
          <p:cNvPr id="37" name="Text 35"/>
          <p:cNvSpPr/>
          <p:nvPr/>
        </p:nvSpPr>
        <p:spPr>
          <a:xfrm>
            <a:off x="1920240" y="4416552"/>
            <a:ext cx="6858000" cy="347472"/>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AI proactively searches for hidden threats using hypothesis-driven investigations, analyzing telemetry data to uncover stealthy attackers that evaded initial detection.</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AI in Identity &amp; Access Management (IAM)</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22</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Zero-Trust Identity Verification Powered by AI</a:t>
            </a:r>
            <a:endParaRPr lang="en-US" sz="1600" dirty="0"/>
          </a:p>
        </p:txBody>
      </p:sp>
      <p:sp>
        <p:nvSpPr>
          <p:cNvPr id="9" name="Text 7"/>
          <p:cNvSpPr/>
          <p:nvPr/>
        </p:nvSpPr>
        <p:spPr>
          <a:xfrm>
            <a:off x="365760" y="1078992"/>
            <a:ext cx="8412480" cy="594360"/>
          </a:xfrm>
          <a:prstGeom prst="rect">
            <a:avLst/>
          </a:prstGeom>
          <a:noFill/>
          <a:ln/>
        </p:spPr>
        <p:txBody>
          <a:bodyPr wrap="square" rtlCol="0" anchor="ctr"/>
          <a:lstStyle/>
          <a:p>
            <a:pPr marL="0" indent="0">
              <a:buNone/>
            </a:pPr>
            <a:r>
              <a:rPr lang="en-US" sz="1300" dirty="0">
                <a:solidFill>
                  <a:srgbClr val="CAD3E0"/>
                </a:solidFill>
                <a:latin typeface="Calibri" pitchFamily="34" charset="0"/>
                <a:ea typeface="Calibri" pitchFamily="34" charset="-122"/>
                <a:cs typeface="Calibri" pitchFamily="34" charset="-120"/>
              </a:rPr>
              <a:t>Identity-based attacks (credential theft, account takeover) account for 61% of all data breaches. AI transforms IAM from static rule-based access control to dynamic, risk-adaptive authentication.</a:t>
            </a:r>
            <a:endParaRPr lang="en-US" sz="1300" dirty="0"/>
          </a:p>
        </p:txBody>
      </p:sp>
      <p:sp>
        <p:nvSpPr>
          <p:cNvPr id="10" name="Shape 8"/>
          <p:cNvSpPr/>
          <p:nvPr/>
        </p:nvSpPr>
        <p:spPr>
          <a:xfrm>
            <a:off x="274320" y="1783080"/>
            <a:ext cx="4206240" cy="135331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1" name="Shape 9"/>
          <p:cNvSpPr/>
          <p:nvPr/>
        </p:nvSpPr>
        <p:spPr>
          <a:xfrm>
            <a:off x="274320" y="1783080"/>
            <a:ext cx="4206240" cy="54864"/>
          </a:xfrm>
          <a:prstGeom prst="rect">
            <a:avLst/>
          </a:prstGeom>
          <a:solidFill>
            <a:srgbClr val="0077B6"/>
          </a:solidFill>
          <a:ln w="12700">
            <a:solidFill>
              <a:srgbClr val="0077B6"/>
            </a:solidFill>
            <a:prstDash val="solid"/>
          </a:ln>
        </p:spPr>
      </p:sp>
      <p:sp>
        <p:nvSpPr>
          <p:cNvPr id="12" name="Text 10"/>
          <p:cNvSpPr/>
          <p:nvPr/>
        </p:nvSpPr>
        <p:spPr>
          <a:xfrm>
            <a:off x="384048" y="1892808"/>
            <a:ext cx="25603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Adaptive MFA</a:t>
            </a:r>
            <a:endParaRPr lang="en-US" sz="1300" dirty="0"/>
          </a:p>
        </p:txBody>
      </p:sp>
      <p:sp>
        <p:nvSpPr>
          <p:cNvPr id="13" name="Text 11"/>
          <p:cNvSpPr/>
          <p:nvPr/>
        </p:nvSpPr>
        <p:spPr>
          <a:xfrm>
            <a:off x="3017520" y="1892808"/>
            <a:ext cx="1353312" cy="274320"/>
          </a:xfrm>
          <a:prstGeom prst="rect">
            <a:avLst/>
          </a:prstGeom>
          <a:noFill/>
          <a:ln/>
        </p:spPr>
        <p:txBody>
          <a:bodyPr wrap="square" lIns="0" tIns="0" rIns="0" bIns="0" rtlCol="0" anchor="ctr"/>
          <a:lstStyle/>
          <a:p>
            <a:pPr marL="0" indent="0" algn="r">
              <a:buNone/>
            </a:pPr>
            <a:r>
              <a:rPr lang="en-US" sz="1050" b="1" dirty="0">
                <a:solidFill>
                  <a:srgbClr val="00B4D8"/>
                </a:solidFill>
                <a:latin typeface="Calibri" pitchFamily="34" charset="0"/>
                <a:ea typeface="Calibri" pitchFamily="34" charset="-122"/>
                <a:cs typeface="Calibri" pitchFamily="34" charset="-120"/>
              </a:rPr>
              <a:t>45% fewer friction events</a:t>
            </a:r>
            <a:endParaRPr lang="en-US" sz="1050" dirty="0"/>
          </a:p>
        </p:txBody>
      </p:sp>
      <p:sp>
        <p:nvSpPr>
          <p:cNvPr id="14" name="Text 12"/>
          <p:cNvSpPr/>
          <p:nvPr/>
        </p:nvSpPr>
        <p:spPr>
          <a:xfrm>
            <a:off x="384048" y="2240280"/>
            <a:ext cx="3977640" cy="841248"/>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AI assesses login risk in real-time (location, device, behavior) and dynamically adjusts authentication requirements — stepping up to biometrics or step-down to passwordless for trusted contexts.</a:t>
            </a:r>
            <a:endParaRPr lang="en-US" sz="1100" dirty="0"/>
          </a:p>
        </p:txBody>
      </p:sp>
      <p:sp>
        <p:nvSpPr>
          <p:cNvPr id="15" name="Shape 13"/>
          <p:cNvSpPr/>
          <p:nvPr/>
        </p:nvSpPr>
        <p:spPr>
          <a:xfrm>
            <a:off x="4754880" y="1783080"/>
            <a:ext cx="4206240" cy="135331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6" name="Shape 14"/>
          <p:cNvSpPr/>
          <p:nvPr/>
        </p:nvSpPr>
        <p:spPr>
          <a:xfrm>
            <a:off x="4754880" y="1783080"/>
            <a:ext cx="4206240" cy="54864"/>
          </a:xfrm>
          <a:prstGeom prst="rect">
            <a:avLst/>
          </a:prstGeom>
          <a:solidFill>
            <a:srgbClr val="0077B6"/>
          </a:solidFill>
          <a:ln w="12700">
            <a:solidFill>
              <a:srgbClr val="0077B6"/>
            </a:solidFill>
            <a:prstDash val="solid"/>
          </a:ln>
        </p:spPr>
      </p:sp>
      <p:sp>
        <p:nvSpPr>
          <p:cNvPr id="17" name="Text 15"/>
          <p:cNvSpPr/>
          <p:nvPr/>
        </p:nvSpPr>
        <p:spPr>
          <a:xfrm>
            <a:off x="4864608" y="1892808"/>
            <a:ext cx="25603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Continuous Authentication</a:t>
            </a:r>
            <a:endParaRPr lang="en-US" sz="1300" dirty="0"/>
          </a:p>
        </p:txBody>
      </p:sp>
      <p:sp>
        <p:nvSpPr>
          <p:cNvPr id="18" name="Text 16"/>
          <p:cNvSpPr/>
          <p:nvPr/>
        </p:nvSpPr>
        <p:spPr>
          <a:xfrm>
            <a:off x="7498080" y="1892808"/>
            <a:ext cx="1353312" cy="274320"/>
          </a:xfrm>
          <a:prstGeom prst="rect">
            <a:avLst/>
          </a:prstGeom>
          <a:noFill/>
          <a:ln/>
        </p:spPr>
        <p:txBody>
          <a:bodyPr wrap="square" lIns="0" tIns="0" rIns="0" bIns="0" rtlCol="0" anchor="ctr"/>
          <a:lstStyle/>
          <a:p>
            <a:pPr marL="0" indent="0" algn="r">
              <a:buNone/>
            </a:pPr>
            <a:r>
              <a:rPr lang="en-US" sz="1050" b="1" dirty="0">
                <a:solidFill>
                  <a:srgbClr val="00B4D8"/>
                </a:solidFill>
                <a:latin typeface="Calibri" pitchFamily="34" charset="0"/>
                <a:ea typeface="Calibri" pitchFamily="34" charset="-122"/>
                <a:cs typeface="Calibri" pitchFamily="34" charset="-120"/>
              </a:rPr>
              <a:t>99.3% hijack detection</a:t>
            </a:r>
            <a:endParaRPr lang="en-US" sz="1050" dirty="0"/>
          </a:p>
        </p:txBody>
      </p:sp>
      <p:sp>
        <p:nvSpPr>
          <p:cNvPr id="19" name="Text 17"/>
          <p:cNvSpPr/>
          <p:nvPr/>
        </p:nvSpPr>
        <p:spPr>
          <a:xfrm>
            <a:off x="4864608" y="2240280"/>
            <a:ext cx="3977640" cy="841248"/>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ML continuously verifies user identity throughout sessions by analyzing typing cadence, mouse dynamics, and application usage patterns, immediately detecting session hijacking.</a:t>
            </a:r>
            <a:endParaRPr lang="en-US" sz="1100" dirty="0"/>
          </a:p>
        </p:txBody>
      </p:sp>
      <p:sp>
        <p:nvSpPr>
          <p:cNvPr id="20" name="Shape 18"/>
          <p:cNvSpPr/>
          <p:nvPr/>
        </p:nvSpPr>
        <p:spPr>
          <a:xfrm>
            <a:off x="274320" y="3319272"/>
            <a:ext cx="4206240" cy="135331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1" name="Shape 19"/>
          <p:cNvSpPr/>
          <p:nvPr/>
        </p:nvSpPr>
        <p:spPr>
          <a:xfrm>
            <a:off x="274320" y="3319272"/>
            <a:ext cx="4206240" cy="54864"/>
          </a:xfrm>
          <a:prstGeom prst="rect">
            <a:avLst/>
          </a:prstGeom>
          <a:solidFill>
            <a:srgbClr val="0077B6"/>
          </a:solidFill>
          <a:ln w="12700">
            <a:solidFill>
              <a:srgbClr val="0077B6"/>
            </a:solidFill>
            <a:prstDash val="solid"/>
          </a:ln>
        </p:spPr>
      </p:sp>
      <p:sp>
        <p:nvSpPr>
          <p:cNvPr id="22" name="Text 20"/>
          <p:cNvSpPr/>
          <p:nvPr/>
        </p:nvSpPr>
        <p:spPr>
          <a:xfrm>
            <a:off x="384048" y="3429000"/>
            <a:ext cx="25603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Privilege Access Analytics</a:t>
            </a:r>
            <a:endParaRPr lang="en-US" sz="1300" dirty="0"/>
          </a:p>
        </p:txBody>
      </p:sp>
      <p:sp>
        <p:nvSpPr>
          <p:cNvPr id="23" name="Text 21"/>
          <p:cNvSpPr/>
          <p:nvPr/>
        </p:nvSpPr>
        <p:spPr>
          <a:xfrm>
            <a:off x="3017520" y="3429000"/>
            <a:ext cx="1353312" cy="274320"/>
          </a:xfrm>
          <a:prstGeom prst="rect">
            <a:avLst/>
          </a:prstGeom>
          <a:noFill/>
          <a:ln/>
        </p:spPr>
        <p:txBody>
          <a:bodyPr wrap="square" lIns="0" tIns="0" rIns="0" bIns="0" rtlCol="0" anchor="ctr"/>
          <a:lstStyle/>
          <a:p>
            <a:pPr marL="0" indent="0" algn="r">
              <a:buNone/>
            </a:pPr>
            <a:r>
              <a:rPr lang="en-US" sz="1050" b="1" dirty="0">
                <a:solidFill>
                  <a:srgbClr val="00B4D8"/>
                </a:solidFill>
                <a:latin typeface="Calibri" pitchFamily="34" charset="0"/>
                <a:ea typeface="Calibri" pitchFamily="34" charset="-122"/>
                <a:cs typeface="Calibri" pitchFamily="34" charset="-120"/>
              </a:rPr>
              <a:t>82% insider threat catch rate</a:t>
            </a:r>
            <a:endParaRPr lang="en-US" sz="1050" dirty="0"/>
          </a:p>
        </p:txBody>
      </p:sp>
      <p:sp>
        <p:nvSpPr>
          <p:cNvPr id="24" name="Text 22"/>
          <p:cNvSpPr/>
          <p:nvPr/>
        </p:nvSpPr>
        <p:spPr>
          <a:xfrm>
            <a:off x="384048" y="3776472"/>
            <a:ext cx="3977640" cy="841248"/>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AI monitors privileged account activities, detecting access pattern anomalies that indicate compromised admin credentials or insider threats attempting unauthorized privilege escalation.</a:t>
            </a:r>
            <a:endParaRPr lang="en-US" sz="1100" dirty="0"/>
          </a:p>
        </p:txBody>
      </p:sp>
      <p:sp>
        <p:nvSpPr>
          <p:cNvPr id="25" name="Shape 23"/>
          <p:cNvSpPr/>
          <p:nvPr/>
        </p:nvSpPr>
        <p:spPr>
          <a:xfrm>
            <a:off x="4754880" y="3319272"/>
            <a:ext cx="4206240" cy="135331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6" name="Shape 24"/>
          <p:cNvSpPr/>
          <p:nvPr/>
        </p:nvSpPr>
        <p:spPr>
          <a:xfrm>
            <a:off x="4754880" y="3319272"/>
            <a:ext cx="4206240" cy="54864"/>
          </a:xfrm>
          <a:prstGeom prst="rect">
            <a:avLst/>
          </a:prstGeom>
          <a:solidFill>
            <a:srgbClr val="0077B6"/>
          </a:solidFill>
          <a:ln w="12700">
            <a:solidFill>
              <a:srgbClr val="0077B6"/>
            </a:solidFill>
            <a:prstDash val="solid"/>
          </a:ln>
        </p:spPr>
      </p:sp>
      <p:sp>
        <p:nvSpPr>
          <p:cNvPr id="27" name="Text 25"/>
          <p:cNvSpPr/>
          <p:nvPr/>
        </p:nvSpPr>
        <p:spPr>
          <a:xfrm>
            <a:off x="4864608" y="3429000"/>
            <a:ext cx="25603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Password Intelligence</a:t>
            </a:r>
            <a:endParaRPr lang="en-US" sz="1300" dirty="0"/>
          </a:p>
        </p:txBody>
      </p:sp>
      <p:sp>
        <p:nvSpPr>
          <p:cNvPr id="28" name="Text 26"/>
          <p:cNvSpPr/>
          <p:nvPr/>
        </p:nvSpPr>
        <p:spPr>
          <a:xfrm>
            <a:off x="7498080" y="3429000"/>
            <a:ext cx="1353312" cy="274320"/>
          </a:xfrm>
          <a:prstGeom prst="rect">
            <a:avLst/>
          </a:prstGeom>
          <a:noFill/>
          <a:ln/>
        </p:spPr>
        <p:txBody>
          <a:bodyPr wrap="square" lIns="0" tIns="0" rIns="0" bIns="0" rtlCol="0" anchor="ctr"/>
          <a:lstStyle/>
          <a:p>
            <a:pPr marL="0" indent="0" algn="r">
              <a:buNone/>
            </a:pPr>
            <a:r>
              <a:rPr lang="en-US" sz="1050" b="1" dirty="0">
                <a:solidFill>
                  <a:srgbClr val="00B4D8"/>
                </a:solidFill>
                <a:latin typeface="Calibri" pitchFamily="34" charset="0"/>
                <a:ea typeface="Calibri" pitchFamily="34" charset="-122"/>
                <a:cs typeface="Calibri" pitchFamily="34" charset="-120"/>
              </a:rPr>
              <a:t>3.2B credentials monitored</a:t>
            </a:r>
            <a:endParaRPr lang="en-US" sz="1050" dirty="0"/>
          </a:p>
        </p:txBody>
      </p:sp>
      <p:sp>
        <p:nvSpPr>
          <p:cNvPr id="29" name="Text 27"/>
          <p:cNvSpPr/>
          <p:nvPr/>
        </p:nvSpPr>
        <p:spPr>
          <a:xfrm>
            <a:off x="4864608" y="3776472"/>
            <a:ext cx="3977640" cy="841248"/>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AI analyzes credential exposure in real-time against breach databases, proactively notifying users of compromised passwords and automating reset workflows before exploitation occurs.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Case Study 1: Darktrace — AI-Powered Network Defense</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23</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Enterprise AI Autonomous Response System</a:t>
            </a:r>
            <a:endParaRPr lang="en-US" sz="1600" dirty="0"/>
          </a:p>
        </p:txBody>
      </p:sp>
      <p:sp>
        <p:nvSpPr>
          <p:cNvPr id="9" name="Shape 7"/>
          <p:cNvSpPr/>
          <p:nvPr/>
        </p:nvSpPr>
        <p:spPr>
          <a:xfrm>
            <a:off x="274320" y="1115568"/>
            <a:ext cx="8595360" cy="132588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0" name="Shape 8"/>
          <p:cNvSpPr/>
          <p:nvPr/>
        </p:nvSpPr>
        <p:spPr>
          <a:xfrm>
            <a:off x="274320" y="1115568"/>
            <a:ext cx="73152" cy="1325880"/>
          </a:xfrm>
          <a:prstGeom prst="rect">
            <a:avLst/>
          </a:prstGeom>
          <a:solidFill>
            <a:srgbClr val="00B4D8"/>
          </a:solidFill>
          <a:ln w="12700">
            <a:solidFill>
              <a:srgbClr val="00B4D8"/>
            </a:solidFill>
            <a:prstDash val="solid"/>
          </a:ln>
        </p:spPr>
      </p:sp>
      <p:sp>
        <p:nvSpPr>
          <p:cNvPr id="11" name="Text 9"/>
          <p:cNvSpPr/>
          <p:nvPr/>
        </p:nvSpPr>
        <p:spPr>
          <a:xfrm>
            <a:off x="457200" y="1188720"/>
            <a:ext cx="8229600" cy="27432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Background</a:t>
            </a:r>
            <a:endParaRPr lang="en-US" sz="1300" dirty="0"/>
          </a:p>
        </p:txBody>
      </p:sp>
      <p:sp>
        <p:nvSpPr>
          <p:cNvPr id="12" name="Text 10"/>
          <p:cNvSpPr/>
          <p:nvPr/>
        </p:nvSpPr>
        <p:spPr>
          <a:xfrm>
            <a:off x="457200" y="1508760"/>
            <a:ext cx="8229600" cy="822960"/>
          </a:xfrm>
          <a:prstGeom prst="rect">
            <a:avLst/>
          </a:prstGeom>
          <a:noFill/>
          <a:ln/>
        </p:spPr>
        <p:txBody>
          <a:bodyPr wrap="square" lIns="0" tIns="0" rIns="0" bIns="0" rtlCol="0" anchor="ctr"/>
          <a:lstStyle/>
          <a:p>
            <a:pPr marL="0" indent="0">
              <a:buNone/>
            </a:pPr>
            <a:r>
              <a:rPr lang="en-US" sz="1200" dirty="0">
                <a:solidFill>
                  <a:srgbClr val="CAD3E0"/>
                </a:solidFill>
                <a:latin typeface="Calibri" pitchFamily="34" charset="0"/>
                <a:ea typeface="Calibri" pitchFamily="34" charset="-122"/>
                <a:cs typeface="Calibri" pitchFamily="34" charset="-120"/>
              </a:rPr>
              <a:t>Darktrace, a Cambridge-based AI cybersecurity firm, deployed its Enterprise Immune System (EIS) at a global financial institution with 50,000+ endpoints and 120+ cloud services. Traditional SIEM was generating 15,000+ daily alerts with 95% false positives, overwhelming the 12-person SOC team.</a:t>
            </a:r>
            <a:endParaRPr lang="en-US" sz="1200" dirty="0"/>
          </a:p>
        </p:txBody>
      </p:sp>
      <p:sp>
        <p:nvSpPr>
          <p:cNvPr id="13" name="Text 11"/>
          <p:cNvSpPr/>
          <p:nvPr/>
        </p:nvSpPr>
        <p:spPr>
          <a:xfrm>
            <a:off x="274320" y="2560320"/>
            <a:ext cx="8595360" cy="320040"/>
          </a:xfrm>
          <a:prstGeom prst="rect">
            <a:avLst/>
          </a:prstGeom>
          <a:noFill/>
          <a:ln/>
        </p:spPr>
        <p:txBody>
          <a:bodyPr wrap="square"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AI Approach:</a:t>
            </a:r>
            <a:endParaRPr lang="en-US" sz="1300" dirty="0"/>
          </a:p>
        </p:txBody>
      </p:sp>
      <p:sp>
        <p:nvSpPr>
          <p:cNvPr id="14" name="Text 12"/>
          <p:cNvSpPr/>
          <p:nvPr/>
        </p:nvSpPr>
        <p:spPr>
          <a:xfrm>
            <a:off x="365760" y="2907792"/>
            <a:ext cx="8412480" cy="685800"/>
          </a:xfrm>
          <a:prstGeom prst="rect">
            <a:avLst/>
          </a:prstGeom>
          <a:noFill/>
          <a:ln/>
        </p:spPr>
        <p:txBody>
          <a:bodyPr wrap="square" rtlCol="0" anchor="ctr"/>
          <a:lstStyle/>
          <a:p>
            <a:pPr marL="0" indent="0">
              <a:buNone/>
            </a:pPr>
            <a:r>
              <a:rPr lang="en-US" sz="1250" dirty="0">
                <a:solidFill>
                  <a:srgbClr val="CAD3E0"/>
                </a:solidFill>
                <a:latin typeface="Calibri" pitchFamily="34" charset="0"/>
                <a:ea typeface="Calibri" pitchFamily="34" charset="-122"/>
                <a:cs typeface="Calibri" pitchFamily="34" charset="-120"/>
              </a:rPr>
              <a:t>Darktrace's EIS uses unsupervised machine learning to build a 'pattern of life' for every user, device, and network segment. The Autonomous Response module (Antigena) takes precision actions — blocking specific connections, enforcing behavioral norms — without human intervention.</a:t>
            </a:r>
            <a:endParaRPr lang="en-US" sz="1250" dirty="0"/>
          </a:p>
        </p:txBody>
      </p:sp>
      <p:sp>
        <p:nvSpPr>
          <p:cNvPr id="15" name="Shape 13"/>
          <p:cNvSpPr/>
          <p:nvPr/>
        </p:nvSpPr>
        <p:spPr>
          <a:xfrm>
            <a:off x="274320" y="3657600"/>
            <a:ext cx="1920240" cy="1170432"/>
          </a:xfrm>
          <a:prstGeom prst="rect">
            <a:avLst/>
          </a:prstGeom>
          <a:solidFill>
            <a:srgbClr val="0D2B55"/>
          </a:solidFill>
          <a:ln w="12700">
            <a:solidFill>
              <a:srgbClr val="00B4D8"/>
            </a:solidFill>
            <a:prstDash val="solid"/>
          </a:ln>
        </p:spPr>
      </p:sp>
      <p:sp>
        <p:nvSpPr>
          <p:cNvPr id="16" name="Text 14"/>
          <p:cNvSpPr/>
          <p:nvPr/>
        </p:nvSpPr>
        <p:spPr>
          <a:xfrm>
            <a:off x="274320" y="3703320"/>
            <a:ext cx="1920240" cy="594360"/>
          </a:xfrm>
          <a:prstGeom prst="rect">
            <a:avLst/>
          </a:prstGeom>
          <a:noFill/>
          <a:ln/>
        </p:spPr>
        <p:txBody>
          <a:bodyPr wrap="square" rtlCol="0" anchor="ctr"/>
          <a:lstStyle/>
          <a:p>
            <a:pPr marL="0" indent="0" algn="ctr">
              <a:buNone/>
            </a:pPr>
            <a:r>
              <a:rPr lang="en-US" sz="2400" b="1" dirty="0">
                <a:solidFill>
                  <a:srgbClr val="00B4D8"/>
                </a:solidFill>
                <a:latin typeface="Calibri" pitchFamily="34" charset="0"/>
                <a:ea typeface="Calibri" pitchFamily="34" charset="-122"/>
                <a:cs typeface="Calibri" pitchFamily="34" charset="-120"/>
              </a:rPr>
              <a:t>95%→12%</a:t>
            </a:r>
            <a:endParaRPr lang="en-US" sz="2400" dirty="0"/>
          </a:p>
        </p:txBody>
      </p:sp>
      <p:sp>
        <p:nvSpPr>
          <p:cNvPr id="17" name="Text 15"/>
          <p:cNvSpPr/>
          <p:nvPr/>
        </p:nvSpPr>
        <p:spPr>
          <a:xfrm>
            <a:off x="274320" y="4315968"/>
            <a:ext cx="192024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Alert Noise</a:t>
            </a:r>
            <a:endParaRPr lang="en-US" sz="1000" dirty="0"/>
          </a:p>
        </p:txBody>
      </p:sp>
      <p:sp>
        <p:nvSpPr>
          <p:cNvPr id="18" name="Text 16"/>
          <p:cNvSpPr/>
          <p:nvPr/>
        </p:nvSpPr>
        <p:spPr>
          <a:xfrm>
            <a:off x="274320" y="4572000"/>
            <a:ext cx="1920240" cy="219456"/>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false positive rate</a:t>
            </a:r>
            <a:endParaRPr lang="en-US" sz="900" dirty="0"/>
          </a:p>
        </p:txBody>
      </p:sp>
      <p:sp>
        <p:nvSpPr>
          <p:cNvPr id="19" name="Shape 17"/>
          <p:cNvSpPr/>
          <p:nvPr/>
        </p:nvSpPr>
        <p:spPr>
          <a:xfrm>
            <a:off x="2450592" y="3657600"/>
            <a:ext cx="1920240" cy="1170432"/>
          </a:xfrm>
          <a:prstGeom prst="rect">
            <a:avLst/>
          </a:prstGeom>
          <a:solidFill>
            <a:srgbClr val="0D2B55"/>
          </a:solidFill>
          <a:ln w="12700">
            <a:solidFill>
              <a:srgbClr val="00B4D8"/>
            </a:solidFill>
            <a:prstDash val="solid"/>
          </a:ln>
        </p:spPr>
      </p:sp>
      <p:sp>
        <p:nvSpPr>
          <p:cNvPr id="20" name="Text 18"/>
          <p:cNvSpPr/>
          <p:nvPr/>
        </p:nvSpPr>
        <p:spPr>
          <a:xfrm>
            <a:off x="2450592" y="3703320"/>
            <a:ext cx="1920240" cy="594360"/>
          </a:xfrm>
          <a:prstGeom prst="rect">
            <a:avLst/>
          </a:prstGeom>
          <a:noFill/>
          <a:ln/>
        </p:spPr>
        <p:txBody>
          <a:bodyPr wrap="square" rtlCol="0" anchor="ctr"/>
          <a:lstStyle/>
          <a:p>
            <a:pPr marL="0" indent="0" algn="ctr">
              <a:buNone/>
            </a:pPr>
            <a:r>
              <a:rPr lang="en-US" sz="2400" b="1" dirty="0">
                <a:solidFill>
                  <a:srgbClr val="00B4D8"/>
                </a:solidFill>
                <a:latin typeface="Calibri" pitchFamily="34" charset="0"/>
                <a:ea typeface="Calibri" pitchFamily="34" charset="-122"/>
                <a:cs typeface="Calibri" pitchFamily="34" charset="-120"/>
              </a:rPr>
              <a:t>3 sec</a:t>
            </a:r>
            <a:endParaRPr lang="en-US" sz="2400" dirty="0"/>
          </a:p>
        </p:txBody>
      </p:sp>
      <p:sp>
        <p:nvSpPr>
          <p:cNvPr id="21" name="Text 19"/>
          <p:cNvSpPr/>
          <p:nvPr/>
        </p:nvSpPr>
        <p:spPr>
          <a:xfrm>
            <a:off x="2450592" y="4315968"/>
            <a:ext cx="192024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Detection Time</a:t>
            </a:r>
            <a:endParaRPr lang="en-US" sz="1000" dirty="0"/>
          </a:p>
        </p:txBody>
      </p:sp>
      <p:sp>
        <p:nvSpPr>
          <p:cNvPr id="22" name="Text 20"/>
          <p:cNvSpPr/>
          <p:nvPr/>
        </p:nvSpPr>
        <p:spPr>
          <a:xfrm>
            <a:off x="2450592" y="4572000"/>
            <a:ext cx="1920240" cy="219456"/>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avg threat detection</a:t>
            </a:r>
            <a:endParaRPr lang="en-US" sz="900" dirty="0"/>
          </a:p>
        </p:txBody>
      </p:sp>
      <p:sp>
        <p:nvSpPr>
          <p:cNvPr id="23" name="Shape 21"/>
          <p:cNvSpPr/>
          <p:nvPr/>
        </p:nvSpPr>
        <p:spPr>
          <a:xfrm>
            <a:off x="4626864" y="3657600"/>
            <a:ext cx="1920240" cy="1170432"/>
          </a:xfrm>
          <a:prstGeom prst="rect">
            <a:avLst/>
          </a:prstGeom>
          <a:solidFill>
            <a:srgbClr val="0D2B55"/>
          </a:solidFill>
          <a:ln w="12700">
            <a:solidFill>
              <a:srgbClr val="00B4D8"/>
            </a:solidFill>
            <a:prstDash val="solid"/>
          </a:ln>
        </p:spPr>
      </p:sp>
      <p:sp>
        <p:nvSpPr>
          <p:cNvPr id="24" name="Text 22"/>
          <p:cNvSpPr/>
          <p:nvPr/>
        </p:nvSpPr>
        <p:spPr>
          <a:xfrm>
            <a:off x="4626864" y="3703320"/>
            <a:ext cx="1920240" cy="594360"/>
          </a:xfrm>
          <a:prstGeom prst="rect">
            <a:avLst/>
          </a:prstGeom>
          <a:noFill/>
          <a:ln/>
        </p:spPr>
        <p:txBody>
          <a:bodyPr wrap="square" rtlCol="0" anchor="ctr"/>
          <a:lstStyle/>
          <a:p>
            <a:pPr marL="0" indent="0" algn="ctr">
              <a:buNone/>
            </a:pPr>
            <a:r>
              <a:rPr lang="en-US" sz="2400" b="1" dirty="0">
                <a:solidFill>
                  <a:srgbClr val="00B4D8"/>
                </a:solidFill>
                <a:latin typeface="Calibri" pitchFamily="34" charset="0"/>
                <a:ea typeface="Calibri" pitchFamily="34" charset="-122"/>
                <a:cs typeface="Calibri" pitchFamily="34" charset="-120"/>
              </a:rPr>
              <a:t>847</a:t>
            </a:r>
            <a:endParaRPr lang="en-US" sz="2400" dirty="0"/>
          </a:p>
        </p:txBody>
      </p:sp>
      <p:sp>
        <p:nvSpPr>
          <p:cNvPr id="25" name="Text 23"/>
          <p:cNvSpPr/>
          <p:nvPr/>
        </p:nvSpPr>
        <p:spPr>
          <a:xfrm>
            <a:off x="4626864" y="4315968"/>
            <a:ext cx="192024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Contained Threats</a:t>
            </a:r>
            <a:endParaRPr lang="en-US" sz="1000" dirty="0"/>
          </a:p>
        </p:txBody>
      </p:sp>
      <p:sp>
        <p:nvSpPr>
          <p:cNvPr id="26" name="Text 24"/>
          <p:cNvSpPr/>
          <p:nvPr/>
        </p:nvSpPr>
        <p:spPr>
          <a:xfrm>
            <a:off x="4626864" y="4572000"/>
            <a:ext cx="1920240" cy="219456"/>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auto-neutralized/year</a:t>
            </a:r>
            <a:endParaRPr lang="en-US" sz="900" dirty="0"/>
          </a:p>
        </p:txBody>
      </p:sp>
      <p:sp>
        <p:nvSpPr>
          <p:cNvPr id="27" name="Shape 25"/>
          <p:cNvSpPr/>
          <p:nvPr/>
        </p:nvSpPr>
        <p:spPr>
          <a:xfrm>
            <a:off x="6803136" y="3657600"/>
            <a:ext cx="1920240" cy="1170432"/>
          </a:xfrm>
          <a:prstGeom prst="rect">
            <a:avLst/>
          </a:prstGeom>
          <a:solidFill>
            <a:srgbClr val="0D2B55"/>
          </a:solidFill>
          <a:ln w="12700">
            <a:solidFill>
              <a:srgbClr val="00B4D8"/>
            </a:solidFill>
            <a:prstDash val="solid"/>
          </a:ln>
        </p:spPr>
      </p:sp>
      <p:sp>
        <p:nvSpPr>
          <p:cNvPr id="28" name="Text 26"/>
          <p:cNvSpPr/>
          <p:nvPr/>
        </p:nvSpPr>
        <p:spPr>
          <a:xfrm>
            <a:off x="6803136" y="3703320"/>
            <a:ext cx="1920240" cy="594360"/>
          </a:xfrm>
          <a:prstGeom prst="rect">
            <a:avLst/>
          </a:prstGeom>
          <a:noFill/>
          <a:ln/>
        </p:spPr>
        <p:txBody>
          <a:bodyPr wrap="square" rtlCol="0" anchor="ctr"/>
          <a:lstStyle/>
          <a:p>
            <a:pPr marL="0" indent="0" algn="ctr">
              <a:buNone/>
            </a:pPr>
            <a:r>
              <a:rPr lang="en-US" sz="2400" b="1" dirty="0">
                <a:solidFill>
                  <a:srgbClr val="00B4D8"/>
                </a:solidFill>
                <a:latin typeface="Calibri" pitchFamily="34" charset="0"/>
                <a:ea typeface="Calibri" pitchFamily="34" charset="-122"/>
                <a:cs typeface="Calibri" pitchFamily="34" charset="-120"/>
              </a:rPr>
              <a:t>284%</a:t>
            </a:r>
            <a:endParaRPr lang="en-US" sz="2400" dirty="0"/>
          </a:p>
        </p:txBody>
      </p:sp>
      <p:sp>
        <p:nvSpPr>
          <p:cNvPr id="29" name="Text 27"/>
          <p:cNvSpPr/>
          <p:nvPr/>
        </p:nvSpPr>
        <p:spPr>
          <a:xfrm>
            <a:off x="6803136" y="4315968"/>
            <a:ext cx="192024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ROI</a:t>
            </a:r>
            <a:endParaRPr lang="en-US" sz="1000" dirty="0"/>
          </a:p>
        </p:txBody>
      </p:sp>
      <p:sp>
        <p:nvSpPr>
          <p:cNvPr id="30" name="Text 28"/>
          <p:cNvSpPr/>
          <p:nvPr/>
        </p:nvSpPr>
        <p:spPr>
          <a:xfrm>
            <a:off x="6803136" y="4572000"/>
            <a:ext cx="1920240" cy="219456"/>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3-year return</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Case Study 2: AI-Based Phishing Defense at Scale</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24</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Google's AI-Powered Email Security Infrastructure</a:t>
            </a:r>
            <a:endParaRPr lang="en-US" sz="1600" dirty="0"/>
          </a:p>
        </p:txBody>
      </p:sp>
      <p:sp>
        <p:nvSpPr>
          <p:cNvPr id="9" name="Shape 7"/>
          <p:cNvSpPr/>
          <p:nvPr/>
        </p:nvSpPr>
        <p:spPr>
          <a:xfrm>
            <a:off x="274320" y="1115568"/>
            <a:ext cx="8595360" cy="82296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0" name="Text 8"/>
          <p:cNvSpPr/>
          <p:nvPr/>
        </p:nvSpPr>
        <p:spPr>
          <a:xfrm>
            <a:off x="457200" y="1188720"/>
            <a:ext cx="8229600" cy="658368"/>
          </a:xfrm>
          <a:prstGeom prst="rect">
            <a:avLst/>
          </a:prstGeom>
          <a:noFill/>
          <a:ln/>
        </p:spPr>
        <p:txBody>
          <a:bodyPr wrap="square" lIns="0" tIns="0" rIns="0" bIns="0" rtlCol="0" anchor="ctr"/>
          <a:lstStyle/>
          <a:p>
            <a:pPr marL="0" indent="0">
              <a:buNone/>
            </a:pPr>
            <a:r>
              <a:rPr lang="en-US" sz="1200" dirty="0">
                <a:solidFill>
                  <a:srgbClr val="CAD3E0"/>
                </a:solidFill>
                <a:latin typeface="Calibri" pitchFamily="34" charset="0"/>
                <a:ea typeface="Calibri" pitchFamily="34" charset="-122"/>
                <a:cs typeface="Calibri" pitchFamily="34" charset="-120"/>
              </a:rPr>
              <a:t>Google processes over 1.5 billion emails daily across Gmail. Traditional spam filters failed to address sophisticated spear-phishing and BEC (Business Email Compromise) attacks. Google deployed a TensorFlow-based deep learning model integrated into Gmail's filtering pipeline, processing each email through 100+ machine learning signals.</a:t>
            </a:r>
            <a:endParaRPr lang="en-US" sz="1200" dirty="0"/>
          </a:p>
        </p:txBody>
      </p:sp>
      <p:sp>
        <p:nvSpPr>
          <p:cNvPr id="11" name="Shape 9"/>
          <p:cNvSpPr/>
          <p:nvPr/>
        </p:nvSpPr>
        <p:spPr>
          <a:xfrm>
            <a:off x="274320" y="2057400"/>
            <a:ext cx="2743200" cy="269748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2" name="Shape 10"/>
          <p:cNvSpPr/>
          <p:nvPr/>
        </p:nvSpPr>
        <p:spPr>
          <a:xfrm>
            <a:off x="274320" y="2057400"/>
            <a:ext cx="2743200" cy="365760"/>
          </a:xfrm>
          <a:prstGeom prst="rect">
            <a:avLst/>
          </a:prstGeom>
          <a:solidFill>
            <a:srgbClr val="0077B6"/>
          </a:solidFill>
          <a:ln w="12700">
            <a:solidFill>
              <a:srgbClr val="0077B6"/>
            </a:solidFill>
            <a:prstDash val="solid"/>
          </a:ln>
        </p:spPr>
      </p:sp>
      <p:sp>
        <p:nvSpPr>
          <p:cNvPr id="13" name="Text 11"/>
          <p:cNvSpPr/>
          <p:nvPr/>
        </p:nvSpPr>
        <p:spPr>
          <a:xfrm>
            <a:off x="365760" y="2057400"/>
            <a:ext cx="256032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Threat Types Addressed</a:t>
            </a:r>
            <a:endParaRPr lang="en-US" sz="1100" dirty="0"/>
          </a:p>
        </p:txBody>
      </p:sp>
      <p:sp>
        <p:nvSpPr>
          <p:cNvPr id="14" name="Text 12"/>
          <p:cNvSpPr/>
          <p:nvPr/>
        </p:nvSpPr>
        <p:spPr>
          <a:xfrm>
            <a:off x="365760" y="2487168"/>
            <a:ext cx="2560320" cy="2194560"/>
          </a:xfrm>
          <a:prstGeom prst="rect">
            <a:avLst/>
          </a:prstGeom>
          <a:noFill/>
          <a:ln/>
        </p:spPr>
        <p:txBody>
          <a:bodyPr wrap="square" rtlCol="0" anchor="ctr"/>
          <a:lstStyle/>
          <a:p>
            <a:pPr marL="342900" indent="-342900">
              <a:buSzPct val="100000"/>
              <a:buChar char="•"/>
            </a:pPr>
            <a:r>
              <a:rPr lang="en-US" sz="1100" dirty="0">
                <a:solidFill>
                  <a:srgbClr val="CAD3E0"/>
                </a:solidFill>
                <a:latin typeface="Calibri" pitchFamily="34" charset="0"/>
                <a:ea typeface="Calibri" pitchFamily="34" charset="-122"/>
                <a:cs typeface="Calibri" pitchFamily="34" charset="-120"/>
              </a:rPr>
              <a:t>Spear-phishing &amp; targeted attacks</a:t>
            </a:r>
            <a:endParaRPr lang="en-US" sz="1100" dirty="0"/>
          </a:p>
          <a:p>
            <a:pPr marL="342900" indent="-342900">
              <a:buSzPct val="100000"/>
              <a:buChar char="•"/>
            </a:pPr>
            <a:r>
              <a:rPr lang="en-US" sz="1100" dirty="0">
                <a:solidFill>
                  <a:srgbClr val="CAD3E0"/>
                </a:solidFill>
                <a:latin typeface="Calibri" pitchFamily="34" charset="0"/>
                <a:ea typeface="Calibri" pitchFamily="34" charset="-122"/>
                <a:cs typeface="Calibri" pitchFamily="34" charset="-120"/>
              </a:rPr>
              <a:t>Business Email Compromise (BEC)</a:t>
            </a:r>
            <a:endParaRPr lang="en-US" sz="1100" dirty="0"/>
          </a:p>
          <a:p>
            <a:pPr marL="342900" indent="-342900">
              <a:buSzPct val="100000"/>
              <a:buChar char="•"/>
            </a:pPr>
            <a:r>
              <a:rPr lang="en-US" sz="1100" dirty="0">
                <a:solidFill>
                  <a:srgbClr val="CAD3E0"/>
                </a:solidFill>
                <a:latin typeface="Calibri" pitchFamily="34" charset="0"/>
                <a:ea typeface="Calibri" pitchFamily="34" charset="-122"/>
                <a:cs typeface="Calibri" pitchFamily="34" charset="-120"/>
              </a:rPr>
              <a:t>Domain spoofing &amp; homograph attacks</a:t>
            </a:r>
            <a:endParaRPr lang="en-US" sz="1100" dirty="0"/>
          </a:p>
          <a:p>
            <a:pPr marL="342900" indent="-342900">
              <a:buSzPct val="100000"/>
              <a:buChar char="•"/>
            </a:pPr>
            <a:r>
              <a:rPr lang="en-US" sz="1100" dirty="0">
                <a:solidFill>
                  <a:srgbClr val="CAD3E0"/>
                </a:solidFill>
                <a:latin typeface="Calibri" pitchFamily="34" charset="0"/>
                <a:ea typeface="Calibri" pitchFamily="34" charset="-122"/>
                <a:cs typeface="Calibri" pitchFamily="34" charset="-120"/>
              </a:rPr>
              <a:t>Malicious attachment detection</a:t>
            </a:r>
            <a:endParaRPr lang="en-US" sz="1100" dirty="0"/>
          </a:p>
          <a:p>
            <a:pPr marL="342900" indent="-342900">
              <a:buSzPct val="100000"/>
              <a:buChar char="•"/>
            </a:pPr>
            <a:r>
              <a:rPr lang="en-US" sz="1100" dirty="0">
                <a:solidFill>
                  <a:srgbClr val="CAD3E0"/>
                </a:solidFill>
                <a:latin typeface="Calibri" pitchFamily="34" charset="0"/>
                <a:ea typeface="Calibri" pitchFamily="34" charset="-122"/>
                <a:cs typeface="Calibri" pitchFamily="34" charset="-120"/>
              </a:rPr>
              <a:t>Zero-day URL analysis</a:t>
            </a:r>
            <a:endParaRPr lang="en-US" sz="1100" dirty="0"/>
          </a:p>
          <a:p>
            <a:pPr marL="0" indent="0">
              <a:buNone/>
            </a:pPr>
            <a:endParaRPr lang="en-US" sz="1100" dirty="0"/>
          </a:p>
        </p:txBody>
      </p:sp>
      <p:sp>
        <p:nvSpPr>
          <p:cNvPr id="15" name="Shape 13"/>
          <p:cNvSpPr/>
          <p:nvPr/>
        </p:nvSpPr>
        <p:spPr>
          <a:xfrm>
            <a:off x="3227832" y="2057400"/>
            <a:ext cx="2743200" cy="269748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6" name="Shape 14"/>
          <p:cNvSpPr/>
          <p:nvPr/>
        </p:nvSpPr>
        <p:spPr>
          <a:xfrm>
            <a:off x="3227832" y="2057400"/>
            <a:ext cx="2743200" cy="365760"/>
          </a:xfrm>
          <a:prstGeom prst="rect">
            <a:avLst/>
          </a:prstGeom>
          <a:solidFill>
            <a:srgbClr val="0077B6"/>
          </a:solidFill>
          <a:ln w="12700">
            <a:solidFill>
              <a:srgbClr val="0077B6"/>
            </a:solidFill>
            <a:prstDash val="solid"/>
          </a:ln>
        </p:spPr>
      </p:sp>
      <p:sp>
        <p:nvSpPr>
          <p:cNvPr id="17" name="Text 15"/>
          <p:cNvSpPr/>
          <p:nvPr/>
        </p:nvSpPr>
        <p:spPr>
          <a:xfrm>
            <a:off x="3319272" y="2057400"/>
            <a:ext cx="256032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AI Techniques Used</a:t>
            </a:r>
            <a:endParaRPr lang="en-US" sz="1100" dirty="0"/>
          </a:p>
        </p:txBody>
      </p:sp>
      <p:sp>
        <p:nvSpPr>
          <p:cNvPr id="18" name="Text 16"/>
          <p:cNvSpPr/>
          <p:nvPr/>
        </p:nvSpPr>
        <p:spPr>
          <a:xfrm>
            <a:off x="3319272" y="2487168"/>
            <a:ext cx="2560320" cy="2194560"/>
          </a:xfrm>
          <a:prstGeom prst="rect">
            <a:avLst/>
          </a:prstGeom>
          <a:noFill/>
          <a:ln/>
        </p:spPr>
        <p:txBody>
          <a:bodyPr wrap="square" rtlCol="0" anchor="ctr"/>
          <a:lstStyle/>
          <a:p>
            <a:pPr marL="342900" indent="-342900">
              <a:buSzPct val="100000"/>
              <a:buChar char="•"/>
            </a:pPr>
            <a:r>
              <a:rPr lang="en-US" sz="1100" dirty="0">
                <a:solidFill>
                  <a:srgbClr val="CAD3E0"/>
                </a:solidFill>
                <a:latin typeface="Calibri" pitchFamily="34" charset="0"/>
                <a:ea typeface="Calibri" pitchFamily="34" charset="-122"/>
                <a:cs typeface="Calibri" pitchFamily="34" charset="-120"/>
              </a:rPr>
              <a:t>Deep learning email classification</a:t>
            </a:r>
            <a:endParaRPr lang="en-US" sz="1100" dirty="0"/>
          </a:p>
          <a:p>
            <a:pPr marL="342900" indent="-342900">
              <a:buSzPct val="100000"/>
              <a:buChar char="•"/>
            </a:pPr>
            <a:r>
              <a:rPr lang="en-US" sz="1100" dirty="0">
                <a:solidFill>
                  <a:srgbClr val="CAD3E0"/>
                </a:solidFill>
                <a:latin typeface="Calibri" pitchFamily="34" charset="0"/>
                <a:ea typeface="Calibri" pitchFamily="34" charset="-122"/>
                <a:cs typeface="Calibri" pitchFamily="34" charset="-120"/>
              </a:rPr>
              <a:t>NLP semantic analysis of content</a:t>
            </a:r>
            <a:endParaRPr lang="en-US" sz="1100" dirty="0"/>
          </a:p>
          <a:p>
            <a:pPr marL="342900" indent="-342900">
              <a:buSzPct val="100000"/>
              <a:buChar char="•"/>
            </a:pPr>
            <a:r>
              <a:rPr lang="en-US" sz="1100" dirty="0">
                <a:solidFill>
                  <a:srgbClr val="CAD3E0"/>
                </a:solidFill>
                <a:latin typeface="Calibri" pitchFamily="34" charset="0"/>
                <a:ea typeface="Calibri" pitchFamily="34" charset="-122"/>
                <a:cs typeface="Calibri" pitchFamily="34" charset="-120"/>
              </a:rPr>
              <a:t>Graph analysis of sender relationships</a:t>
            </a:r>
            <a:endParaRPr lang="en-US" sz="1100" dirty="0"/>
          </a:p>
          <a:p>
            <a:pPr marL="342900" indent="-342900">
              <a:buSzPct val="100000"/>
              <a:buChar char="•"/>
            </a:pPr>
            <a:r>
              <a:rPr lang="en-US" sz="1100" dirty="0">
                <a:solidFill>
                  <a:srgbClr val="CAD3E0"/>
                </a:solidFill>
                <a:latin typeface="Calibri" pitchFamily="34" charset="0"/>
                <a:ea typeface="Calibri" pitchFamily="34" charset="-122"/>
                <a:cs typeface="Calibri" pitchFamily="34" charset="-120"/>
              </a:rPr>
              <a:t>Computer vision for image-based phishing</a:t>
            </a:r>
            <a:endParaRPr lang="en-US" sz="1100" dirty="0"/>
          </a:p>
          <a:p>
            <a:pPr marL="342900" indent="-342900">
              <a:buSzPct val="100000"/>
              <a:buChar char="•"/>
            </a:pPr>
            <a:r>
              <a:rPr lang="en-US" sz="1100" dirty="0">
                <a:solidFill>
                  <a:srgbClr val="CAD3E0"/>
                </a:solidFill>
                <a:latin typeface="Calibri" pitchFamily="34" charset="0"/>
                <a:ea typeface="Calibri" pitchFamily="34" charset="-122"/>
                <a:cs typeface="Calibri" pitchFamily="34" charset="-120"/>
              </a:rPr>
              <a:t>Real-time URL sandbox analysis</a:t>
            </a:r>
            <a:endParaRPr lang="en-US" sz="1100" dirty="0"/>
          </a:p>
          <a:p>
            <a:pPr marL="0" indent="0">
              <a:buNone/>
            </a:pPr>
            <a:endParaRPr lang="en-US" sz="1100" dirty="0"/>
          </a:p>
        </p:txBody>
      </p:sp>
      <p:sp>
        <p:nvSpPr>
          <p:cNvPr id="19" name="Shape 17"/>
          <p:cNvSpPr/>
          <p:nvPr/>
        </p:nvSpPr>
        <p:spPr>
          <a:xfrm>
            <a:off x="6181344" y="2057400"/>
            <a:ext cx="2743200" cy="269748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0" name="Shape 18"/>
          <p:cNvSpPr/>
          <p:nvPr/>
        </p:nvSpPr>
        <p:spPr>
          <a:xfrm>
            <a:off x="6181344" y="2057400"/>
            <a:ext cx="2743200" cy="365760"/>
          </a:xfrm>
          <a:prstGeom prst="rect">
            <a:avLst/>
          </a:prstGeom>
          <a:solidFill>
            <a:srgbClr val="0077B6"/>
          </a:solidFill>
          <a:ln w="12700">
            <a:solidFill>
              <a:srgbClr val="0077B6"/>
            </a:solidFill>
            <a:prstDash val="solid"/>
          </a:ln>
        </p:spPr>
      </p:sp>
      <p:sp>
        <p:nvSpPr>
          <p:cNvPr id="21" name="Text 19"/>
          <p:cNvSpPr/>
          <p:nvPr/>
        </p:nvSpPr>
        <p:spPr>
          <a:xfrm>
            <a:off x="6272784" y="2057400"/>
            <a:ext cx="256032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Outcomes Achieved</a:t>
            </a:r>
            <a:endParaRPr lang="en-US" sz="1100" dirty="0"/>
          </a:p>
        </p:txBody>
      </p:sp>
      <p:sp>
        <p:nvSpPr>
          <p:cNvPr id="22" name="Text 20"/>
          <p:cNvSpPr/>
          <p:nvPr/>
        </p:nvSpPr>
        <p:spPr>
          <a:xfrm>
            <a:off x="6272784" y="2487168"/>
            <a:ext cx="2560320" cy="2194560"/>
          </a:xfrm>
          <a:prstGeom prst="rect">
            <a:avLst/>
          </a:prstGeom>
          <a:noFill/>
          <a:ln/>
        </p:spPr>
        <p:txBody>
          <a:bodyPr wrap="square" rtlCol="0" anchor="ctr"/>
          <a:lstStyle/>
          <a:p>
            <a:pPr marL="342900" indent="-342900">
              <a:buSzPct val="100000"/>
              <a:buChar char="•"/>
            </a:pPr>
            <a:r>
              <a:rPr lang="en-US" sz="1100" dirty="0">
                <a:solidFill>
                  <a:srgbClr val="CAD3E0"/>
                </a:solidFill>
                <a:latin typeface="Calibri" pitchFamily="34" charset="0"/>
                <a:ea typeface="Calibri" pitchFamily="34" charset="-122"/>
                <a:cs typeface="Calibri" pitchFamily="34" charset="-120"/>
              </a:rPr>
              <a:t>99.9% spam/phishing block rate</a:t>
            </a:r>
            <a:endParaRPr lang="en-US" sz="1100" dirty="0"/>
          </a:p>
          <a:p>
            <a:pPr marL="342900" indent="-342900">
              <a:buSzPct val="100000"/>
              <a:buChar char="•"/>
            </a:pPr>
            <a:r>
              <a:rPr lang="en-US" sz="1100" dirty="0">
                <a:solidFill>
                  <a:srgbClr val="CAD3E0"/>
                </a:solidFill>
                <a:latin typeface="Calibri" pitchFamily="34" charset="0"/>
                <a:ea typeface="Calibri" pitchFamily="34" charset="-122"/>
                <a:cs typeface="Calibri" pitchFamily="34" charset="-120"/>
              </a:rPr>
              <a:t>Block 100M phishing emails/day</a:t>
            </a:r>
            <a:endParaRPr lang="en-US" sz="1100" dirty="0"/>
          </a:p>
          <a:p>
            <a:pPr marL="342900" indent="-342900">
              <a:buSzPct val="100000"/>
              <a:buChar char="•"/>
            </a:pPr>
            <a:r>
              <a:rPr lang="en-US" sz="1100" dirty="0">
                <a:solidFill>
                  <a:srgbClr val="CAD3E0"/>
                </a:solidFill>
                <a:latin typeface="Calibri" pitchFamily="34" charset="0"/>
                <a:ea typeface="Calibri" pitchFamily="34" charset="-122"/>
                <a:cs typeface="Calibri" pitchFamily="34" charset="-120"/>
              </a:rPr>
              <a:t>18M malware emails blocked daily</a:t>
            </a:r>
            <a:endParaRPr lang="en-US" sz="1100" dirty="0"/>
          </a:p>
          <a:p>
            <a:pPr marL="342900" indent="-342900">
              <a:buSzPct val="100000"/>
              <a:buChar char="•"/>
            </a:pPr>
            <a:r>
              <a:rPr lang="en-US" sz="1100" dirty="0">
                <a:solidFill>
                  <a:srgbClr val="CAD3E0"/>
                </a:solidFill>
                <a:latin typeface="Calibri" pitchFamily="34" charset="0"/>
                <a:ea typeface="Calibri" pitchFamily="34" charset="-122"/>
                <a:cs typeface="Calibri" pitchFamily="34" charset="-120"/>
              </a:rPr>
              <a:t>99.9% accuracy on BEC detection</a:t>
            </a:r>
            <a:endParaRPr lang="en-US" sz="1100" dirty="0"/>
          </a:p>
          <a:p>
            <a:pPr marL="342900" indent="-342900">
              <a:buSzPct val="100000"/>
              <a:buChar char="•"/>
            </a:pPr>
            <a:r>
              <a:rPr lang="en-US" sz="1100" dirty="0">
                <a:solidFill>
                  <a:srgbClr val="CAD3E0"/>
                </a:solidFill>
                <a:latin typeface="Calibri" pitchFamily="34" charset="0"/>
                <a:ea typeface="Calibri" pitchFamily="34" charset="-122"/>
                <a:cs typeface="Calibri" pitchFamily="34" charset="-120"/>
              </a:rPr>
              <a:t>50% fewer false positives vs. 2019</a:t>
            </a:r>
            <a:endParaRPr lang="en-US" sz="1100" dirty="0"/>
          </a:p>
          <a:p>
            <a:pPr marL="0" indent="0">
              <a:buNone/>
            </a:pPr>
            <a:endParaRPr lang="en-US" sz="1100" dirty="0"/>
          </a:p>
        </p:txBody>
      </p:sp>
      <p:sp>
        <p:nvSpPr>
          <p:cNvPr id="23" name="Shape 21"/>
          <p:cNvSpPr/>
          <p:nvPr/>
        </p:nvSpPr>
        <p:spPr>
          <a:xfrm>
            <a:off x="274320" y="4828032"/>
            <a:ext cx="8595360" cy="109728"/>
          </a:xfrm>
          <a:prstGeom prst="rect">
            <a:avLst/>
          </a:prstGeom>
          <a:solidFill>
            <a:srgbClr val="00B4D8"/>
          </a:solidFill>
          <a:ln w="12700">
            <a:solidFill>
              <a:srgbClr val="00B4D8"/>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Case Study 3: AI in Critical Infrastructure Security</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25</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ICS/SCADA Security: AI Defense in Industrial Environments</a:t>
            </a:r>
            <a:endParaRPr lang="en-US" sz="1600" dirty="0"/>
          </a:p>
        </p:txBody>
      </p:sp>
      <p:sp>
        <p:nvSpPr>
          <p:cNvPr id="9" name="Text 7"/>
          <p:cNvSpPr/>
          <p:nvPr/>
        </p:nvSpPr>
        <p:spPr>
          <a:xfrm>
            <a:off x="365760" y="1078992"/>
            <a:ext cx="8412480" cy="594360"/>
          </a:xfrm>
          <a:prstGeom prst="rect">
            <a:avLst/>
          </a:prstGeom>
          <a:noFill/>
          <a:ln/>
        </p:spPr>
        <p:txBody>
          <a:bodyPr wrap="square" rtlCol="0" anchor="ctr"/>
          <a:lstStyle/>
          <a:p>
            <a:pPr marL="0" indent="0">
              <a:buNone/>
            </a:pPr>
            <a:r>
              <a:rPr lang="en-US" sz="1300" dirty="0">
                <a:solidFill>
                  <a:srgbClr val="CAD3E0"/>
                </a:solidFill>
                <a:latin typeface="Calibri" pitchFamily="34" charset="0"/>
                <a:ea typeface="Calibri" pitchFamily="34" charset="-122"/>
                <a:cs typeface="Calibri" pitchFamily="34" charset="-120"/>
              </a:rPr>
              <a:t>Industrial Control Systems (ICS) in energy, water, and manufacturing sectors face unique cybersecurity challenges. Claroty and Nozomi Networks deploy AI specifically designed for OT (Operational Technology) environments.</a:t>
            </a:r>
            <a:endParaRPr lang="en-US" sz="1300" dirty="0"/>
          </a:p>
        </p:txBody>
      </p:sp>
      <p:sp>
        <p:nvSpPr>
          <p:cNvPr id="10" name="Shape 8"/>
          <p:cNvSpPr/>
          <p:nvPr/>
        </p:nvSpPr>
        <p:spPr>
          <a:xfrm>
            <a:off x="274320" y="1755648"/>
            <a:ext cx="4114800" cy="306324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1" name="Shape 9"/>
          <p:cNvSpPr/>
          <p:nvPr/>
        </p:nvSpPr>
        <p:spPr>
          <a:xfrm>
            <a:off x="274320" y="1755648"/>
            <a:ext cx="4114800" cy="365760"/>
          </a:xfrm>
          <a:prstGeom prst="rect">
            <a:avLst/>
          </a:prstGeom>
          <a:solidFill>
            <a:srgbClr val="1B5E20"/>
          </a:solidFill>
          <a:ln w="12700">
            <a:solidFill>
              <a:srgbClr val="1B5E20"/>
            </a:solidFill>
            <a:prstDash val="solid"/>
          </a:ln>
        </p:spPr>
      </p:sp>
      <p:sp>
        <p:nvSpPr>
          <p:cNvPr id="12" name="Text 10"/>
          <p:cNvSpPr/>
          <p:nvPr/>
        </p:nvSpPr>
        <p:spPr>
          <a:xfrm>
            <a:off x="274320" y="1755648"/>
            <a:ext cx="411480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Challenge</a:t>
            </a:r>
            <a:endParaRPr lang="en-US" sz="1300" dirty="0"/>
          </a:p>
        </p:txBody>
      </p:sp>
      <p:sp>
        <p:nvSpPr>
          <p:cNvPr id="13" name="Text 11"/>
          <p:cNvSpPr/>
          <p:nvPr/>
        </p:nvSpPr>
        <p:spPr>
          <a:xfrm>
            <a:off x="411480" y="2176272"/>
            <a:ext cx="3840480" cy="2578608"/>
          </a:xfrm>
          <a:prstGeom prst="rect">
            <a:avLst/>
          </a:prstGeom>
          <a:noFill/>
          <a:ln/>
        </p:spPr>
        <p:txBody>
          <a:bodyPr wrap="square" rtlCol="0" anchor="ctr"/>
          <a:lstStyle/>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Legacy SCADA systems with 15–30 year lifespans cannot be patched</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Network segmentation (air-gap) increasingly compromised</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Protocol diversity (Modbus, DNP3, IEC 61850) complicates monitoring</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Downtime tolerance near-zero in critical operations</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Nation-state APTs (TRITON, BlackEnergy) increasingly target ICS</a:t>
            </a:r>
            <a:endParaRPr lang="en-US" sz="1150" dirty="0"/>
          </a:p>
        </p:txBody>
      </p:sp>
      <p:sp>
        <p:nvSpPr>
          <p:cNvPr id="14" name="Shape 12"/>
          <p:cNvSpPr/>
          <p:nvPr/>
        </p:nvSpPr>
        <p:spPr>
          <a:xfrm>
            <a:off x="4754880" y="1755648"/>
            <a:ext cx="4114800" cy="306324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5" name="Shape 13"/>
          <p:cNvSpPr/>
          <p:nvPr/>
        </p:nvSpPr>
        <p:spPr>
          <a:xfrm>
            <a:off x="4754880" y="1755648"/>
            <a:ext cx="4114800" cy="365760"/>
          </a:xfrm>
          <a:prstGeom prst="rect">
            <a:avLst/>
          </a:prstGeom>
          <a:solidFill>
            <a:srgbClr val="0077B6"/>
          </a:solidFill>
          <a:ln w="12700">
            <a:solidFill>
              <a:srgbClr val="0077B6"/>
            </a:solidFill>
            <a:prstDash val="solid"/>
          </a:ln>
        </p:spPr>
      </p:sp>
      <p:sp>
        <p:nvSpPr>
          <p:cNvPr id="16" name="Text 14"/>
          <p:cNvSpPr/>
          <p:nvPr/>
        </p:nvSpPr>
        <p:spPr>
          <a:xfrm>
            <a:off x="4754880" y="1755648"/>
            <a:ext cx="411480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AI Solution &amp; Results</a:t>
            </a:r>
            <a:endParaRPr lang="en-US" sz="1300" dirty="0"/>
          </a:p>
        </p:txBody>
      </p:sp>
      <p:sp>
        <p:nvSpPr>
          <p:cNvPr id="17" name="Text 15"/>
          <p:cNvSpPr/>
          <p:nvPr/>
        </p:nvSpPr>
        <p:spPr>
          <a:xfrm>
            <a:off x="4892040" y="2176272"/>
            <a:ext cx="3840480" cy="2578608"/>
          </a:xfrm>
          <a:prstGeom prst="rect">
            <a:avLst/>
          </a:prstGeom>
          <a:noFill/>
          <a:ln/>
        </p:spPr>
        <p:txBody>
          <a:bodyPr wrap="square" rtlCol="0" anchor="ctr"/>
          <a:lstStyle/>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Passive AI monitoring—zero impact on operational systems</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OT-specific ML models trained on industrial protocol behavior</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Detected TRITON-like anomalies 72 hours before system impact</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Reduced ICS security incident response time by 68%</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Achieved full OT asset inventory in &lt;24 hours via AI discovery</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Modern Cyberthreat Landscape</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26</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Evolving Threats Driving AI Adoption</a:t>
            </a:r>
            <a:endParaRPr lang="en-US" sz="1600" dirty="0"/>
          </a:p>
        </p:txBody>
      </p:sp>
      <p:sp>
        <p:nvSpPr>
          <p:cNvPr id="9" name="Text 7"/>
          <p:cNvSpPr/>
          <p:nvPr/>
        </p:nvSpPr>
        <p:spPr>
          <a:xfrm>
            <a:off x="365760" y="1078992"/>
            <a:ext cx="8412480" cy="594360"/>
          </a:xfrm>
          <a:prstGeom prst="rect">
            <a:avLst/>
          </a:prstGeom>
          <a:noFill/>
          <a:ln/>
        </p:spPr>
        <p:txBody>
          <a:bodyPr wrap="square" rtlCol="0" anchor="ctr"/>
          <a:lstStyle/>
          <a:p>
            <a:pPr marL="0" indent="0">
              <a:buNone/>
            </a:pPr>
            <a:r>
              <a:rPr lang="en-US" sz="1300" dirty="0">
                <a:solidFill>
                  <a:srgbClr val="CAD3E0"/>
                </a:solidFill>
                <a:latin typeface="Calibri" pitchFamily="34" charset="0"/>
                <a:ea typeface="Calibri" pitchFamily="34" charset="-122"/>
                <a:cs typeface="Calibri" pitchFamily="34" charset="-120"/>
              </a:rPr>
              <a:t>The sophistication and volume of cyber threats have grown exponentially, rendering manual analysis and response impossible. Understanding the threat landscape is critical to appreciating AI's transformative role.</a:t>
            </a:r>
            <a:endParaRPr lang="en-US" sz="1300" dirty="0"/>
          </a:p>
        </p:txBody>
      </p:sp>
      <p:sp>
        <p:nvSpPr>
          <p:cNvPr id="10" name="Shape 8"/>
          <p:cNvSpPr/>
          <p:nvPr/>
        </p:nvSpPr>
        <p:spPr>
          <a:xfrm>
            <a:off x="274320" y="1783080"/>
            <a:ext cx="2743200" cy="1325880"/>
          </a:xfrm>
          <a:prstGeom prst="rect">
            <a:avLst/>
          </a:prstGeom>
          <a:solidFill>
            <a:srgbClr val="0D2B55"/>
          </a:solidFill>
          <a:ln w="19050">
            <a:solidFill>
              <a:srgbClr val="EF233C"/>
            </a:solidFill>
            <a:prstDash val="solid"/>
          </a:ln>
          <a:effectLst>
            <a:outerShdw blurRad="101600" dist="38100" dir="8100000" algn="bl" rotWithShape="0">
              <a:srgbClr val="000000">
                <a:alpha val="20000"/>
              </a:srgbClr>
            </a:outerShdw>
          </a:effectLst>
        </p:spPr>
      </p:sp>
      <p:sp>
        <p:nvSpPr>
          <p:cNvPr id="11" name="Shape 9"/>
          <p:cNvSpPr/>
          <p:nvPr/>
        </p:nvSpPr>
        <p:spPr>
          <a:xfrm>
            <a:off x="274320" y="1783080"/>
            <a:ext cx="2743200" cy="54864"/>
          </a:xfrm>
          <a:prstGeom prst="rect">
            <a:avLst/>
          </a:prstGeom>
          <a:solidFill>
            <a:srgbClr val="EF233C"/>
          </a:solidFill>
          <a:ln w="12700">
            <a:solidFill>
              <a:srgbClr val="EF233C"/>
            </a:solidFill>
            <a:prstDash val="solid"/>
          </a:ln>
        </p:spPr>
      </p:sp>
      <p:sp>
        <p:nvSpPr>
          <p:cNvPr id="12" name="Text 10"/>
          <p:cNvSpPr/>
          <p:nvPr/>
        </p:nvSpPr>
        <p:spPr>
          <a:xfrm>
            <a:off x="365760" y="1874520"/>
            <a:ext cx="14630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Ransomware</a:t>
            </a:r>
            <a:endParaRPr lang="en-US" sz="1200" dirty="0"/>
          </a:p>
        </p:txBody>
      </p:sp>
      <p:sp>
        <p:nvSpPr>
          <p:cNvPr id="13" name="Text 11"/>
          <p:cNvSpPr/>
          <p:nvPr/>
        </p:nvSpPr>
        <p:spPr>
          <a:xfrm>
            <a:off x="1847088" y="1856232"/>
            <a:ext cx="1078992" cy="320040"/>
          </a:xfrm>
          <a:prstGeom prst="rect">
            <a:avLst/>
          </a:prstGeom>
          <a:noFill/>
          <a:ln/>
        </p:spPr>
        <p:txBody>
          <a:bodyPr wrap="square" lIns="0" tIns="0" rIns="0" bIns="0" rtlCol="0" anchor="ctr"/>
          <a:lstStyle/>
          <a:p>
            <a:pPr marL="0" indent="0" algn="r">
              <a:buNone/>
            </a:pPr>
            <a:r>
              <a:rPr lang="en-US" sz="2000" b="1" dirty="0">
                <a:solidFill>
                  <a:srgbClr val="EF233C"/>
                </a:solidFill>
                <a:latin typeface="Calibri" pitchFamily="34" charset="0"/>
                <a:ea typeface="Calibri" pitchFamily="34" charset="-122"/>
                <a:cs typeface="Calibri" pitchFamily="34" charset="-120"/>
              </a:rPr>
              <a:t>493M</a:t>
            </a:r>
            <a:endParaRPr lang="en-US" sz="2000" dirty="0"/>
          </a:p>
        </p:txBody>
      </p:sp>
      <p:sp>
        <p:nvSpPr>
          <p:cNvPr id="14" name="Text 12"/>
          <p:cNvSpPr/>
          <p:nvPr/>
        </p:nvSpPr>
        <p:spPr>
          <a:xfrm>
            <a:off x="1847088" y="2185416"/>
            <a:ext cx="1078992" cy="201168"/>
          </a:xfrm>
          <a:prstGeom prst="rect">
            <a:avLst/>
          </a:prstGeom>
          <a:noFill/>
          <a:ln/>
        </p:spPr>
        <p:txBody>
          <a:bodyPr wrap="square" lIns="0" tIns="0" rIns="0" bIns="0" rtlCol="0" anchor="ctr"/>
          <a:lstStyle/>
          <a:p>
            <a:pPr marL="0" indent="0" algn="r">
              <a:buNone/>
            </a:pPr>
            <a:r>
              <a:rPr lang="en-US" sz="900" dirty="0">
                <a:solidFill>
                  <a:srgbClr val="8B9DC3"/>
                </a:solidFill>
                <a:latin typeface="Calibri" pitchFamily="34" charset="0"/>
                <a:ea typeface="Calibri" pitchFamily="34" charset="-122"/>
                <a:cs typeface="Calibri" pitchFamily="34" charset="-120"/>
              </a:rPr>
              <a:t>attacks in 2023</a:t>
            </a:r>
            <a:endParaRPr lang="en-US" sz="900" dirty="0"/>
          </a:p>
        </p:txBody>
      </p:sp>
      <p:sp>
        <p:nvSpPr>
          <p:cNvPr id="15" name="Text 13"/>
          <p:cNvSpPr/>
          <p:nvPr/>
        </p:nvSpPr>
        <p:spPr>
          <a:xfrm>
            <a:off x="365760" y="2423160"/>
            <a:ext cx="2560320" cy="658368"/>
          </a:xfrm>
          <a:prstGeom prst="rect">
            <a:avLst/>
          </a:prstGeom>
          <a:noFill/>
          <a:ln/>
        </p:spPr>
        <p:txBody>
          <a:bodyPr wrap="square" lIns="0" tIns="0" rIns="0" bIns="0" rtlCol="0" anchor="ctr"/>
          <a:lstStyle/>
          <a:p>
            <a:pPr marL="0" indent="0">
              <a:buNone/>
            </a:pPr>
            <a:r>
              <a:rPr lang="en-US" sz="1000" dirty="0">
                <a:solidFill>
                  <a:srgbClr val="CAD3E0"/>
                </a:solidFill>
                <a:latin typeface="Calibri" pitchFamily="34" charset="0"/>
                <a:ea typeface="Calibri" pitchFamily="34" charset="-122"/>
                <a:cs typeface="Calibri" pitchFamily="34" charset="-120"/>
              </a:rPr>
              <a:t>AI-powered ransomware now autonomously identifies high-value targets, exfiltrates data before encryption, and negotiates ransoms using chatbots.</a:t>
            </a:r>
            <a:endParaRPr lang="en-US" sz="1000" dirty="0"/>
          </a:p>
        </p:txBody>
      </p:sp>
      <p:sp>
        <p:nvSpPr>
          <p:cNvPr id="16" name="Shape 14"/>
          <p:cNvSpPr/>
          <p:nvPr/>
        </p:nvSpPr>
        <p:spPr>
          <a:xfrm>
            <a:off x="3227832" y="1783080"/>
            <a:ext cx="2743200" cy="1325880"/>
          </a:xfrm>
          <a:prstGeom prst="rect">
            <a:avLst/>
          </a:prstGeom>
          <a:solidFill>
            <a:srgbClr val="0D2B55"/>
          </a:solidFill>
          <a:ln w="19050">
            <a:solidFill>
              <a:srgbClr val="FFD166"/>
            </a:solidFill>
            <a:prstDash val="solid"/>
          </a:ln>
          <a:effectLst>
            <a:outerShdw blurRad="101600" dist="38100" dir="8100000" algn="bl" rotWithShape="0">
              <a:srgbClr val="000000">
                <a:alpha val="20000"/>
              </a:srgbClr>
            </a:outerShdw>
          </a:effectLst>
        </p:spPr>
      </p:sp>
      <p:sp>
        <p:nvSpPr>
          <p:cNvPr id="17" name="Shape 15"/>
          <p:cNvSpPr/>
          <p:nvPr/>
        </p:nvSpPr>
        <p:spPr>
          <a:xfrm>
            <a:off x="3227832" y="1783080"/>
            <a:ext cx="2743200" cy="54864"/>
          </a:xfrm>
          <a:prstGeom prst="rect">
            <a:avLst/>
          </a:prstGeom>
          <a:solidFill>
            <a:srgbClr val="FFD166"/>
          </a:solidFill>
          <a:ln w="12700">
            <a:solidFill>
              <a:srgbClr val="FFD166"/>
            </a:solidFill>
            <a:prstDash val="solid"/>
          </a:ln>
        </p:spPr>
      </p:sp>
      <p:sp>
        <p:nvSpPr>
          <p:cNvPr id="18" name="Text 16"/>
          <p:cNvSpPr/>
          <p:nvPr/>
        </p:nvSpPr>
        <p:spPr>
          <a:xfrm>
            <a:off x="3319272" y="1874520"/>
            <a:ext cx="14630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Phishing</a:t>
            </a:r>
            <a:endParaRPr lang="en-US" sz="1200" dirty="0"/>
          </a:p>
        </p:txBody>
      </p:sp>
      <p:sp>
        <p:nvSpPr>
          <p:cNvPr id="19" name="Text 17"/>
          <p:cNvSpPr/>
          <p:nvPr/>
        </p:nvSpPr>
        <p:spPr>
          <a:xfrm>
            <a:off x="4800600" y="1856232"/>
            <a:ext cx="1078992" cy="320040"/>
          </a:xfrm>
          <a:prstGeom prst="rect">
            <a:avLst/>
          </a:prstGeom>
          <a:noFill/>
          <a:ln/>
        </p:spPr>
        <p:txBody>
          <a:bodyPr wrap="square" lIns="0" tIns="0" rIns="0" bIns="0" rtlCol="0" anchor="ctr"/>
          <a:lstStyle/>
          <a:p>
            <a:pPr marL="0" indent="0" algn="r">
              <a:buNone/>
            </a:pPr>
            <a:r>
              <a:rPr lang="en-US" sz="2000" b="1" dirty="0">
                <a:solidFill>
                  <a:srgbClr val="FFD166"/>
                </a:solidFill>
                <a:latin typeface="Calibri" pitchFamily="34" charset="0"/>
                <a:ea typeface="Calibri" pitchFamily="34" charset="-122"/>
                <a:cs typeface="Calibri" pitchFamily="34" charset="-120"/>
              </a:rPr>
              <a:t>3.4B</a:t>
            </a:r>
            <a:endParaRPr lang="en-US" sz="2000" dirty="0"/>
          </a:p>
        </p:txBody>
      </p:sp>
      <p:sp>
        <p:nvSpPr>
          <p:cNvPr id="20" name="Text 18"/>
          <p:cNvSpPr/>
          <p:nvPr/>
        </p:nvSpPr>
        <p:spPr>
          <a:xfrm>
            <a:off x="4800600" y="2185416"/>
            <a:ext cx="1078992" cy="201168"/>
          </a:xfrm>
          <a:prstGeom prst="rect">
            <a:avLst/>
          </a:prstGeom>
          <a:noFill/>
          <a:ln/>
        </p:spPr>
        <p:txBody>
          <a:bodyPr wrap="square" lIns="0" tIns="0" rIns="0" bIns="0" rtlCol="0" anchor="ctr"/>
          <a:lstStyle/>
          <a:p>
            <a:pPr marL="0" indent="0" algn="r">
              <a:buNone/>
            </a:pPr>
            <a:r>
              <a:rPr lang="en-US" sz="900" dirty="0">
                <a:solidFill>
                  <a:srgbClr val="8B9DC3"/>
                </a:solidFill>
                <a:latin typeface="Calibri" pitchFamily="34" charset="0"/>
                <a:ea typeface="Calibri" pitchFamily="34" charset="-122"/>
                <a:cs typeface="Calibri" pitchFamily="34" charset="-120"/>
              </a:rPr>
              <a:t>emails/day</a:t>
            </a:r>
            <a:endParaRPr lang="en-US" sz="900" dirty="0"/>
          </a:p>
        </p:txBody>
      </p:sp>
      <p:sp>
        <p:nvSpPr>
          <p:cNvPr id="21" name="Text 19"/>
          <p:cNvSpPr/>
          <p:nvPr/>
        </p:nvSpPr>
        <p:spPr>
          <a:xfrm>
            <a:off x="3319272" y="2423160"/>
            <a:ext cx="2560320" cy="658368"/>
          </a:xfrm>
          <a:prstGeom prst="rect">
            <a:avLst/>
          </a:prstGeom>
          <a:noFill/>
          <a:ln/>
        </p:spPr>
        <p:txBody>
          <a:bodyPr wrap="square" lIns="0" tIns="0" rIns="0" bIns="0" rtlCol="0" anchor="ctr"/>
          <a:lstStyle/>
          <a:p>
            <a:pPr marL="0" indent="0">
              <a:buNone/>
            </a:pPr>
            <a:r>
              <a:rPr lang="en-US" sz="1000" dirty="0">
                <a:solidFill>
                  <a:srgbClr val="CAD3E0"/>
                </a:solidFill>
                <a:latin typeface="Calibri" pitchFamily="34" charset="0"/>
                <a:ea typeface="Calibri" pitchFamily="34" charset="-122"/>
                <a:cs typeface="Calibri" pitchFamily="34" charset="-120"/>
              </a:rPr>
              <a:t>Generative AI enables hyper-personalized spear-phishing at scale, synthesizing voice, video, and text to create convincing impersonation attacks.</a:t>
            </a:r>
            <a:endParaRPr lang="en-US" sz="1000" dirty="0"/>
          </a:p>
        </p:txBody>
      </p:sp>
      <p:sp>
        <p:nvSpPr>
          <p:cNvPr id="22" name="Shape 20"/>
          <p:cNvSpPr/>
          <p:nvPr/>
        </p:nvSpPr>
        <p:spPr>
          <a:xfrm>
            <a:off x="6181344" y="1783080"/>
            <a:ext cx="2743200" cy="1325880"/>
          </a:xfrm>
          <a:prstGeom prst="rect">
            <a:avLst/>
          </a:prstGeom>
          <a:solidFill>
            <a:srgbClr val="0D2B55"/>
          </a:solidFill>
          <a:ln w="19050">
            <a:solidFill>
              <a:srgbClr val="00B4D8"/>
            </a:solidFill>
            <a:prstDash val="solid"/>
          </a:ln>
          <a:effectLst>
            <a:outerShdw blurRad="101600" dist="38100" dir="8100000" algn="bl" rotWithShape="0">
              <a:srgbClr val="000000">
                <a:alpha val="20000"/>
              </a:srgbClr>
            </a:outerShdw>
          </a:effectLst>
        </p:spPr>
      </p:sp>
      <p:sp>
        <p:nvSpPr>
          <p:cNvPr id="23" name="Shape 21"/>
          <p:cNvSpPr/>
          <p:nvPr/>
        </p:nvSpPr>
        <p:spPr>
          <a:xfrm>
            <a:off x="6181344" y="1783080"/>
            <a:ext cx="2743200" cy="54864"/>
          </a:xfrm>
          <a:prstGeom prst="rect">
            <a:avLst/>
          </a:prstGeom>
          <a:solidFill>
            <a:srgbClr val="00B4D8"/>
          </a:solidFill>
          <a:ln w="12700">
            <a:solidFill>
              <a:srgbClr val="00B4D8"/>
            </a:solidFill>
            <a:prstDash val="solid"/>
          </a:ln>
        </p:spPr>
      </p:sp>
      <p:sp>
        <p:nvSpPr>
          <p:cNvPr id="24" name="Text 22"/>
          <p:cNvSpPr/>
          <p:nvPr/>
        </p:nvSpPr>
        <p:spPr>
          <a:xfrm>
            <a:off x="6272784" y="1874520"/>
            <a:ext cx="14630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Supply Chain</a:t>
            </a:r>
            <a:endParaRPr lang="en-US" sz="1200" dirty="0"/>
          </a:p>
        </p:txBody>
      </p:sp>
      <p:sp>
        <p:nvSpPr>
          <p:cNvPr id="25" name="Text 23"/>
          <p:cNvSpPr/>
          <p:nvPr/>
        </p:nvSpPr>
        <p:spPr>
          <a:xfrm>
            <a:off x="7754112" y="1856232"/>
            <a:ext cx="1078992" cy="320040"/>
          </a:xfrm>
          <a:prstGeom prst="rect">
            <a:avLst/>
          </a:prstGeom>
          <a:noFill/>
          <a:ln/>
        </p:spPr>
        <p:txBody>
          <a:bodyPr wrap="square" lIns="0" tIns="0" rIns="0" bIns="0" rtlCol="0" anchor="ctr"/>
          <a:lstStyle/>
          <a:p>
            <a:pPr marL="0" indent="0" algn="r">
              <a:buNone/>
            </a:pPr>
            <a:r>
              <a:rPr lang="en-US" sz="2000" b="1" dirty="0">
                <a:solidFill>
                  <a:srgbClr val="00B4D8"/>
                </a:solidFill>
                <a:latin typeface="Calibri" pitchFamily="34" charset="0"/>
                <a:ea typeface="Calibri" pitchFamily="34" charset="-122"/>
                <a:cs typeface="Calibri" pitchFamily="34" charset="-120"/>
              </a:rPr>
              <a:t>245%</a:t>
            </a:r>
            <a:endParaRPr lang="en-US" sz="2000" dirty="0"/>
          </a:p>
        </p:txBody>
      </p:sp>
      <p:sp>
        <p:nvSpPr>
          <p:cNvPr id="26" name="Text 24"/>
          <p:cNvSpPr/>
          <p:nvPr/>
        </p:nvSpPr>
        <p:spPr>
          <a:xfrm>
            <a:off x="7754112" y="2185416"/>
            <a:ext cx="1078992" cy="201168"/>
          </a:xfrm>
          <a:prstGeom prst="rect">
            <a:avLst/>
          </a:prstGeom>
          <a:noFill/>
          <a:ln/>
        </p:spPr>
        <p:txBody>
          <a:bodyPr wrap="square" lIns="0" tIns="0" rIns="0" bIns="0" rtlCol="0" anchor="ctr"/>
          <a:lstStyle/>
          <a:p>
            <a:pPr marL="0" indent="0" algn="r">
              <a:buNone/>
            </a:pPr>
            <a:r>
              <a:rPr lang="en-US" sz="900" dirty="0">
                <a:solidFill>
                  <a:srgbClr val="8B9DC3"/>
                </a:solidFill>
                <a:latin typeface="Calibri" pitchFamily="34" charset="0"/>
                <a:ea typeface="Calibri" pitchFamily="34" charset="-122"/>
                <a:cs typeface="Calibri" pitchFamily="34" charset="-120"/>
              </a:rPr>
              <a:t>increase 2021–23</a:t>
            </a:r>
            <a:endParaRPr lang="en-US" sz="900" dirty="0"/>
          </a:p>
        </p:txBody>
      </p:sp>
      <p:sp>
        <p:nvSpPr>
          <p:cNvPr id="27" name="Text 25"/>
          <p:cNvSpPr/>
          <p:nvPr/>
        </p:nvSpPr>
        <p:spPr>
          <a:xfrm>
            <a:off x="6272784" y="2423160"/>
            <a:ext cx="2560320" cy="658368"/>
          </a:xfrm>
          <a:prstGeom prst="rect">
            <a:avLst/>
          </a:prstGeom>
          <a:noFill/>
          <a:ln/>
        </p:spPr>
        <p:txBody>
          <a:bodyPr wrap="square" lIns="0" tIns="0" rIns="0" bIns="0" rtlCol="0" anchor="ctr"/>
          <a:lstStyle/>
          <a:p>
            <a:pPr marL="0" indent="0">
              <a:buNone/>
            </a:pPr>
            <a:r>
              <a:rPr lang="en-US" sz="1000" dirty="0">
                <a:solidFill>
                  <a:srgbClr val="CAD3E0"/>
                </a:solidFill>
                <a:latin typeface="Calibri" pitchFamily="34" charset="0"/>
                <a:ea typeface="Calibri" pitchFamily="34" charset="-122"/>
                <a:cs typeface="Calibri" pitchFamily="34" charset="-120"/>
              </a:rPr>
              <a:t>Attackers compromise software supply chains (SolarWinds, Log4Shell) to distribute malware across thousands of organizations simultaneously.</a:t>
            </a:r>
            <a:endParaRPr lang="en-US" sz="1000" dirty="0"/>
          </a:p>
        </p:txBody>
      </p:sp>
      <p:sp>
        <p:nvSpPr>
          <p:cNvPr id="28" name="Shape 26"/>
          <p:cNvSpPr/>
          <p:nvPr/>
        </p:nvSpPr>
        <p:spPr>
          <a:xfrm>
            <a:off x="274320" y="3291840"/>
            <a:ext cx="2743200" cy="1325880"/>
          </a:xfrm>
          <a:prstGeom prst="rect">
            <a:avLst/>
          </a:prstGeom>
          <a:solidFill>
            <a:srgbClr val="0D2B55"/>
          </a:solidFill>
          <a:ln w="19050">
            <a:solidFill>
              <a:srgbClr val="06D6A0"/>
            </a:solidFill>
            <a:prstDash val="solid"/>
          </a:ln>
          <a:effectLst>
            <a:outerShdw blurRad="101600" dist="38100" dir="8100000" algn="bl" rotWithShape="0">
              <a:srgbClr val="000000">
                <a:alpha val="20000"/>
              </a:srgbClr>
            </a:outerShdw>
          </a:effectLst>
        </p:spPr>
      </p:sp>
      <p:sp>
        <p:nvSpPr>
          <p:cNvPr id="29" name="Shape 27"/>
          <p:cNvSpPr/>
          <p:nvPr/>
        </p:nvSpPr>
        <p:spPr>
          <a:xfrm>
            <a:off x="274320" y="3291840"/>
            <a:ext cx="2743200" cy="54864"/>
          </a:xfrm>
          <a:prstGeom prst="rect">
            <a:avLst/>
          </a:prstGeom>
          <a:solidFill>
            <a:srgbClr val="06D6A0"/>
          </a:solidFill>
          <a:ln w="12700">
            <a:solidFill>
              <a:srgbClr val="06D6A0"/>
            </a:solidFill>
            <a:prstDash val="solid"/>
          </a:ln>
        </p:spPr>
      </p:sp>
      <p:sp>
        <p:nvSpPr>
          <p:cNvPr id="30" name="Text 28"/>
          <p:cNvSpPr/>
          <p:nvPr/>
        </p:nvSpPr>
        <p:spPr>
          <a:xfrm>
            <a:off x="365760" y="3383280"/>
            <a:ext cx="14630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Zero-Day Exploits</a:t>
            </a:r>
            <a:endParaRPr lang="en-US" sz="1200" dirty="0"/>
          </a:p>
        </p:txBody>
      </p:sp>
      <p:sp>
        <p:nvSpPr>
          <p:cNvPr id="31" name="Text 29"/>
          <p:cNvSpPr/>
          <p:nvPr/>
        </p:nvSpPr>
        <p:spPr>
          <a:xfrm>
            <a:off x="1847088" y="3364992"/>
            <a:ext cx="1078992" cy="320040"/>
          </a:xfrm>
          <a:prstGeom prst="rect">
            <a:avLst/>
          </a:prstGeom>
          <a:noFill/>
          <a:ln/>
        </p:spPr>
        <p:txBody>
          <a:bodyPr wrap="square" lIns="0" tIns="0" rIns="0" bIns="0" rtlCol="0" anchor="ctr"/>
          <a:lstStyle/>
          <a:p>
            <a:pPr marL="0" indent="0" algn="r">
              <a:buNone/>
            </a:pPr>
            <a:r>
              <a:rPr lang="en-US" sz="2000" b="1" dirty="0">
                <a:solidFill>
                  <a:srgbClr val="06D6A0"/>
                </a:solidFill>
                <a:latin typeface="Calibri" pitchFamily="34" charset="0"/>
                <a:ea typeface="Calibri" pitchFamily="34" charset="-122"/>
                <a:cs typeface="Calibri" pitchFamily="34" charset="-120"/>
              </a:rPr>
              <a:t>55</a:t>
            </a:r>
            <a:endParaRPr lang="en-US" sz="2000" dirty="0"/>
          </a:p>
        </p:txBody>
      </p:sp>
      <p:sp>
        <p:nvSpPr>
          <p:cNvPr id="32" name="Text 30"/>
          <p:cNvSpPr/>
          <p:nvPr/>
        </p:nvSpPr>
        <p:spPr>
          <a:xfrm>
            <a:off x="1847088" y="3694176"/>
            <a:ext cx="1078992" cy="201168"/>
          </a:xfrm>
          <a:prstGeom prst="rect">
            <a:avLst/>
          </a:prstGeom>
          <a:noFill/>
          <a:ln/>
        </p:spPr>
        <p:txBody>
          <a:bodyPr wrap="square" lIns="0" tIns="0" rIns="0" bIns="0" rtlCol="0" anchor="ctr"/>
          <a:lstStyle/>
          <a:p>
            <a:pPr marL="0" indent="0" algn="r">
              <a:buNone/>
            </a:pPr>
            <a:r>
              <a:rPr lang="en-US" sz="900" dirty="0">
                <a:solidFill>
                  <a:srgbClr val="8B9DC3"/>
                </a:solidFill>
                <a:latin typeface="Calibri" pitchFamily="34" charset="0"/>
                <a:ea typeface="Calibri" pitchFamily="34" charset="-122"/>
                <a:cs typeface="Calibri" pitchFamily="34" charset="-120"/>
              </a:rPr>
              <a:t>discovered in 2023</a:t>
            </a:r>
            <a:endParaRPr lang="en-US" sz="900" dirty="0"/>
          </a:p>
        </p:txBody>
      </p:sp>
      <p:sp>
        <p:nvSpPr>
          <p:cNvPr id="33" name="Text 31"/>
          <p:cNvSpPr/>
          <p:nvPr/>
        </p:nvSpPr>
        <p:spPr>
          <a:xfrm>
            <a:off x="365760" y="3931920"/>
            <a:ext cx="2560320" cy="658368"/>
          </a:xfrm>
          <a:prstGeom prst="rect">
            <a:avLst/>
          </a:prstGeom>
          <a:noFill/>
          <a:ln/>
        </p:spPr>
        <p:txBody>
          <a:bodyPr wrap="square" lIns="0" tIns="0" rIns="0" bIns="0" rtlCol="0" anchor="ctr"/>
          <a:lstStyle/>
          <a:p>
            <a:pPr marL="0" indent="0">
              <a:buNone/>
            </a:pPr>
            <a:r>
              <a:rPr lang="en-US" sz="1000" dirty="0">
                <a:solidFill>
                  <a:srgbClr val="CAD3E0"/>
                </a:solidFill>
                <a:latin typeface="Calibri" pitchFamily="34" charset="0"/>
                <a:ea typeface="Calibri" pitchFamily="34" charset="-122"/>
                <a:cs typeface="Calibri" pitchFamily="34" charset="-120"/>
              </a:rPr>
              <a:t>Unknown vulnerabilities exploited before patches exist. AI accelerates both discovery (attackers) and detection (defenders) in this arms race.</a:t>
            </a:r>
            <a:endParaRPr lang="en-US" sz="1000" dirty="0"/>
          </a:p>
        </p:txBody>
      </p:sp>
      <p:sp>
        <p:nvSpPr>
          <p:cNvPr id="34" name="Shape 32"/>
          <p:cNvSpPr/>
          <p:nvPr/>
        </p:nvSpPr>
        <p:spPr>
          <a:xfrm>
            <a:off x="3227832" y="3291840"/>
            <a:ext cx="2743200" cy="1325880"/>
          </a:xfrm>
          <a:prstGeom prst="rect">
            <a:avLst/>
          </a:prstGeom>
          <a:solidFill>
            <a:srgbClr val="0D2B55"/>
          </a:solidFill>
          <a:ln w="19050">
            <a:solidFill>
              <a:srgbClr val="9C27B0"/>
            </a:solidFill>
            <a:prstDash val="solid"/>
          </a:ln>
          <a:effectLst>
            <a:outerShdw blurRad="101600" dist="38100" dir="8100000" algn="bl" rotWithShape="0">
              <a:srgbClr val="000000">
                <a:alpha val="20000"/>
              </a:srgbClr>
            </a:outerShdw>
          </a:effectLst>
        </p:spPr>
      </p:sp>
      <p:sp>
        <p:nvSpPr>
          <p:cNvPr id="35" name="Shape 33"/>
          <p:cNvSpPr/>
          <p:nvPr/>
        </p:nvSpPr>
        <p:spPr>
          <a:xfrm>
            <a:off x="3227832" y="3291840"/>
            <a:ext cx="2743200" cy="54864"/>
          </a:xfrm>
          <a:prstGeom prst="rect">
            <a:avLst/>
          </a:prstGeom>
          <a:solidFill>
            <a:srgbClr val="9C27B0"/>
          </a:solidFill>
          <a:ln w="12700">
            <a:solidFill>
              <a:srgbClr val="9C27B0"/>
            </a:solidFill>
            <a:prstDash val="solid"/>
          </a:ln>
        </p:spPr>
      </p:sp>
      <p:sp>
        <p:nvSpPr>
          <p:cNvPr id="36" name="Text 34"/>
          <p:cNvSpPr/>
          <p:nvPr/>
        </p:nvSpPr>
        <p:spPr>
          <a:xfrm>
            <a:off x="3319272" y="3383280"/>
            <a:ext cx="14630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AI-Powered Attacks</a:t>
            </a:r>
            <a:endParaRPr lang="en-US" sz="1200" dirty="0"/>
          </a:p>
        </p:txBody>
      </p:sp>
      <p:sp>
        <p:nvSpPr>
          <p:cNvPr id="37" name="Text 35"/>
          <p:cNvSpPr/>
          <p:nvPr/>
        </p:nvSpPr>
        <p:spPr>
          <a:xfrm>
            <a:off x="4800600" y="3364992"/>
            <a:ext cx="1078992" cy="320040"/>
          </a:xfrm>
          <a:prstGeom prst="rect">
            <a:avLst/>
          </a:prstGeom>
          <a:noFill/>
          <a:ln/>
        </p:spPr>
        <p:txBody>
          <a:bodyPr wrap="square" lIns="0" tIns="0" rIns="0" bIns="0" rtlCol="0" anchor="ctr"/>
          <a:lstStyle/>
          <a:p>
            <a:pPr marL="0" indent="0" algn="r">
              <a:buNone/>
            </a:pPr>
            <a:r>
              <a:rPr lang="en-US" sz="2000" b="1" dirty="0">
                <a:solidFill>
                  <a:srgbClr val="9C27B0"/>
                </a:solidFill>
                <a:latin typeface="Calibri" pitchFamily="34" charset="0"/>
                <a:ea typeface="Calibri" pitchFamily="34" charset="-122"/>
                <a:cs typeface="Calibri" pitchFamily="34" charset="-120"/>
              </a:rPr>
              <a:t>71%</a:t>
            </a:r>
            <a:endParaRPr lang="en-US" sz="2000" dirty="0"/>
          </a:p>
        </p:txBody>
      </p:sp>
      <p:sp>
        <p:nvSpPr>
          <p:cNvPr id="38" name="Text 36"/>
          <p:cNvSpPr/>
          <p:nvPr/>
        </p:nvSpPr>
        <p:spPr>
          <a:xfrm>
            <a:off x="4800600" y="3694176"/>
            <a:ext cx="1078992" cy="201168"/>
          </a:xfrm>
          <a:prstGeom prst="rect">
            <a:avLst/>
          </a:prstGeom>
          <a:noFill/>
          <a:ln/>
        </p:spPr>
        <p:txBody>
          <a:bodyPr wrap="square" lIns="0" tIns="0" rIns="0" bIns="0" rtlCol="0" anchor="ctr"/>
          <a:lstStyle/>
          <a:p>
            <a:pPr marL="0" indent="0" algn="r">
              <a:buNone/>
            </a:pPr>
            <a:r>
              <a:rPr lang="en-US" sz="900" dirty="0">
                <a:solidFill>
                  <a:srgbClr val="8B9DC3"/>
                </a:solidFill>
                <a:latin typeface="Calibri" pitchFamily="34" charset="0"/>
                <a:ea typeface="Calibri" pitchFamily="34" charset="-122"/>
                <a:cs typeface="Calibri" pitchFamily="34" charset="-120"/>
              </a:rPr>
              <a:t>of orgs affected</a:t>
            </a:r>
            <a:endParaRPr lang="en-US" sz="900" dirty="0"/>
          </a:p>
        </p:txBody>
      </p:sp>
      <p:sp>
        <p:nvSpPr>
          <p:cNvPr id="39" name="Text 37"/>
          <p:cNvSpPr/>
          <p:nvPr/>
        </p:nvSpPr>
        <p:spPr>
          <a:xfrm>
            <a:off x="3319272" y="3931920"/>
            <a:ext cx="2560320" cy="658368"/>
          </a:xfrm>
          <a:prstGeom prst="rect">
            <a:avLst/>
          </a:prstGeom>
          <a:noFill/>
          <a:ln/>
        </p:spPr>
        <p:txBody>
          <a:bodyPr wrap="square" lIns="0" tIns="0" rIns="0" bIns="0" rtlCol="0" anchor="ctr"/>
          <a:lstStyle/>
          <a:p>
            <a:pPr marL="0" indent="0">
              <a:buNone/>
            </a:pPr>
            <a:r>
              <a:rPr lang="en-US" sz="1000" dirty="0">
                <a:solidFill>
                  <a:srgbClr val="CAD3E0"/>
                </a:solidFill>
                <a:latin typeface="Calibri" pitchFamily="34" charset="0"/>
                <a:ea typeface="Calibri" pitchFamily="34" charset="-122"/>
                <a:cs typeface="Calibri" pitchFamily="34" charset="-120"/>
              </a:rPr>
              <a:t>FraudGPT and WormGPT on dark web enable script kiddies to launch sophisticated attacks. AI democratizes cybercrime capabilities significantly.</a:t>
            </a:r>
            <a:endParaRPr lang="en-US" sz="1000" dirty="0"/>
          </a:p>
        </p:txBody>
      </p:sp>
      <p:sp>
        <p:nvSpPr>
          <p:cNvPr id="40" name="Shape 38"/>
          <p:cNvSpPr/>
          <p:nvPr/>
        </p:nvSpPr>
        <p:spPr>
          <a:xfrm>
            <a:off x="6181344" y="3291840"/>
            <a:ext cx="2743200" cy="1325880"/>
          </a:xfrm>
          <a:prstGeom prst="rect">
            <a:avLst/>
          </a:prstGeom>
          <a:solidFill>
            <a:srgbClr val="0D2B55"/>
          </a:solidFill>
          <a:ln w="19050">
            <a:solidFill>
              <a:srgbClr val="FF6B35"/>
            </a:solidFill>
            <a:prstDash val="solid"/>
          </a:ln>
          <a:effectLst>
            <a:outerShdw blurRad="101600" dist="38100" dir="8100000" algn="bl" rotWithShape="0">
              <a:srgbClr val="000000">
                <a:alpha val="20000"/>
              </a:srgbClr>
            </a:outerShdw>
          </a:effectLst>
        </p:spPr>
      </p:sp>
      <p:sp>
        <p:nvSpPr>
          <p:cNvPr id="41" name="Shape 39"/>
          <p:cNvSpPr/>
          <p:nvPr/>
        </p:nvSpPr>
        <p:spPr>
          <a:xfrm>
            <a:off x="6181344" y="3291840"/>
            <a:ext cx="2743200" cy="54864"/>
          </a:xfrm>
          <a:prstGeom prst="rect">
            <a:avLst/>
          </a:prstGeom>
          <a:solidFill>
            <a:srgbClr val="FF6B35"/>
          </a:solidFill>
          <a:ln w="12700">
            <a:solidFill>
              <a:srgbClr val="FF6B35"/>
            </a:solidFill>
            <a:prstDash val="solid"/>
          </a:ln>
        </p:spPr>
      </p:sp>
      <p:sp>
        <p:nvSpPr>
          <p:cNvPr id="42" name="Text 40"/>
          <p:cNvSpPr/>
          <p:nvPr/>
        </p:nvSpPr>
        <p:spPr>
          <a:xfrm>
            <a:off x="6272784" y="3383280"/>
            <a:ext cx="14630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Insider Threats</a:t>
            </a:r>
            <a:endParaRPr lang="en-US" sz="1200" dirty="0"/>
          </a:p>
        </p:txBody>
      </p:sp>
      <p:sp>
        <p:nvSpPr>
          <p:cNvPr id="43" name="Text 41"/>
          <p:cNvSpPr/>
          <p:nvPr/>
        </p:nvSpPr>
        <p:spPr>
          <a:xfrm>
            <a:off x="7754112" y="3364992"/>
            <a:ext cx="1078992" cy="320040"/>
          </a:xfrm>
          <a:prstGeom prst="rect">
            <a:avLst/>
          </a:prstGeom>
          <a:noFill/>
          <a:ln/>
        </p:spPr>
        <p:txBody>
          <a:bodyPr wrap="square" lIns="0" tIns="0" rIns="0" bIns="0" rtlCol="0" anchor="ctr"/>
          <a:lstStyle/>
          <a:p>
            <a:pPr marL="0" indent="0" algn="r">
              <a:buNone/>
            </a:pPr>
            <a:r>
              <a:rPr lang="en-US" sz="2000" b="1" dirty="0">
                <a:solidFill>
                  <a:srgbClr val="FF6B35"/>
                </a:solidFill>
                <a:latin typeface="Calibri" pitchFamily="34" charset="0"/>
                <a:ea typeface="Calibri" pitchFamily="34" charset="-122"/>
                <a:cs typeface="Calibri" pitchFamily="34" charset="-120"/>
              </a:rPr>
              <a:t>$15.4M</a:t>
            </a:r>
            <a:endParaRPr lang="en-US" sz="2000" dirty="0"/>
          </a:p>
        </p:txBody>
      </p:sp>
      <p:sp>
        <p:nvSpPr>
          <p:cNvPr id="44" name="Text 42"/>
          <p:cNvSpPr/>
          <p:nvPr/>
        </p:nvSpPr>
        <p:spPr>
          <a:xfrm>
            <a:off x="7754112" y="3694176"/>
            <a:ext cx="1078992" cy="201168"/>
          </a:xfrm>
          <a:prstGeom prst="rect">
            <a:avLst/>
          </a:prstGeom>
          <a:noFill/>
          <a:ln/>
        </p:spPr>
        <p:txBody>
          <a:bodyPr wrap="square" lIns="0" tIns="0" rIns="0" bIns="0" rtlCol="0" anchor="ctr"/>
          <a:lstStyle/>
          <a:p>
            <a:pPr marL="0" indent="0" algn="r">
              <a:buNone/>
            </a:pPr>
            <a:r>
              <a:rPr lang="en-US" sz="900" dirty="0">
                <a:solidFill>
                  <a:srgbClr val="8B9DC3"/>
                </a:solidFill>
                <a:latin typeface="Calibri" pitchFamily="34" charset="0"/>
                <a:ea typeface="Calibri" pitchFamily="34" charset="-122"/>
                <a:cs typeface="Calibri" pitchFamily="34" charset="-120"/>
              </a:rPr>
              <a:t>avg annual cost</a:t>
            </a:r>
            <a:endParaRPr lang="en-US" sz="900" dirty="0"/>
          </a:p>
        </p:txBody>
      </p:sp>
      <p:sp>
        <p:nvSpPr>
          <p:cNvPr id="45" name="Text 43"/>
          <p:cNvSpPr/>
          <p:nvPr/>
        </p:nvSpPr>
        <p:spPr>
          <a:xfrm>
            <a:off x="6272784" y="3931920"/>
            <a:ext cx="2560320" cy="658368"/>
          </a:xfrm>
          <a:prstGeom prst="rect">
            <a:avLst/>
          </a:prstGeom>
          <a:noFill/>
          <a:ln/>
        </p:spPr>
        <p:txBody>
          <a:bodyPr wrap="square" lIns="0" tIns="0" rIns="0" bIns="0" rtlCol="0" anchor="ctr"/>
          <a:lstStyle/>
          <a:p>
            <a:pPr marL="0" indent="0">
              <a:buNone/>
            </a:pPr>
            <a:r>
              <a:rPr lang="en-US" sz="1000" dirty="0">
                <a:solidFill>
                  <a:srgbClr val="CAD3E0"/>
                </a:solidFill>
                <a:latin typeface="Calibri" pitchFamily="34" charset="0"/>
                <a:ea typeface="Calibri" pitchFamily="34" charset="-122"/>
                <a:cs typeface="Calibri" pitchFamily="34" charset="-120"/>
              </a:rPr>
              <a:t>Malicious or negligent insiders with privileged access pose extreme risks. AI behavioral analytics detects subtle indicators months before data exfiltration.</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Challenges in Deploying AI for Cybersecurity</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27</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Key Barriers to AI-Powered Security Adoption</a:t>
            </a:r>
            <a:endParaRPr lang="en-US" sz="1600" dirty="0"/>
          </a:p>
        </p:txBody>
      </p:sp>
      <p:sp>
        <p:nvSpPr>
          <p:cNvPr id="9" name="Shape 7"/>
          <p:cNvSpPr/>
          <p:nvPr/>
        </p:nvSpPr>
        <p:spPr>
          <a:xfrm>
            <a:off x="274320" y="1115568"/>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0" name="Shape 8"/>
          <p:cNvSpPr/>
          <p:nvPr/>
        </p:nvSpPr>
        <p:spPr>
          <a:xfrm>
            <a:off x="274320" y="1115568"/>
            <a:ext cx="566928" cy="658368"/>
          </a:xfrm>
          <a:prstGeom prst="rect">
            <a:avLst/>
          </a:prstGeom>
          <a:solidFill>
            <a:srgbClr val="EF233C"/>
          </a:solidFill>
          <a:ln w="12700">
            <a:solidFill>
              <a:srgbClr val="EF233C"/>
            </a:solidFill>
            <a:prstDash val="solid"/>
          </a:ln>
        </p:spPr>
      </p:sp>
      <p:sp>
        <p:nvSpPr>
          <p:cNvPr id="11" name="Text 9"/>
          <p:cNvSpPr/>
          <p:nvPr/>
        </p:nvSpPr>
        <p:spPr>
          <a:xfrm>
            <a:off x="274320" y="1115568"/>
            <a:ext cx="566928" cy="65836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2" name="Text 10"/>
          <p:cNvSpPr/>
          <p:nvPr/>
        </p:nvSpPr>
        <p:spPr>
          <a:xfrm>
            <a:off x="914400" y="1179576"/>
            <a:ext cx="22860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Adversarial Machine Learning</a:t>
            </a:r>
            <a:endParaRPr lang="en-US" sz="1200" dirty="0"/>
          </a:p>
        </p:txBody>
      </p:sp>
      <p:sp>
        <p:nvSpPr>
          <p:cNvPr id="13" name="Text 11"/>
          <p:cNvSpPr/>
          <p:nvPr/>
        </p:nvSpPr>
        <p:spPr>
          <a:xfrm>
            <a:off x="914400" y="1481328"/>
            <a:ext cx="786384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Attackers craft adversarial examples — imperceptible modifications to inputs — that fool AI models. Evasion attacks can cause malware to bypass ML-based AV with simple code obfuscations. Robustness research lags behind attacker capabilities.</a:t>
            </a:r>
            <a:endParaRPr lang="en-US" sz="1100" dirty="0"/>
          </a:p>
        </p:txBody>
      </p:sp>
      <p:sp>
        <p:nvSpPr>
          <p:cNvPr id="14" name="Shape 12"/>
          <p:cNvSpPr/>
          <p:nvPr/>
        </p:nvSpPr>
        <p:spPr>
          <a:xfrm>
            <a:off x="274320" y="1874520"/>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5" name="Shape 13"/>
          <p:cNvSpPr/>
          <p:nvPr/>
        </p:nvSpPr>
        <p:spPr>
          <a:xfrm>
            <a:off x="274320" y="1874520"/>
            <a:ext cx="566928" cy="658368"/>
          </a:xfrm>
          <a:prstGeom prst="rect">
            <a:avLst/>
          </a:prstGeom>
          <a:solidFill>
            <a:srgbClr val="EF233C"/>
          </a:solidFill>
          <a:ln w="12700">
            <a:solidFill>
              <a:srgbClr val="EF233C"/>
            </a:solidFill>
            <a:prstDash val="solid"/>
          </a:ln>
        </p:spPr>
      </p:sp>
      <p:sp>
        <p:nvSpPr>
          <p:cNvPr id="16" name="Text 14"/>
          <p:cNvSpPr/>
          <p:nvPr/>
        </p:nvSpPr>
        <p:spPr>
          <a:xfrm>
            <a:off x="274320" y="1874520"/>
            <a:ext cx="566928" cy="65836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7" name="Text 15"/>
          <p:cNvSpPr/>
          <p:nvPr/>
        </p:nvSpPr>
        <p:spPr>
          <a:xfrm>
            <a:off x="914400" y="1938528"/>
            <a:ext cx="22860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 Quality &amp; Scarcity</a:t>
            </a:r>
            <a:endParaRPr lang="en-US" sz="1200" dirty="0"/>
          </a:p>
        </p:txBody>
      </p:sp>
      <p:sp>
        <p:nvSpPr>
          <p:cNvPr id="18" name="Text 16"/>
          <p:cNvSpPr/>
          <p:nvPr/>
        </p:nvSpPr>
        <p:spPr>
          <a:xfrm>
            <a:off x="914400" y="2240280"/>
            <a:ext cx="786384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ML models require large, labeled datasets of attack traffic. Real-world attack data is rare, imbalanced, and rapidly obsolete. Synthetic data generation helps but may not represent novel attack vectors accurately.</a:t>
            </a:r>
            <a:endParaRPr lang="en-US" sz="1100" dirty="0"/>
          </a:p>
        </p:txBody>
      </p:sp>
      <p:sp>
        <p:nvSpPr>
          <p:cNvPr id="19" name="Shape 17"/>
          <p:cNvSpPr/>
          <p:nvPr/>
        </p:nvSpPr>
        <p:spPr>
          <a:xfrm>
            <a:off x="274320" y="2633472"/>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0" name="Shape 18"/>
          <p:cNvSpPr/>
          <p:nvPr/>
        </p:nvSpPr>
        <p:spPr>
          <a:xfrm>
            <a:off x="274320" y="2633472"/>
            <a:ext cx="566928" cy="658368"/>
          </a:xfrm>
          <a:prstGeom prst="rect">
            <a:avLst/>
          </a:prstGeom>
          <a:solidFill>
            <a:srgbClr val="EF233C"/>
          </a:solidFill>
          <a:ln w="12700">
            <a:solidFill>
              <a:srgbClr val="EF233C"/>
            </a:solidFill>
            <a:prstDash val="solid"/>
          </a:ln>
        </p:spPr>
      </p:sp>
      <p:sp>
        <p:nvSpPr>
          <p:cNvPr id="21" name="Text 19"/>
          <p:cNvSpPr/>
          <p:nvPr/>
        </p:nvSpPr>
        <p:spPr>
          <a:xfrm>
            <a:off x="274320" y="2633472"/>
            <a:ext cx="566928" cy="65836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2" name="Text 20"/>
          <p:cNvSpPr/>
          <p:nvPr/>
        </p:nvSpPr>
        <p:spPr>
          <a:xfrm>
            <a:off x="914400" y="2697480"/>
            <a:ext cx="22860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High False Positive Rates</a:t>
            </a:r>
            <a:endParaRPr lang="en-US" sz="1200" dirty="0"/>
          </a:p>
        </p:txBody>
      </p:sp>
      <p:sp>
        <p:nvSpPr>
          <p:cNvPr id="23" name="Text 21"/>
          <p:cNvSpPr/>
          <p:nvPr/>
        </p:nvSpPr>
        <p:spPr>
          <a:xfrm>
            <a:off x="914400" y="2999232"/>
            <a:ext cx="786384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Overly sensitive AI models generate excessive false positives, causing alert fatigue. Security teams learn to ignore alerts, reducing the effectiveness of even legitimate detections — the 'cry wolf' problem.</a:t>
            </a:r>
            <a:endParaRPr lang="en-US" sz="1100" dirty="0"/>
          </a:p>
        </p:txBody>
      </p:sp>
      <p:sp>
        <p:nvSpPr>
          <p:cNvPr id="24" name="Shape 22"/>
          <p:cNvSpPr/>
          <p:nvPr/>
        </p:nvSpPr>
        <p:spPr>
          <a:xfrm>
            <a:off x="274320" y="3392424"/>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5" name="Shape 23"/>
          <p:cNvSpPr/>
          <p:nvPr/>
        </p:nvSpPr>
        <p:spPr>
          <a:xfrm>
            <a:off x="274320" y="3392424"/>
            <a:ext cx="566928" cy="658368"/>
          </a:xfrm>
          <a:prstGeom prst="rect">
            <a:avLst/>
          </a:prstGeom>
          <a:solidFill>
            <a:srgbClr val="EF233C"/>
          </a:solidFill>
          <a:ln w="12700">
            <a:solidFill>
              <a:srgbClr val="EF233C"/>
            </a:solidFill>
            <a:prstDash val="solid"/>
          </a:ln>
        </p:spPr>
      </p:sp>
      <p:sp>
        <p:nvSpPr>
          <p:cNvPr id="26" name="Text 24"/>
          <p:cNvSpPr/>
          <p:nvPr/>
        </p:nvSpPr>
        <p:spPr>
          <a:xfrm>
            <a:off x="274320" y="3392424"/>
            <a:ext cx="566928" cy="65836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7" name="Text 25"/>
          <p:cNvSpPr/>
          <p:nvPr/>
        </p:nvSpPr>
        <p:spPr>
          <a:xfrm>
            <a:off x="914400" y="3456432"/>
            <a:ext cx="22860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Explainability (XAI)</a:t>
            </a:r>
            <a:endParaRPr lang="en-US" sz="1200" dirty="0"/>
          </a:p>
        </p:txBody>
      </p:sp>
      <p:sp>
        <p:nvSpPr>
          <p:cNvPr id="28" name="Text 26"/>
          <p:cNvSpPr/>
          <p:nvPr/>
        </p:nvSpPr>
        <p:spPr>
          <a:xfrm>
            <a:off x="914400" y="3758184"/>
            <a:ext cx="786384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Deep learning models are 'black boxes.' Analysts cannot explain why a decision was made, making compliance, forensic investigations, and model trust difficult. GDPR requires explainable automated decisions.</a:t>
            </a:r>
            <a:endParaRPr lang="en-US" sz="1100" dirty="0"/>
          </a:p>
        </p:txBody>
      </p:sp>
      <p:sp>
        <p:nvSpPr>
          <p:cNvPr id="29" name="Shape 27"/>
          <p:cNvSpPr/>
          <p:nvPr/>
        </p:nvSpPr>
        <p:spPr>
          <a:xfrm>
            <a:off x="274320" y="4151376"/>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30" name="Shape 28"/>
          <p:cNvSpPr/>
          <p:nvPr/>
        </p:nvSpPr>
        <p:spPr>
          <a:xfrm>
            <a:off x="274320" y="4151376"/>
            <a:ext cx="566928" cy="658368"/>
          </a:xfrm>
          <a:prstGeom prst="rect">
            <a:avLst/>
          </a:prstGeom>
          <a:solidFill>
            <a:srgbClr val="EF233C"/>
          </a:solidFill>
          <a:ln w="12700">
            <a:solidFill>
              <a:srgbClr val="EF233C"/>
            </a:solidFill>
            <a:prstDash val="solid"/>
          </a:ln>
        </p:spPr>
      </p:sp>
      <p:sp>
        <p:nvSpPr>
          <p:cNvPr id="31" name="Text 29"/>
          <p:cNvSpPr/>
          <p:nvPr/>
        </p:nvSpPr>
        <p:spPr>
          <a:xfrm>
            <a:off x="274320" y="4151376"/>
            <a:ext cx="566928" cy="65836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32" name="Text 30"/>
          <p:cNvSpPr/>
          <p:nvPr/>
        </p:nvSpPr>
        <p:spPr>
          <a:xfrm>
            <a:off x="914400" y="4215384"/>
            <a:ext cx="22860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Skill Gap &amp; Integration</a:t>
            </a:r>
            <a:endParaRPr lang="en-US" sz="1200" dirty="0"/>
          </a:p>
        </p:txBody>
      </p:sp>
      <p:sp>
        <p:nvSpPr>
          <p:cNvPr id="33" name="Text 31"/>
          <p:cNvSpPr/>
          <p:nvPr/>
        </p:nvSpPr>
        <p:spPr>
          <a:xfrm>
            <a:off x="914400" y="4517136"/>
            <a:ext cx="786384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Deploying AI security tools requires expertise combining cybersecurity knowledge with data science skills — a rare combination. Integration with legacy SIEM, SOAR, and ticketing systems adds complexity.</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Ethical &amp; Privacy Considerations in AI Security</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28</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Balancing Security with Civil Liberties</a:t>
            </a:r>
            <a:endParaRPr lang="en-US" sz="1600" dirty="0"/>
          </a:p>
        </p:txBody>
      </p:sp>
      <p:sp>
        <p:nvSpPr>
          <p:cNvPr id="9" name="Shape 7"/>
          <p:cNvSpPr/>
          <p:nvPr/>
        </p:nvSpPr>
        <p:spPr>
          <a:xfrm>
            <a:off x="274320" y="1143000"/>
            <a:ext cx="4206240" cy="16002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0" name="Text 8"/>
          <p:cNvSpPr/>
          <p:nvPr/>
        </p:nvSpPr>
        <p:spPr>
          <a:xfrm>
            <a:off x="274320" y="1280160"/>
            <a:ext cx="777240" cy="13258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1" name="Text 9"/>
          <p:cNvSpPr/>
          <p:nvPr/>
        </p:nvSpPr>
        <p:spPr>
          <a:xfrm>
            <a:off x="1097280" y="1280160"/>
            <a:ext cx="3246120" cy="32004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Privacy vs. Security</a:t>
            </a:r>
            <a:endParaRPr lang="en-US" sz="1300" dirty="0"/>
          </a:p>
        </p:txBody>
      </p:sp>
      <p:sp>
        <p:nvSpPr>
          <p:cNvPr id="12" name="Text 10"/>
          <p:cNvSpPr/>
          <p:nvPr/>
        </p:nvSpPr>
        <p:spPr>
          <a:xfrm>
            <a:off x="1097280" y="1645920"/>
            <a:ext cx="3246120" cy="105156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AI security tools often require deep inspection of personal communications, behavioral data, and network activities. Organizations must balance threat detection effectiveness with employee and user privacy rights under GDPR, CCPA, and other regulations.</a:t>
            </a:r>
            <a:endParaRPr lang="en-US" sz="1100" dirty="0"/>
          </a:p>
        </p:txBody>
      </p:sp>
      <p:sp>
        <p:nvSpPr>
          <p:cNvPr id="13" name="Shape 11"/>
          <p:cNvSpPr/>
          <p:nvPr/>
        </p:nvSpPr>
        <p:spPr>
          <a:xfrm>
            <a:off x="4754880" y="1143000"/>
            <a:ext cx="4206240" cy="16002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4" name="Text 12"/>
          <p:cNvSpPr/>
          <p:nvPr/>
        </p:nvSpPr>
        <p:spPr>
          <a:xfrm>
            <a:off x="4754880" y="1280160"/>
            <a:ext cx="777240" cy="13258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5" name="Text 13"/>
          <p:cNvSpPr/>
          <p:nvPr/>
        </p:nvSpPr>
        <p:spPr>
          <a:xfrm>
            <a:off x="5577840" y="1280160"/>
            <a:ext cx="3246120" cy="32004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Algorithmic Bias</a:t>
            </a:r>
            <a:endParaRPr lang="en-US" sz="1300" dirty="0"/>
          </a:p>
        </p:txBody>
      </p:sp>
      <p:sp>
        <p:nvSpPr>
          <p:cNvPr id="16" name="Text 14"/>
          <p:cNvSpPr/>
          <p:nvPr/>
        </p:nvSpPr>
        <p:spPr>
          <a:xfrm>
            <a:off x="5577840" y="1645920"/>
            <a:ext cx="3246120" cy="105156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AI trained on historical security data may perpetuate biases, flagging certain user groups (geography, device type, behavior patterns) disproportionately. Biased security AI can create discriminatory access barriers or overlooked threats.</a:t>
            </a:r>
            <a:endParaRPr lang="en-US" sz="1100" dirty="0"/>
          </a:p>
        </p:txBody>
      </p:sp>
      <p:sp>
        <p:nvSpPr>
          <p:cNvPr id="17" name="Shape 15"/>
          <p:cNvSpPr/>
          <p:nvPr/>
        </p:nvSpPr>
        <p:spPr>
          <a:xfrm>
            <a:off x="274320" y="2971800"/>
            <a:ext cx="4206240" cy="16002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8" name="Text 16"/>
          <p:cNvSpPr/>
          <p:nvPr/>
        </p:nvSpPr>
        <p:spPr>
          <a:xfrm>
            <a:off x="274320" y="3108960"/>
            <a:ext cx="777240" cy="13258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9" name="Text 17"/>
          <p:cNvSpPr/>
          <p:nvPr/>
        </p:nvSpPr>
        <p:spPr>
          <a:xfrm>
            <a:off x="1097280" y="3108960"/>
            <a:ext cx="3246120" cy="32004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Accountability &amp; Autonomy</a:t>
            </a:r>
            <a:endParaRPr lang="en-US" sz="1300" dirty="0"/>
          </a:p>
        </p:txBody>
      </p:sp>
      <p:sp>
        <p:nvSpPr>
          <p:cNvPr id="20" name="Text 18"/>
          <p:cNvSpPr/>
          <p:nvPr/>
        </p:nvSpPr>
        <p:spPr>
          <a:xfrm>
            <a:off x="1097280" y="3474720"/>
            <a:ext cx="3246120" cy="105156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When AI autonomously blocks access or isolates systems, who is accountable for errors? Autonomous response systems require clear governance frameworks, override mechanisms, and documented decision audit trails.</a:t>
            </a:r>
            <a:endParaRPr lang="en-US" sz="1100" dirty="0"/>
          </a:p>
        </p:txBody>
      </p:sp>
      <p:sp>
        <p:nvSpPr>
          <p:cNvPr id="21" name="Shape 19"/>
          <p:cNvSpPr/>
          <p:nvPr/>
        </p:nvSpPr>
        <p:spPr>
          <a:xfrm>
            <a:off x="4754880" y="2971800"/>
            <a:ext cx="4206240" cy="160020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2" name="Text 20"/>
          <p:cNvSpPr/>
          <p:nvPr/>
        </p:nvSpPr>
        <p:spPr>
          <a:xfrm>
            <a:off x="4754880" y="3108960"/>
            <a:ext cx="777240" cy="13258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3" name="Text 21"/>
          <p:cNvSpPr/>
          <p:nvPr/>
        </p:nvSpPr>
        <p:spPr>
          <a:xfrm>
            <a:off x="5577840" y="3108960"/>
            <a:ext cx="3246120" cy="32004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Dual-Use Concerns</a:t>
            </a:r>
            <a:endParaRPr lang="en-US" sz="1300" dirty="0"/>
          </a:p>
        </p:txBody>
      </p:sp>
      <p:sp>
        <p:nvSpPr>
          <p:cNvPr id="24" name="Text 22"/>
          <p:cNvSpPr/>
          <p:nvPr/>
        </p:nvSpPr>
        <p:spPr>
          <a:xfrm>
            <a:off x="5577840" y="3474720"/>
            <a:ext cx="3246120" cy="105156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AI security research — adversarial ML, automated vulnerability discovery, deepfake detection — inherently advances offensive capabilities as well. Responsible disclosure and export control frameworks must evolve alongside the technology.</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AI Arms Race: Offensive vs. Defensive AI</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29</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AI-Versus-AI: The New Cybersecurity Frontier</a:t>
            </a:r>
            <a:endParaRPr lang="en-US" sz="1600" dirty="0"/>
          </a:p>
        </p:txBody>
      </p:sp>
      <p:sp>
        <p:nvSpPr>
          <p:cNvPr id="9" name="Text 7"/>
          <p:cNvSpPr/>
          <p:nvPr/>
        </p:nvSpPr>
        <p:spPr>
          <a:xfrm>
            <a:off x="365760" y="1078992"/>
            <a:ext cx="8412480" cy="594360"/>
          </a:xfrm>
          <a:prstGeom prst="rect">
            <a:avLst/>
          </a:prstGeom>
          <a:noFill/>
          <a:ln/>
        </p:spPr>
        <p:txBody>
          <a:bodyPr wrap="square" rtlCol="0" anchor="ctr"/>
          <a:lstStyle/>
          <a:p>
            <a:pPr marL="0" indent="0">
              <a:buNone/>
            </a:pPr>
            <a:r>
              <a:rPr lang="en-US" sz="1300" dirty="0">
                <a:solidFill>
                  <a:srgbClr val="CAD3E0"/>
                </a:solidFill>
                <a:latin typeface="Calibri" pitchFamily="34" charset="0"/>
                <a:ea typeface="Calibri" pitchFamily="34" charset="-122"/>
                <a:cs typeface="Calibri" pitchFamily="34" charset="-120"/>
              </a:rPr>
              <a:t>The cybersecurity landscape has entered an AI arms race where attackers leverage the same AI technologies as defenders. This creates an asymmetric challenge — attackers only need to succeed once, while defenders must succeed every time.</a:t>
            </a:r>
            <a:endParaRPr lang="en-US" sz="1300" dirty="0"/>
          </a:p>
        </p:txBody>
      </p:sp>
      <p:sp>
        <p:nvSpPr>
          <p:cNvPr id="10" name="Shape 8"/>
          <p:cNvSpPr/>
          <p:nvPr/>
        </p:nvSpPr>
        <p:spPr>
          <a:xfrm>
            <a:off x="274320" y="1783080"/>
            <a:ext cx="4023360" cy="3017520"/>
          </a:xfrm>
          <a:prstGeom prst="rect">
            <a:avLst/>
          </a:prstGeom>
          <a:solidFill>
            <a:srgbClr val="1A0A2E"/>
          </a:solidFill>
          <a:ln w="19050">
            <a:solidFill>
              <a:srgbClr val="EF233C"/>
            </a:solidFill>
            <a:prstDash val="solid"/>
          </a:ln>
          <a:effectLst>
            <a:outerShdw blurRad="101600" dist="38100" dir="8100000" algn="bl" rotWithShape="0">
              <a:srgbClr val="000000">
                <a:alpha val="20000"/>
              </a:srgbClr>
            </a:outerShdw>
          </a:effectLst>
        </p:spPr>
      </p:sp>
      <p:sp>
        <p:nvSpPr>
          <p:cNvPr id="11" name="Shape 9"/>
          <p:cNvSpPr/>
          <p:nvPr/>
        </p:nvSpPr>
        <p:spPr>
          <a:xfrm>
            <a:off x="274320" y="1783080"/>
            <a:ext cx="4023360" cy="411480"/>
          </a:xfrm>
          <a:prstGeom prst="rect">
            <a:avLst/>
          </a:prstGeom>
          <a:solidFill>
            <a:srgbClr val="EF233C"/>
          </a:solidFill>
          <a:ln w="12700">
            <a:solidFill>
              <a:srgbClr val="EF233C"/>
            </a:solidFill>
            <a:prstDash val="solid"/>
          </a:ln>
        </p:spPr>
      </p:sp>
      <p:sp>
        <p:nvSpPr>
          <p:cNvPr id="12" name="Text 10"/>
          <p:cNvSpPr/>
          <p:nvPr/>
        </p:nvSpPr>
        <p:spPr>
          <a:xfrm>
            <a:off x="274320" y="1783080"/>
            <a:ext cx="4023360" cy="4114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OFFENSIVE AI (Attackers)</a:t>
            </a:r>
            <a:endParaRPr lang="en-US" sz="1250" dirty="0"/>
          </a:p>
        </p:txBody>
      </p:sp>
      <p:sp>
        <p:nvSpPr>
          <p:cNvPr id="13" name="Text 11"/>
          <p:cNvSpPr/>
          <p:nvPr/>
        </p:nvSpPr>
        <p:spPr>
          <a:xfrm>
            <a:off x="411480" y="2267712"/>
            <a:ext cx="3749040" cy="2468880"/>
          </a:xfrm>
          <a:prstGeom prst="rect">
            <a:avLst/>
          </a:prstGeom>
          <a:noFill/>
          <a:ln/>
        </p:spPr>
        <p:txBody>
          <a:bodyPr wrap="square" rtlCol="0" anchor="ctr"/>
          <a:lstStyle/>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AI-generated spear-phishing with zero grammatical errors</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Automated vulnerability discovery in target systems</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AI-powered password cracking (neural networks)</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Deepfake voice/video for social engineering fraud</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Adversarial attacks bypassing ML-based security tools</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Autonomous malware that adapts to evade detection</a:t>
            </a:r>
            <a:endParaRPr lang="en-US" sz="1150" dirty="0"/>
          </a:p>
        </p:txBody>
      </p:sp>
      <p:sp>
        <p:nvSpPr>
          <p:cNvPr id="14" name="Shape 12"/>
          <p:cNvSpPr/>
          <p:nvPr/>
        </p:nvSpPr>
        <p:spPr>
          <a:xfrm>
            <a:off x="4846320" y="1783080"/>
            <a:ext cx="4023360" cy="3017520"/>
          </a:xfrm>
          <a:prstGeom prst="rect">
            <a:avLst/>
          </a:prstGeom>
          <a:solidFill>
            <a:srgbClr val="0A2818"/>
          </a:solidFill>
          <a:ln w="19050">
            <a:solidFill>
              <a:srgbClr val="06D6A0"/>
            </a:solidFill>
            <a:prstDash val="solid"/>
          </a:ln>
          <a:effectLst>
            <a:outerShdw blurRad="101600" dist="38100" dir="8100000" algn="bl" rotWithShape="0">
              <a:srgbClr val="000000">
                <a:alpha val="20000"/>
              </a:srgbClr>
            </a:outerShdw>
          </a:effectLst>
        </p:spPr>
      </p:sp>
      <p:sp>
        <p:nvSpPr>
          <p:cNvPr id="15" name="Shape 13"/>
          <p:cNvSpPr/>
          <p:nvPr/>
        </p:nvSpPr>
        <p:spPr>
          <a:xfrm>
            <a:off x="4846320" y="1783080"/>
            <a:ext cx="4023360" cy="411480"/>
          </a:xfrm>
          <a:prstGeom prst="rect">
            <a:avLst/>
          </a:prstGeom>
          <a:solidFill>
            <a:srgbClr val="06D6A0"/>
          </a:solidFill>
          <a:ln w="12700">
            <a:solidFill>
              <a:srgbClr val="06D6A0"/>
            </a:solidFill>
            <a:prstDash val="solid"/>
          </a:ln>
        </p:spPr>
      </p:sp>
      <p:sp>
        <p:nvSpPr>
          <p:cNvPr id="16" name="Text 14"/>
          <p:cNvSpPr/>
          <p:nvPr/>
        </p:nvSpPr>
        <p:spPr>
          <a:xfrm>
            <a:off x="4846320" y="1783080"/>
            <a:ext cx="4023360" cy="411480"/>
          </a:xfrm>
          <a:prstGeom prst="rect">
            <a:avLst/>
          </a:prstGeom>
          <a:noFill/>
          <a:ln/>
        </p:spPr>
        <p:txBody>
          <a:bodyPr wrap="square" rtlCol="0" anchor="ctr"/>
          <a:lstStyle/>
          <a:p>
            <a:pPr marL="0" indent="0" algn="ctr">
              <a:buNone/>
            </a:pPr>
            <a:r>
              <a:rPr lang="en-US" sz="1250" b="1" dirty="0">
                <a:solidFill>
                  <a:srgbClr val="0A1628"/>
                </a:solidFill>
                <a:latin typeface="Calibri" pitchFamily="34" charset="0"/>
                <a:ea typeface="Calibri" pitchFamily="34" charset="-122"/>
                <a:cs typeface="Calibri" pitchFamily="34" charset="-120"/>
              </a:rPr>
              <a:t>DEFENSIVE AI (Defenders)</a:t>
            </a:r>
            <a:endParaRPr lang="en-US" sz="1250" dirty="0"/>
          </a:p>
        </p:txBody>
      </p:sp>
      <p:sp>
        <p:nvSpPr>
          <p:cNvPr id="17" name="Text 15"/>
          <p:cNvSpPr/>
          <p:nvPr/>
        </p:nvSpPr>
        <p:spPr>
          <a:xfrm>
            <a:off x="4983480" y="2267712"/>
            <a:ext cx="3749040" cy="2468880"/>
          </a:xfrm>
          <a:prstGeom prst="rect">
            <a:avLst/>
          </a:prstGeom>
          <a:noFill/>
          <a:ln/>
        </p:spPr>
        <p:txBody>
          <a:bodyPr wrap="square" rtlCol="0" anchor="ctr"/>
          <a:lstStyle/>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AI-powered email analysis detecting deepfakes and BEC</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Automated patch prioritization by AI-predicted exploitability</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Anomaly detection catching unusual authentication patterns</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AI-driven deepfake detection in real-time communications</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Adversarial training making ML security models robust</a:t>
            </a:r>
            <a:endParaRPr lang="en-US" sz="1150" dirty="0"/>
          </a:p>
          <a:p>
            <a:pPr marL="342900" indent="-342900">
              <a:buSzPct val="100000"/>
              <a:buChar char="•"/>
            </a:pPr>
            <a:r>
              <a:rPr lang="en-US" sz="1150" dirty="0">
                <a:solidFill>
                  <a:srgbClr val="CAD3E0"/>
                </a:solidFill>
                <a:latin typeface="Calibri" pitchFamily="34" charset="0"/>
                <a:ea typeface="Calibri" pitchFamily="34" charset="-122"/>
                <a:cs typeface="Calibri" pitchFamily="34" charset="-120"/>
              </a:rPr>
              <a:t>Autonomous cyber deception and honeypot management</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Analysis — Survey Findings Overview</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30</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Primary Research: Key Survey Statistics</a:t>
            </a:r>
            <a:endParaRPr lang="en-US" sz="1600" dirty="0"/>
          </a:p>
        </p:txBody>
      </p:sp>
      <p:sp>
        <p:nvSpPr>
          <p:cNvPr id="9" name="Text 7"/>
          <p:cNvSpPr/>
          <p:nvPr/>
        </p:nvSpPr>
        <p:spPr>
          <a:xfrm>
            <a:off x="365760" y="1078992"/>
            <a:ext cx="8412480" cy="594360"/>
          </a:xfrm>
          <a:prstGeom prst="rect">
            <a:avLst/>
          </a:prstGeom>
          <a:noFill/>
          <a:ln/>
        </p:spPr>
        <p:txBody>
          <a:bodyPr wrap="square" rtlCol="0" anchor="ctr"/>
          <a:lstStyle/>
          <a:p>
            <a:pPr marL="0" indent="0">
              <a:buNone/>
            </a:pPr>
            <a:r>
              <a:rPr lang="en-US" sz="1300" dirty="0">
                <a:solidFill>
                  <a:srgbClr val="CAD3E0"/>
                </a:solidFill>
                <a:latin typeface="Calibri" pitchFamily="34" charset="0"/>
                <a:ea typeface="Calibri" pitchFamily="34" charset="-122"/>
                <a:cs typeface="Calibri" pitchFamily="34" charset="-120"/>
              </a:rPr>
              <a:t>Survey administered to 120 IT security professionals across 30 organizations (Banking, Healthcare, IT Services, Government). Likert-scale responses analyzed using SPSS with thematic coding for qualitative interview data.</a:t>
            </a:r>
            <a:endParaRPr lang="en-US" sz="1300" dirty="0"/>
          </a:p>
        </p:txBody>
      </p:sp>
      <p:sp>
        <p:nvSpPr>
          <p:cNvPr id="10" name="Shape 8"/>
          <p:cNvSpPr/>
          <p:nvPr/>
        </p:nvSpPr>
        <p:spPr>
          <a:xfrm>
            <a:off x="274320" y="1783080"/>
            <a:ext cx="8595360" cy="53035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1" name="Shape 9"/>
          <p:cNvSpPr/>
          <p:nvPr/>
        </p:nvSpPr>
        <p:spPr>
          <a:xfrm>
            <a:off x="274320" y="1783080"/>
            <a:ext cx="1280160" cy="530352"/>
          </a:xfrm>
          <a:prstGeom prst="rect">
            <a:avLst/>
          </a:prstGeom>
          <a:solidFill>
            <a:srgbClr val="0077B6"/>
          </a:solidFill>
          <a:ln w="12700">
            <a:solidFill>
              <a:srgbClr val="0077B6"/>
            </a:solidFill>
            <a:prstDash val="solid"/>
          </a:ln>
        </p:spPr>
      </p:sp>
      <p:sp>
        <p:nvSpPr>
          <p:cNvPr id="12" name="Text 10"/>
          <p:cNvSpPr/>
          <p:nvPr/>
        </p:nvSpPr>
        <p:spPr>
          <a:xfrm>
            <a:off x="274320" y="1783080"/>
            <a:ext cx="1280160" cy="530352"/>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78%</a:t>
            </a:r>
            <a:endParaRPr lang="en-US" sz="2200" dirty="0"/>
          </a:p>
        </p:txBody>
      </p:sp>
      <p:sp>
        <p:nvSpPr>
          <p:cNvPr id="13" name="Text 11"/>
          <p:cNvSpPr/>
          <p:nvPr/>
        </p:nvSpPr>
        <p:spPr>
          <a:xfrm>
            <a:off x="1691640" y="1920240"/>
            <a:ext cx="7086600" cy="274320"/>
          </a:xfrm>
          <a:prstGeom prst="rect">
            <a:avLst/>
          </a:prstGeom>
          <a:noFill/>
          <a:ln/>
        </p:spPr>
        <p:txBody>
          <a:bodyPr wrap="square" lIns="0" tIns="0" rIns="0" bIns="0" rtlCol="0" anchor="ctr"/>
          <a:lstStyle/>
          <a:p>
            <a:pPr marL="0" indent="0">
              <a:buNone/>
            </a:pPr>
            <a:r>
              <a:rPr lang="en-US" sz="1300" dirty="0">
                <a:solidFill>
                  <a:srgbClr val="CAD3E0"/>
                </a:solidFill>
                <a:latin typeface="Calibri" pitchFamily="34" charset="0"/>
                <a:ea typeface="Calibri" pitchFamily="34" charset="-122"/>
                <a:cs typeface="Calibri" pitchFamily="34" charset="-120"/>
              </a:rPr>
              <a:t>of organizations surveyed have deployed at least one AI-powered security tool</a:t>
            </a:r>
            <a:endParaRPr lang="en-US" sz="1300" dirty="0"/>
          </a:p>
        </p:txBody>
      </p:sp>
      <p:sp>
        <p:nvSpPr>
          <p:cNvPr id="14" name="Shape 12"/>
          <p:cNvSpPr/>
          <p:nvPr/>
        </p:nvSpPr>
        <p:spPr>
          <a:xfrm>
            <a:off x="274320" y="2404872"/>
            <a:ext cx="8595360" cy="53035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5" name="Shape 13"/>
          <p:cNvSpPr/>
          <p:nvPr/>
        </p:nvSpPr>
        <p:spPr>
          <a:xfrm>
            <a:off x="274320" y="2404872"/>
            <a:ext cx="1280160" cy="530352"/>
          </a:xfrm>
          <a:prstGeom prst="rect">
            <a:avLst/>
          </a:prstGeom>
          <a:solidFill>
            <a:srgbClr val="0077B6"/>
          </a:solidFill>
          <a:ln w="12700">
            <a:solidFill>
              <a:srgbClr val="0077B6"/>
            </a:solidFill>
            <a:prstDash val="solid"/>
          </a:ln>
        </p:spPr>
      </p:sp>
      <p:sp>
        <p:nvSpPr>
          <p:cNvPr id="16" name="Text 14"/>
          <p:cNvSpPr/>
          <p:nvPr/>
        </p:nvSpPr>
        <p:spPr>
          <a:xfrm>
            <a:off x="274320" y="2404872"/>
            <a:ext cx="1280160" cy="530352"/>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92%</a:t>
            </a:r>
            <a:endParaRPr lang="en-US" sz="2200" dirty="0"/>
          </a:p>
        </p:txBody>
      </p:sp>
      <p:sp>
        <p:nvSpPr>
          <p:cNvPr id="17" name="Text 15"/>
          <p:cNvSpPr/>
          <p:nvPr/>
        </p:nvSpPr>
        <p:spPr>
          <a:xfrm>
            <a:off x="1691640" y="2542032"/>
            <a:ext cx="7086600" cy="274320"/>
          </a:xfrm>
          <a:prstGeom prst="rect">
            <a:avLst/>
          </a:prstGeom>
          <a:noFill/>
          <a:ln/>
        </p:spPr>
        <p:txBody>
          <a:bodyPr wrap="square" lIns="0" tIns="0" rIns="0" bIns="0" rtlCol="0" anchor="ctr"/>
          <a:lstStyle/>
          <a:p>
            <a:pPr marL="0" indent="0">
              <a:buNone/>
            </a:pPr>
            <a:r>
              <a:rPr lang="en-US" sz="1300" dirty="0">
                <a:solidFill>
                  <a:srgbClr val="CAD3E0"/>
                </a:solidFill>
                <a:latin typeface="Calibri" pitchFamily="34" charset="0"/>
                <a:ea typeface="Calibri" pitchFamily="34" charset="-122"/>
                <a:cs typeface="Calibri" pitchFamily="34" charset="-120"/>
              </a:rPr>
              <a:t>of CISOs believe AI is 'critical' or 'very important' for future cybersecurity</a:t>
            </a:r>
            <a:endParaRPr lang="en-US" sz="1300" dirty="0"/>
          </a:p>
        </p:txBody>
      </p:sp>
      <p:sp>
        <p:nvSpPr>
          <p:cNvPr id="18" name="Shape 16"/>
          <p:cNvSpPr/>
          <p:nvPr/>
        </p:nvSpPr>
        <p:spPr>
          <a:xfrm>
            <a:off x="274320" y="3026664"/>
            <a:ext cx="8595360" cy="53035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9" name="Shape 17"/>
          <p:cNvSpPr/>
          <p:nvPr/>
        </p:nvSpPr>
        <p:spPr>
          <a:xfrm>
            <a:off x="274320" y="3026664"/>
            <a:ext cx="1280160" cy="530352"/>
          </a:xfrm>
          <a:prstGeom prst="rect">
            <a:avLst/>
          </a:prstGeom>
          <a:solidFill>
            <a:srgbClr val="0077B6"/>
          </a:solidFill>
          <a:ln w="12700">
            <a:solidFill>
              <a:srgbClr val="0077B6"/>
            </a:solidFill>
            <a:prstDash val="solid"/>
          </a:ln>
        </p:spPr>
      </p:sp>
      <p:sp>
        <p:nvSpPr>
          <p:cNvPr id="20" name="Text 18"/>
          <p:cNvSpPr/>
          <p:nvPr/>
        </p:nvSpPr>
        <p:spPr>
          <a:xfrm>
            <a:off x="274320" y="3026664"/>
            <a:ext cx="1280160" cy="530352"/>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67%</a:t>
            </a:r>
            <a:endParaRPr lang="en-US" sz="2200" dirty="0"/>
          </a:p>
        </p:txBody>
      </p:sp>
      <p:sp>
        <p:nvSpPr>
          <p:cNvPr id="21" name="Text 19"/>
          <p:cNvSpPr/>
          <p:nvPr/>
        </p:nvSpPr>
        <p:spPr>
          <a:xfrm>
            <a:off x="1691640" y="3163824"/>
            <a:ext cx="7086600" cy="274320"/>
          </a:xfrm>
          <a:prstGeom prst="rect">
            <a:avLst/>
          </a:prstGeom>
          <a:noFill/>
          <a:ln/>
        </p:spPr>
        <p:txBody>
          <a:bodyPr wrap="square" lIns="0" tIns="0" rIns="0" bIns="0" rtlCol="0" anchor="ctr"/>
          <a:lstStyle/>
          <a:p>
            <a:pPr marL="0" indent="0">
              <a:buNone/>
            </a:pPr>
            <a:r>
              <a:rPr lang="en-US" sz="1300" dirty="0">
                <a:solidFill>
                  <a:srgbClr val="CAD3E0"/>
                </a:solidFill>
                <a:latin typeface="Calibri" pitchFamily="34" charset="0"/>
                <a:ea typeface="Calibri" pitchFamily="34" charset="-122"/>
                <a:cs typeface="Calibri" pitchFamily="34" charset="-120"/>
              </a:rPr>
              <a:t>reported a significant reduction in successful cyberattacks after AI deployment</a:t>
            </a:r>
            <a:endParaRPr lang="en-US" sz="1300" dirty="0"/>
          </a:p>
        </p:txBody>
      </p:sp>
      <p:sp>
        <p:nvSpPr>
          <p:cNvPr id="22" name="Shape 20"/>
          <p:cNvSpPr/>
          <p:nvPr/>
        </p:nvSpPr>
        <p:spPr>
          <a:xfrm>
            <a:off x="274320" y="3648456"/>
            <a:ext cx="8595360" cy="53035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3" name="Shape 21"/>
          <p:cNvSpPr/>
          <p:nvPr/>
        </p:nvSpPr>
        <p:spPr>
          <a:xfrm>
            <a:off x="274320" y="3648456"/>
            <a:ext cx="1280160" cy="530352"/>
          </a:xfrm>
          <a:prstGeom prst="rect">
            <a:avLst/>
          </a:prstGeom>
          <a:solidFill>
            <a:srgbClr val="0077B6"/>
          </a:solidFill>
          <a:ln w="12700">
            <a:solidFill>
              <a:srgbClr val="0077B6"/>
            </a:solidFill>
            <a:prstDash val="solid"/>
          </a:ln>
        </p:spPr>
      </p:sp>
      <p:sp>
        <p:nvSpPr>
          <p:cNvPr id="24" name="Text 22"/>
          <p:cNvSpPr/>
          <p:nvPr/>
        </p:nvSpPr>
        <p:spPr>
          <a:xfrm>
            <a:off x="274320" y="3648456"/>
            <a:ext cx="1280160" cy="530352"/>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84%</a:t>
            </a:r>
            <a:endParaRPr lang="en-US" sz="2200" dirty="0"/>
          </a:p>
        </p:txBody>
      </p:sp>
      <p:sp>
        <p:nvSpPr>
          <p:cNvPr id="25" name="Text 23"/>
          <p:cNvSpPr/>
          <p:nvPr/>
        </p:nvSpPr>
        <p:spPr>
          <a:xfrm>
            <a:off x="1691640" y="3785616"/>
            <a:ext cx="7086600" cy="274320"/>
          </a:xfrm>
          <a:prstGeom prst="rect">
            <a:avLst/>
          </a:prstGeom>
          <a:noFill/>
          <a:ln/>
        </p:spPr>
        <p:txBody>
          <a:bodyPr wrap="square" lIns="0" tIns="0" rIns="0" bIns="0" rtlCol="0" anchor="ctr"/>
          <a:lstStyle/>
          <a:p>
            <a:pPr marL="0" indent="0">
              <a:buNone/>
            </a:pPr>
            <a:r>
              <a:rPr lang="en-US" sz="1300" dirty="0">
                <a:solidFill>
                  <a:srgbClr val="CAD3E0"/>
                </a:solidFill>
                <a:latin typeface="Calibri" pitchFamily="34" charset="0"/>
                <a:ea typeface="Calibri" pitchFamily="34" charset="-122"/>
                <a:cs typeface="Calibri" pitchFamily="34" charset="-120"/>
              </a:rPr>
              <a:t>cited 'skill shortage' as the primary barrier to deeper AI security adoption</a:t>
            </a:r>
            <a:endParaRPr lang="en-US" sz="1300" dirty="0"/>
          </a:p>
        </p:txBody>
      </p:sp>
      <p:sp>
        <p:nvSpPr>
          <p:cNvPr id="26" name="Shape 24"/>
          <p:cNvSpPr/>
          <p:nvPr/>
        </p:nvSpPr>
        <p:spPr>
          <a:xfrm>
            <a:off x="274320" y="4270248"/>
            <a:ext cx="8595360" cy="53035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7" name="Shape 25"/>
          <p:cNvSpPr/>
          <p:nvPr/>
        </p:nvSpPr>
        <p:spPr>
          <a:xfrm>
            <a:off x="274320" y="4270248"/>
            <a:ext cx="1280160" cy="530352"/>
          </a:xfrm>
          <a:prstGeom prst="rect">
            <a:avLst/>
          </a:prstGeom>
          <a:solidFill>
            <a:srgbClr val="0077B6"/>
          </a:solidFill>
          <a:ln w="12700">
            <a:solidFill>
              <a:srgbClr val="0077B6"/>
            </a:solidFill>
            <a:prstDash val="solid"/>
          </a:ln>
        </p:spPr>
      </p:sp>
      <p:sp>
        <p:nvSpPr>
          <p:cNvPr id="28" name="Text 26"/>
          <p:cNvSpPr/>
          <p:nvPr/>
        </p:nvSpPr>
        <p:spPr>
          <a:xfrm>
            <a:off x="274320" y="4270248"/>
            <a:ext cx="1280160" cy="530352"/>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71%</a:t>
            </a:r>
            <a:endParaRPr lang="en-US" sz="2200" dirty="0"/>
          </a:p>
        </p:txBody>
      </p:sp>
      <p:sp>
        <p:nvSpPr>
          <p:cNvPr id="29" name="Text 27"/>
          <p:cNvSpPr/>
          <p:nvPr/>
        </p:nvSpPr>
        <p:spPr>
          <a:xfrm>
            <a:off x="1691640" y="4407408"/>
            <a:ext cx="7086600" cy="274320"/>
          </a:xfrm>
          <a:prstGeom prst="rect">
            <a:avLst/>
          </a:prstGeom>
          <a:noFill/>
          <a:ln/>
        </p:spPr>
        <p:txBody>
          <a:bodyPr wrap="square" lIns="0" tIns="0" rIns="0" bIns="0" rtlCol="0" anchor="ctr"/>
          <a:lstStyle/>
          <a:p>
            <a:pPr marL="0" indent="0">
              <a:buNone/>
            </a:pPr>
            <a:r>
              <a:rPr lang="en-US" sz="1300" dirty="0">
                <a:solidFill>
                  <a:srgbClr val="CAD3E0"/>
                </a:solidFill>
                <a:latin typeface="Calibri" pitchFamily="34" charset="0"/>
                <a:ea typeface="Calibri" pitchFamily="34" charset="-122"/>
                <a:cs typeface="Calibri" pitchFamily="34" charset="-120"/>
              </a:rPr>
              <a:t>stated AI tools improved analyst productivity by more than 40%</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Analysis — AI Effectiveness by Security Domain</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31</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Comparative Effectiveness Rating (Mean Score, 5-Point Scale)</a:t>
            </a:r>
            <a:endParaRPr lang="en-US" sz="1600" dirty="0"/>
          </a:p>
        </p:txBody>
      </p:sp>
      <p:sp>
        <p:nvSpPr>
          <p:cNvPr id="9" name="Shape 7"/>
          <p:cNvSpPr/>
          <p:nvPr/>
        </p:nvSpPr>
        <p:spPr>
          <a:xfrm>
            <a:off x="274320" y="1115568"/>
            <a:ext cx="8595360" cy="402336"/>
          </a:xfrm>
          <a:prstGeom prst="rect">
            <a:avLst/>
          </a:prstGeom>
          <a:solidFill>
            <a:srgbClr val="0D2B55"/>
          </a:solidFill>
          <a:ln w="6350">
            <a:solidFill>
              <a:srgbClr val="0077B6"/>
            </a:solidFill>
            <a:prstDash val="solid"/>
          </a:ln>
        </p:spPr>
      </p:sp>
      <p:sp>
        <p:nvSpPr>
          <p:cNvPr id="10" name="Text 8"/>
          <p:cNvSpPr/>
          <p:nvPr/>
        </p:nvSpPr>
        <p:spPr>
          <a:xfrm>
            <a:off x="384048" y="1179576"/>
            <a:ext cx="27432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Phishing &amp; Email Security</a:t>
            </a:r>
            <a:endParaRPr lang="en-US" sz="1150" dirty="0"/>
          </a:p>
        </p:txBody>
      </p:sp>
      <p:sp>
        <p:nvSpPr>
          <p:cNvPr id="11" name="Shape 9"/>
          <p:cNvSpPr/>
          <p:nvPr/>
        </p:nvSpPr>
        <p:spPr>
          <a:xfrm>
            <a:off x="3200400" y="1207008"/>
            <a:ext cx="4572000" cy="228600"/>
          </a:xfrm>
          <a:prstGeom prst="rect">
            <a:avLst/>
          </a:prstGeom>
          <a:solidFill>
            <a:srgbClr val="0A2040"/>
          </a:solidFill>
          <a:ln w="12700">
            <a:solidFill>
              <a:srgbClr val="0A2040"/>
            </a:solidFill>
            <a:prstDash val="solid"/>
          </a:ln>
        </p:spPr>
      </p:sp>
      <p:sp>
        <p:nvSpPr>
          <p:cNvPr id="12" name="Shape 10"/>
          <p:cNvSpPr/>
          <p:nvPr/>
        </p:nvSpPr>
        <p:spPr>
          <a:xfrm>
            <a:off x="3200400" y="1207008"/>
            <a:ext cx="4206240" cy="228600"/>
          </a:xfrm>
          <a:prstGeom prst="rect">
            <a:avLst/>
          </a:prstGeom>
          <a:solidFill>
            <a:srgbClr val="06D6A0"/>
          </a:solidFill>
          <a:ln w="12700">
            <a:solidFill>
              <a:srgbClr val="000000"/>
            </a:solidFill>
            <a:prstDash val="solid"/>
          </a:ln>
        </p:spPr>
      </p:sp>
      <p:sp>
        <p:nvSpPr>
          <p:cNvPr id="13" name="Text 11"/>
          <p:cNvSpPr/>
          <p:nvPr/>
        </p:nvSpPr>
        <p:spPr>
          <a:xfrm>
            <a:off x="7863840" y="1179576"/>
            <a:ext cx="731520" cy="274320"/>
          </a:xfrm>
          <a:prstGeom prst="rect">
            <a:avLst/>
          </a:prstGeom>
          <a:noFill/>
          <a:ln/>
        </p:spPr>
        <p:txBody>
          <a:bodyPr wrap="square" lIns="0" tIns="0" rIns="0" bIns="0" rtlCol="0" anchor="ctr"/>
          <a:lstStyle/>
          <a:p>
            <a:pPr marL="0" indent="0" algn="r">
              <a:buNone/>
            </a:pPr>
            <a:r>
              <a:rPr lang="en-US" sz="1150" b="1" dirty="0">
                <a:solidFill>
                  <a:srgbClr val="00B4D8"/>
                </a:solidFill>
                <a:latin typeface="Calibri" pitchFamily="34" charset="0"/>
                <a:ea typeface="Calibri" pitchFamily="34" charset="-122"/>
                <a:cs typeface="Calibri" pitchFamily="34" charset="-120"/>
              </a:rPr>
              <a:t>4.6/5</a:t>
            </a:r>
            <a:endParaRPr lang="en-US" sz="1150" dirty="0"/>
          </a:p>
        </p:txBody>
      </p:sp>
      <p:sp>
        <p:nvSpPr>
          <p:cNvPr id="14" name="Text 12"/>
          <p:cNvSpPr/>
          <p:nvPr/>
        </p:nvSpPr>
        <p:spPr>
          <a:xfrm>
            <a:off x="3218688" y="1408176"/>
            <a:ext cx="4572000" cy="164592"/>
          </a:xfrm>
          <a:prstGeom prst="rect">
            <a:avLst/>
          </a:prstGeom>
          <a:noFill/>
          <a:ln/>
        </p:spPr>
        <p:txBody>
          <a:bodyPr wrap="square" lIns="0" tIns="0" rIns="0" bIns="0" rtlCol="0" anchor="ctr"/>
          <a:lstStyle/>
          <a:p>
            <a:pPr marL="0" indent="0">
              <a:buNone/>
            </a:pPr>
            <a:r>
              <a:rPr lang="en-US" sz="850" dirty="0">
                <a:solidFill>
                  <a:srgbClr val="8B9DC3"/>
                </a:solidFill>
                <a:latin typeface="Calibri" pitchFamily="34" charset="0"/>
                <a:ea typeface="Calibri" pitchFamily="34" charset="-122"/>
                <a:cs typeface="Calibri" pitchFamily="34" charset="-120"/>
              </a:rPr>
              <a:t>Highest rated domain; AI nearly eliminates false positives in mature deployments</a:t>
            </a:r>
            <a:endParaRPr lang="en-US" sz="850" dirty="0"/>
          </a:p>
        </p:txBody>
      </p:sp>
      <p:sp>
        <p:nvSpPr>
          <p:cNvPr id="15" name="Shape 13"/>
          <p:cNvSpPr/>
          <p:nvPr/>
        </p:nvSpPr>
        <p:spPr>
          <a:xfrm>
            <a:off x="274320" y="1591056"/>
            <a:ext cx="8595360" cy="402336"/>
          </a:xfrm>
          <a:prstGeom prst="rect">
            <a:avLst/>
          </a:prstGeom>
          <a:solidFill>
            <a:srgbClr val="0D2B55"/>
          </a:solidFill>
          <a:ln w="6350">
            <a:solidFill>
              <a:srgbClr val="0077B6"/>
            </a:solidFill>
            <a:prstDash val="solid"/>
          </a:ln>
        </p:spPr>
      </p:sp>
      <p:sp>
        <p:nvSpPr>
          <p:cNvPr id="16" name="Text 14"/>
          <p:cNvSpPr/>
          <p:nvPr/>
        </p:nvSpPr>
        <p:spPr>
          <a:xfrm>
            <a:off x="384048" y="1655064"/>
            <a:ext cx="27432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Malware Detection &amp; Analysis</a:t>
            </a:r>
            <a:endParaRPr lang="en-US" sz="1150" dirty="0"/>
          </a:p>
        </p:txBody>
      </p:sp>
      <p:sp>
        <p:nvSpPr>
          <p:cNvPr id="17" name="Shape 15"/>
          <p:cNvSpPr/>
          <p:nvPr/>
        </p:nvSpPr>
        <p:spPr>
          <a:xfrm>
            <a:off x="3200400" y="1682496"/>
            <a:ext cx="4572000" cy="228600"/>
          </a:xfrm>
          <a:prstGeom prst="rect">
            <a:avLst/>
          </a:prstGeom>
          <a:solidFill>
            <a:srgbClr val="0A2040"/>
          </a:solidFill>
          <a:ln w="12700">
            <a:solidFill>
              <a:srgbClr val="0A2040"/>
            </a:solidFill>
            <a:prstDash val="solid"/>
          </a:ln>
        </p:spPr>
      </p:sp>
      <p:sp>
        <p:nvSpPr>
          <p:cNvPr id="18" name="Shape 16"/>
          <p:cNvSpPr/>
          <p:nvPr/>
        </p:nvSpPr>
        <p:spPr>
          <a:xfrm>
            <a:off x="3200400" y="1682496"/>
            <a:ext cx="4023360" cy="228600"/>
          </a:xfrm>
          <a:prstGeom prst="rect">
            <a:avLst/>
          </a:prstGeom>
          <a:solidFill>
            <a:srgbClr val="06D6A0"/>
          </a:solidFill>
          <a:ln w="12700">
            <a:solidFill>
              <a:srgbClr val="000000"/>
            </a:solidFill>
            <a:prstDash val="solid"/>
          </a:ln>
        </p:spPr>
      </p:sp>
      <p:sp>
        <p:nvSpPr>
          <p:cNvPr id="19" name="Text 17"/>
          <p:cNvSpPr/>
          <p:nvPr/>
        </p:nvSpPr>
        <p:spPr>
          <a:xfrm>
            <a:off x="7863840" y="1655064"/>
            <a:ext cx="731520" cy="274320"/>
          </a:xfrm>
          <a:prstGeom prst="rect">
            <a:avLst/>
          </a:prstGeom>
          <a:noFill/>
          <a:ln/>
        </p:spPr>
        <p:txBody>
          <a:bodyPr wrap="square" lIns="0" tIns="0" rIns="0" bIns="0" rtlCol="0" anchor="ctr"/>
          <a:lstStyle/>
          <a:p>
            <a:pPr marL="0" indent="0" algn="r">
              <a:buNone/>
            </a:pPr>
            <a:r>
              <a:rPr lang="en-US" sz="1150" b="1" dirty="0">
                <a:solidFill>
                  <a:srgbClr val="00B4D8"/>
                </a:solidFill>
                <a:latin typeface="Calibri" pitchFamily="34" charset="0"/>
                <a:ea typeface="Calibri" pitchFamily="34" charset="-122"/>
                <a:cs typeface="Calibri" pitchFamily="34" charset="-120"/>
              </a:rPr>
              <a:t>4.4/5</a:t>
            </a:r>
            <a:endParaRPr lang="en-US" sz="1150" dirty="0"/>
          </a:p>
        </p:txBody>
      </p:sp>
      <p:sp>
        <p:nvSpPr>
          <p:cNvPr id="20" name="Text 18"/>
          <p:cNvSpPr/>
          <p:nvPr/>
        </p:nvSpPr>
        <p:spPr>
          <a:xfrm>
            <a:off x="3218688" y="1883664"/>
            <a:ext cx="4572000" cy="164592"/>
          </a:xfrm>
          <a:prstGeom prst="rect">
            <a:avLst/>
          </a:prstGeom>
          <a:noFill/>
          <a:ln/>
        </p:spPr>
        <p:txBody>
          <a:bodyPr wrap="square" lIns="0" tIns="0" rIns="0" bIns="0" rtlCol="0" anchor="ctr"/>
          <a:lstStyle/>
          <a:p>
            <a:pPr marL="0" indent="0">
              <a:buNone/>
            </a:pPr>
            <a:r>
              <a:rPr lang="en-US" sz="850" dirty="0">
                <a:solidFill>
                  <a:srgbClr val="8B9DC3"/>
                </a:solidFill>
                <a:latin typeface="Calibri" pitchFamily="34" charset="0"/>
                <a:ea typeface="Calibri" pitchFamily="34" charset="-122"/>
                <a:cs typeface="Calibri" pitchFamily="34" charset="-120"/>
              </a:rPr>
              <a:t>ML behavioral analysis significantly outperforms signature-based detection</a:t>
            </a:r>
            <a:endParaRPr lang="en-US" sz="850" dirty="0"/>
          </a:p>
        </p:txBody>
      </p:sp>
      <p:sp>
        <p:nvSpPr>
          <p:cNvPr id="21" name="Shape 19"/>
          <p:cNvSpPr/>
          <p:nvPr/>
        </p:nvSpPr>
        <p:spPr>
          <a:xfrm>
            <a:off x="274320" y="2066544"/>
            <a:ext cx="8595360" cy="402336"/>
          </a:xfrm>
          <a:prstGeom prst="rect">
            <a:avLst/>
          </a:prstGeom>
          <a:solidFill>
            <a:srgbClr val="0D2B55"/>
          </a:solidFill>
          <a:ln w="6350">
            <a:solidFill>
              <a:srgbClr val="0077B6"/>
            </a:solidFill>
            <a:prstDash val="solid"/>
          </a:ln>
        </p:spPr>
      </p:sp>
      <p:sp>
        <p:nvSpPr>
          <p:cNvPr id="22" name="Text 20"/>
          <p:cNvSpPr/>
          <p:nvPr/>
        </p:nvSpPr>
        <p:spPr>
          <a:xfrm>
            <a:off x="384048" y="2130552"/>
            <a:ext cx="27432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Network Intrusion Detection</a:t>
            </a:r>
            <a:endParaRPr lang="en-US" sz="1150" dirty="0"/>
          </a:p>
        </p:txBody>
      </p:sp>
      <p:sp>
        <p:nvSpPr>
          <p:cNvPr id="23" name="Shape 21"/>
          <p:cNvSpPr/>
          <p:nvPr/>
        </p:nvSpPr>
        <p:spPr>
          <a:xfrm>
            <a:off x="3200400" y="2157984"/>
            <a:ext cx="4572000" cy="228600"/>
          </a:xfrm>
          <a:prstGeom prst="rect">
            <a:avLst/>
          </a:prstGeom>
          <a:solidFill>
            <a:srgbClr val="0A2040"/>
          </a:solidFill>
          <a:ln w="12700">
            <a:solidFill>
              <a:srgbClr val="0A2040"/>
            </a:solidFill>
            <a:prstDash val="solid"/>
          </a:ln>
        </p:spPr>
      </p:sp>
      <p:sp>
        <p:nvSpPr>
          <p:cNvPr id="24" name="Shape 22"/>
          <p:cNvSpPr/>
          <p:nvPr/>
        </p:nvSpPr>
        <p:spPr>
          <a:xfrm>
            <a:off x="3200400" y="2157984"/>
            <a:ext cx="3840480" cy="228600"/>
          </a:xfrm>
          <a:prstGeom prst="rect">
            <a:avLst/>
          </a:prstGeom>
          <a:solidFill>
            <a:srgbClr val="06D6A0"/>
          </a:solidFill>
          <a:ln w="12700">
            <a:solidFill>
              <a:srgbClr val="000000"/>
            </a:solidFill>
            <a:prstDash val="solid"/>
          </a:ln>
        </p:spPr>
      </p:sp>
      <p:sp>
        <p:nvSpPr>
          <p:cNvPr id="25" name="Text 23"/>
          <p:cNvSpPr/>
          <p:nvPr/>
        </p:nvSpPr>
        <p:spPr>
          <a:xfrm>
            <a:off x="7863840" y="2130552"/>
            <a:ext cx="731520" cy="274320"/>
          </a:xfrm>
          <a:prstGeom prst="rect">
            <a:avLst/>
          </a:prstGeom>
          <a:noFill/>
          <a:ln/>
        </p:spPr>
        <p:txBody>
          <a:bodyPr wrap="square" lIns="0" tIns="0" rIns="0" bIns="0" rtlCol="0" anchor="ctr"/>
          <a:lstStyle/>
          <a:p>
            <a:pPr marL="0" indent="0" algn="r">
              <a:buNone/>
            </a:pPr>
            <a:r>
              <a:rPr lang="en-US" sz="1150" b="1" dirty="0">
                <a:solidFill>
                  <a:srgbClr val="00B4D8"/>
                </a:solidFill>
                <a:latin typeface="Calibri" pitchFamily="34" charset="0"/>
                <a:ea typeface="Calibri" pitchFamily="34" charset="-122"/>
                <a:cs typeface="Calibri" pitchFamily="34" charset="-120"/>
              </a:rPr>
              <a:t>4.2/5</a:t>
            </a:r>
            <a:endParaRPr lang="en-US" sz="1150" dirty="0"/>
          </a:p>
        </p:txBody>
      </p:sp>
      <p:sp>
        <p:nvSpPr>
          <p:cNvPr id="26" name="Text 24"/>
          <p:cNvSpPr/>
          <p:nvPr/>
        </p:nvSpPr>
        <p:spPr>
          <a:xfrm>
            <a:off x="3218688" y="2359152"/>
            <a:ext cx="4572000" cy="164592"/>
          </a:xfrm>
          <a:prstGeom prst="rect">
            <a:avLst/>
          </a:prstGeom>
          <a:noFill/>
          <a:ln/>
        </p:spPr>
        <p:txBody>
          <a:bodyPr wrap="square" lIns="0" tIns="0" rIns="0" bIns="0" rtlCol="0" anchor="ctr"/>
          <a:lstStyle/>
          <a:p>
            <a:pPr marL="0" indent="0">
              <a:buNone/>
            </a:pPr>
            <a:r>
              <a:rPr lang="en-US" sz="850" dirty="0">
                <a:solidFill>
                  <a:srgbClr val="8B9DC3"/>
                </a:solidFill>
                <a:latin typeface="Calibri" pitchFamily="34" charset="0"/>
                <a:ea typeface="Calibri" pitchFamily="34" charset="-122"/>
                <a:cs typeface="Calibri" pitchFamily="34" charset="-120"/>
              </a:rPr>
              <a:t>Effective for known attack patterns; challenges persist with zero-day detection</a:t>
            </a:r>
            <a:endParaRPr lang="en-US" sz="850" dirty="0"/>
          </a:p>
        </p:txBody>
      </p:sp>
      <p:sp>
        <p:nvSpPr>
          <p:cNvPr id="27" name="Shape 25"/>
          <p:cNvSpPr/>
          <p:nvPr/>
        </p:nvSpPr>
        <p:spPr>
          <a:xfrm>
            <a:off x="274320" y="2542032"/>
            <a:ext cx="8595360" cy="402336"/>
          </a:xfrm>
          <a:prstGeom prst="rect">
            <a:avLst/>
          </a:prstGeom>
          <a:solidFill>
            <a:srgbClr val="0D2B55"/>
          </a:solidFill>
          <a:ln w="6350">
            <a:solidFill>
              <a:srgbClr val="0077B6"/>
            </a:solidFill>
            <a:prstDash val="solid"/>
          </a:ln>
        </p:spPr>
      </p:sp>
      <p:sp>
        <p:nvSpPr>
          <p:cNvPr id="28" name="Text 26"/>
          <p:cNvSpPr/>
          <p:nvPr/>
        </p:nvSpPr>
        <p:spPr>
          <a:xfrm>
            <a:off x="384048" y="2606040"/>
            <a:ext cx="27432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User Behavior Analytics</a:t>
            </a:r>
            <a:endParaRPr lang="en-US" sz="1150" dirty="0"/>
          </a:p>
        </p:txBody>
      </p:sp>
      <p:sp>
        <p:nvSpPr>
          <p:cNvPr id="29" name="Shape 27"/>
          <p:cNvSpPr/>
          <p:nvPr/>
        </p:nvSpPr>
        <p:spPr>
          <a:xfrm>
            <a:off x="3200400" y="2633472"/>
            <a:ext cx="4572000" cy="228600"/>
          </a:xfrm>
          <a:prstGeom prst="rect">
            <a:avLst/>
          </a:prstGeom>
          <a:solidFill>
            <a:srgbClr val="0A2040"/>
          </a:solidFill>
          <a:ln w="12700">
            <a:solidFill>
              <a:srgbClr val="0A2040"/>
            </a:solidFill>
            <a:prstDash val="solid"/>
          </a:ln>
        </p:spPr>
      </p:sp>
      <p:sp>
        <p:nvSpPr>
          <p:cNvPr id="30" name="Shape 28"/>
          <p:cNvSpPr/>
          <p:nvPr/>
        </p:nvSpPr>
        <p:spPr>
          <a:xfrm>
            <a:off x="3200400" y="2633472"/>
            <a:ext cx="3749040" cy="228600"/>
          </a:xfrm>
          <a:prstGeom prst="rect">
            <a:avLst/>
          </a:prstGeom>
          <a:solidFill>
            <a:srgbClr val="00B4D8"/>
          </a:solidFill>
          <a:ln w="12700">
            <a:solidFill>
              <a:srgbClr val="000000"/>
            </a:solidFill>
            <a:prstDash val="solid"/>
          </a:ln>
        </p:spPr>
      </p:sp>
      <p:sp>
        <p:nvSpPr>
          <p:cNvPr id="31" name="Text 29"/>
          <p:cNvSpPr/>
          <p:nvPr/>
        </p:nvSpPr>
        <p:spPr>
          <a:xfrm>
            <a:off x="7863840" y="2606040"/>
            <a:ext cx="731520" cy="274320"/>
          </a:xfrm>
          <a:prstGeom prst="rect">
            <a:avLst/>
          </a:prstGeom>
          <a:noFill/>
          <a:ln/>
        </p:spPr>
        <p:txBody>
          <a:bodyPr wrap="square" lIns="0" tIns="0" rIns="0" bIns="0" rtlCol="0" anchor="ctr"/>
          <a:lstStyle/>
          <a:p>
            <a:pPr marL="0" indent="0" algn="r">
              <a:buNone/>
            </a:pPr>
            <a:r>
              <a:rPr lang="en-US" sz="1150" b="1" dirty="0">
                <a:solidFill>
                  <a:srgbClr val="00B4D8"/>
                </a:solidFill>
                <a:latin typeface="Calibri" pitchFamily="34" charset="0"/>
                <a:ea typeface="Calibri" pitchFamily="34" charset="-122"/>
                <a:cs typeface="Calibri" pitchFamily="34" charset="-120"/>
              </a:rPr>
              <a:t>4.1/5</a:t>
            </a:r>
            <a:endParaRPr lang="en-US" sz="1150" dirty="0"/>
          </a:p>
        </p:txBody>
      </p:sp>
      <p:sp>
        <p:nvSpPr>
          <p:cNvPr id="32" name="Text 30"/>
          <p:cNvSpPr/>
          <p:nvPr/>
        </p:nvSpPr>
        <p:spPr>
          <a:xfrm>
            <a:off x="3218688" y="2834640"/>
            <a:ext cx="4572000" cy="164592"/>
          </a:xfrm>
          <a:prstGeom prst="rect">
            <a:avLst/>
          </a:prstGeom>
          <a:noFill/>
          <a:ln/>
        </p:spPr>
        <p:txBody>
          <a:bodyPr wrap="square" lIns="0" tIns="0" rIns="0" bIns="0" rtlCol="0" anchor="ctr"/>
          <a:lstStyle/>
          <a:p>
            <a:pPr marL="0" indent="0">
              <a:buNone/>
            </a:pPr>
            <a:r>
              <a:rPr lang="en-US" sz="850" dirty="0">
                <a:solidFill>
                  <a:srgbClr val="8B9DC3"/>
                </a:solidFill>
                <a:latin typeface="Calibri" pitchFamily="34" charset="0"/>
                <a:ea typeface="Calibri" pitchFamily="34" charset="-122"/>
                <a:cs typeface="Calibri" pitchFamily="34" charset="-120"/>
              </a:rPr>
              <a:t>High value for insider threat detection; privacy implementation concerns noted</a:t>
            </a:r>
            <a:endParaRPr lang="en-US" sz="850" dirty="0"/>
          </a:p>
        </p:txBody>
      </p:sp>
      <p:sp>
        <p:nvSpPr>
          <p:cNvPr id="33" name="Shape 31"/>
          <p:cNvSpPr/>
          <p:nvPr/>
        </p:nvSpPr>
        <p:spPr>
          <a:xfrm>
            <a:off x="274320" y="3017520"/>
            <a:ext cx="8595360" cy="402336"/>
          </a:xfrm>
          <a:prstGeom prst="rect">
            <a:avLst/>
          </a:prstGeom>
          <a:solidFill>
            <a:srgbClr val="0D2B55"/>
          </a:solidFill>
          <a:ln w="6350">
            <a:solidFill>
              <a:srgbClr val="0077B6"/>
            </a:solidFill>
            <a:prstDash val="solid"/>
          </a:ln>
        </p:spPr>
      </p:sp>
      <p:sp>
        <p:nvSpPr>
          <p:cNvPr id="34" name="Text 32"/>
          <p:cNvSpPr/>
          <p:nvPr/>
        </p:nvSpPr>
        <p:spPr>
          <a:xfrm>
            <a:off x="384048" y="3081528"/>
            <a:ext cx="27432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Automated Incident Response</a:t>
            </a:r>
            <a:endParaRPr lang="en-US" sz="1150" dirty="0"/>
          </a:p>
        </p:txBody>
      </p:sp>
      <p:sp>
        <p:nvSpPr>
          <p:cNvPr id="35" name="Shape 33"/>
          <p:cNvSpPr/>
          <p:nvPr/>
        </p:nvSpPr>
        <p:spPr>
          <a:xfrm>
            <a:off x="3200400" y="3108960"/>
            <a:ext cx="4572000" cy="228600"/>
          </a:xfrm>
          <a:prstGeom prst="rect">
            <a:avLst/>
          </a:prstGeom>
          <a:solidFill>
            <a:srgbClr val="0A2040"/>
          </a:solidFill>
          <a:ln w="12700">
            <a:solidFill>
              <a:srgbClr val="0A2040"/>
            </a:solidFill>
            <a:prstDash val="solid"/>
          </a:ln>
        </p:spPr>
      </p:sp>
      <p:sp>
        <p:nvSpPr>
          <p:cNvPr id="36" name="Shape 34"/>
          <p:cNvSpPr/>
          <p:nvPr/>
        </p:nvSpPr>
        <p:spPr>
          <a:xfrm>
            <a:off x="3200400" y="3108960"/>
            <a:ext cx="3566160" cy="228600"/>
          </a:xfrm>
          <a:prstGeom prst="rect">
            <a:avLst/>
          </a:prstGeom>
          <a:solidFill>
            <a:srgbClr val="00B4D8"/>
          </a:solidFill>
          <a:ln w="12700">
            <a:solidFill>
              <a:srgbClr val="000000"/>
            </a:solidFill>
            <a:prstDash val="solid"/>
          </a:ln>
        </p:spPr>
      </p:sp>
      <p:sp>
        <p:nvSpPr>
          <p:cNvPr id="37" name="Text 35"/>
          <p:cNvSpPr/>
          <p:nvPr/>
        </p:nvSpPr>
        <p:spPr>
          <a:xfrm>
            <a:off x="7863840" y="3081528"/>
            <a:ext cx="731520" cy="274320"/>
          </a:xfrm>
          <a:prstGeom prst="rect">
            <a:avLst/>
          </a:prstGeom>
          <a:noFill/>
          <a:ln/>
        </p:spPr>
        <p:txBody>
          <a:bodyPr wrap="square" lIns="0" tIns="0" rIns="0" bIns="0" rtlCol="0" anchor="ctr"/>
          <a:lstStyle/>
          <a:p>
            <a:pPr marL="0" indent="0" algn="r">
              <a:buNone/>
            </a:pPr>
            <a:r>
              <a:rPr lang="en-US" sz="1150" b="1" dirty="0">
                <a:solidFill>
                  <a:srgbClr val="00B4D8"/>
                </a:solidFill>
                <a:latin typeface="Calibri" pitchFamily="34" charset="0"/>
                <a:ea typeface="Calibri" pitchFamily="34" charset="-122"/>
                <a:cs typeface="Calibri" pitchFamily="34" charset="-120"/>
              </a:rPr>
              <a:t>3.9/5</a:t>
            </a:r>
            <a:endParaRPr lang="en-US" sz="1150" dirty="0"/>
          </a:p>
        </p:txBody>
      </p:sp>
      <p:sp>
        <p:nvSpPr>
          <p:cNvPr id="38" name="Text 36"/>
          <p:cNvSpPr/>
          <p:nvPr/>
        </p:nvSpPr>
        <p:spPr>
          <a:xfrm>
            <a:off x="3218688" y="3310128"/>
            <a:ext cx="4572000" cy="164592"/>
          </a:xfrm>
          <a:prstGeom prst="rect">
            <a:avLst/>
          </a:prstGeom>
          <a:noFill/>
          <a:ln/>
        </p:spPr>
        <p:txBody>
          <a:bodyPr wrap="square" lIns="0" tIns="0" rIns="0" bIns="0" rtlCol="0" anchor="ctr"/>
          <a:lstStyle/>
          <a:p>
            <a:pPr marL="0" indent="0">
              <a:buNone/>
            </a:pPr>
            <a:r>
              <a:rPr lang="en-US" sz="850" dirty="0">
                <a:solidFill>
                  <a:srgbClr val="8B9DC3"/>
                </a:solidFill>
                <a:latin typeface="Calibri" pitchFamily="34" charset="0"/>
                <a:ea typeface="Calibri" pitchFamily="34" charset="-122"/>
                <a:cs typeface="Calibri" pitchFamily="34" charset="-120"/>
              </a:rPr>
              <a:t>Strong potential; maturity and trust in autonomous actions still developing</a:t>
            </a:r>
            <a:endParaRPr lang="en-US" sz="850" dirty="0"/>
          </a:p>
        </p:txBody>
      </p:sp>
      <p:sp>
        <p:nvSpPr>
          <p:cNvPr id="39" name="Shape 37"/>
          <p:cNvSpPr/>
          <p:nvPr/>
        </p:nvSpPr>
        <p:spPr>
          <a:xfrm>
            <a:off x="274320" y="3493008"/>
            <a:ext cx="8595360" cy="402336"/>
          </a:xfrm>
          <a:prstGeom prst="rect">
            <a:avLst/>
          </a:prstGeom>
          <a:solidFill>
            <a:srgbClr val="0D2B55"/>
          </a:solidFill>
          <a:ln w="6350">
            <a:solidFill>
              <a:srgbClr val="0077B6"/>
            </a:solidFill>
            <a:prstDash val="solid"/>
          </a:ln>
        </p:spPr>
      </p:sp>
      <p:sp>
        <p:nvSpPr>
          <p:cNvPr id="40" name="Text 38"/>
          <p:cNvSpPr/>
          <p:nvPr/>
        </p:nvSpPr>
        <p:spPr>
          <a:xfrm>
            <a:off x="384048" y="3557016"/>
            <a:ext cx="27432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Vulnerability Management</a:t>
            </a:r>
            <a:endParaRPr lang="en-US" sz="1150" dirty="0"/>
          </a:p>
        </p:txBody>
      </p:sp>
      <p:sp>
        <p:nvSpPr>
          <p:cNvPr id="41" name="Shape 39"/>
          <p:cNvSpPr/>
          <p:nvPr/>
        </p:nvSpPr>
        <p:spPr>
          <a:xfrm>
            <a:off x="3200400" y="3584448"/>
            <a:ext cx="4572000" cy="228600"/>
          </a:xfrm>
          <a:prstGeom prst="rect">
            <a:avLst/>
          </a:prstGeom>
          <a:solidFill>
            <a:srgbClr val="0A2040"/>
          </a:solidFill>
          <a:ln w="12700">
            <a:solidFill>
              <a:srgbClr val="0A2040"/>
            </a:solidFill>
            <a:prstDash val="solid"/>
          </a:ln>
        </p:spPr>
      </p:sp>
      <p:sp>
        <p:nvSpPr>
          <p:cNvPr id="42" name="Shape 40"/>
          <p:cNvSpPr/>
          <p:nvPr/>
        </p:nvSpPr>
        <p:spPr>
          <a:xfrm>
            <a:off x="3200400" y="3584448"/>
            <a:ext cx="3383280" cy="228600"/>
          </a:xfrm>
          <a:prstGeom prst="rect">
            <a:avLst/>
          </a:prstGeom>
          <a:solidFill>
            <a:srgbClr val="00B4D8"/>
          </a:solidFill>
          <a:ln w="12700">
            <a:solidFill>
              <a:srgbClr val="000000"/>
            </a:solidFill>
            <a:prstDash val="solid"/>
          </a:ln>
        </p:spPr>
      </p:sp>
      <p:sp>
        <p:nvSpPr>
          <p:cNvPr id="43" name="Text 41"/>
          <p:cNvSpPr/>
          <p:nvPr/>
        </p:nvSpPr>
        <p:spPr>
          <a:xfrm>
            <a:off x="7863840" y="3557016"/>
            <a:ext cx="731520" cy="274320"/>
          </a:xfrm>
          <a:prstGeom prst="rect">
            <a:avLst/>
          </a:prstGeom>
          <a:noFill/>
          <a:ln/>
        </p:spPr>
        <p:txBody>
          <a:bodyPr wrap="square" lIns="0" tIns="0" rIns="0" bIns="0" rtlCol="0" anchor="ctr"/>
          <a:lstStyle/>
          <a:p>
            <a:pPr marL="0" indent="0" algn="r">
              <a:buNone/>
            </a:pPr>
            <a:r>
              <a:rPr lang="en-US" sz="1150" b="1" dirty="0">
                <a:solidFill>
                  <a:srgbClr val="00B4D8"/>
                </a:solidFill>
                <a:latin typeface="Calibri" pitchFamily="34" charset="0"/>
                <a:ea typeface="Calibri" pitchFamily="34" charset="-122"/>
                <a:cs typeface="Calibri" pitchFamily="34" charset="-120"/>
              </a:rPr>
              <a:t>3.7/5</a:t>
            </a:r>
            <a:endParaRPr lang="en-US" sz="1150" dirty="0"/>
          </a:p>
        </p:txBody>
      </p:sp>
      <p:sp>
        <p:nvSpPr>
          <p:cNvPr id="44" name="Text 42"/>
          <p:cNvSpPr/>
          <p:nvPr/>
        </p:nvSpPr>
        <p:spPr>
          <a:xfrm>
            <a:off x="3218688" y="3785616"/>
            <a:ext cx="4572000" cy="164592"/>
          </a:xfrm>
          <a:prstGeom prst="rect">
            <a:avLst/>
          </a:prstGeom>
          <a:noFill/>
          <a:ln/>
        </p:spPr>
        <p:txBody>
          <a:bodyPr wrap="square" lIns="0" tIns="0" rIns="0" bIns="0" rtlCol="0" anchor="ctr"/>
          <a:lstStyle/>
          <a:p>
            <a:pPr marL="0" indent="0">
              <a:buNone/>
            </a:pPr>
            <a:r>
              <a:rPr lang="en-US" sz="850" dirty="0">
                <a:solidFill>
                  <a:srgbClr val="8B9DC3"/>
                </a:solidFill>
                <a:latin typeface="Calibri" pitchFamily="34" charset="0"/>
                <a:ea typeface="Calibri" pitchFamily="34" charset="-122"/>
                <a:cs typeface="Calibri" pitchFamily="34" charset="-120"/>
              </a:rPr>
              <a:t>AI prioritization effective; full automation of remediation still limited</a:t>
            </a:r>
            <a:endParaRPr lang="en-US" sz="850" dirty="0"/>
          </a:p>
        </p:txBody>
      </p:sp>
      <p:sp>
        <p:nvSpPr>
          <p:cNvPr id="45" name="Shape 43"/>
          <p:cNvSpPr/>
          <p:nvPr/>
        </p:nvSpPr>
        <p:spPr>
          <a:xfrm>
            <a:off x="274320" y="3968496"/>
            <a:ext cx="8595360" cy="402336"/>
          </a:xfrm>
          <a:prstGeom prst="rect">
            <a:avLst/>
          </a:prstGeom>
          <a:solidFill>
            <a:srgbClr val="0D2B55"/>
          </a:solidFill>
          <a:ln w="6350">
            <a:solidFill>
              <a:srgbClr val="0077B6"/>
            </a:solidFill>
            <a:prstDash val="solid"/>
          </a:ln>
        </p:spPr>
      </p:sp>
      <p:sp>
        <p:nvSpPr>
          <p:cNvPr id="46" name="Text 44"/>
          <p:cNvSpPr/>
          <p:nvPr/>
        </p:nvSpPr>
        <p:spPr>
          <a:xfrm>
            <a:off x="384048" y="4032504"/>
            <a:ext cx="27432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Cloud Security Posture</a:t>
            </a:r>
            <a:endParaRPr lang="en-US" sz="1150" dirty="0"/>
          </a:p>
        </p:txBody>
      </p:sp>
      <p:sp>
        <p:nvSpPr>
          <p:cNvPr id="47" name="Shape 45"/>
          <p:cNvSpPr/>
          <p:nvPr/>
        </p:nvSpPr>
        <p:spPr>
          <a:xfrm>
            <a:off x="3200400" y="4059936"/>
            <a:ext cx="4572000" cy="228600"/>
          </a:xfrm>
          <a:prstGeom prst="rect">
            <a:avLst/>
          </a:prstGeom>
          <a:solidFill>
            <a:srgbClr val="0A2040"/>
          </a:solidFill>
          <a:ln w="12700">
            <a:solidFill>
              <a:srgbClr val="0A2040"/>
            </a:solidFill>
            <a:prstDash val="solid"/>
          </a:ln>
        </p:spPr>
      </p:sp>
      <p:sp>
        <p:nvSpPr>
          <p:cNvPr id="48" name="Shape 46"/>
          <p:cNvSpPr/>
          <p:nvPr/>
        </p:nvSpPr>
        <p:spPr>
          <a:xfrm>
            <a:off x="3200400" y="4059936"/>
            <a:ext cx="3200400" cy="228600"/>
          </a:xfrm>
          <a:prstGeom prst="rect">
            <a:avLst/>
          </a:prstGeom>
          <a:solidFill>
            <a:srgbClr val="FFD166"/>
          </a:solidFill>
          <a:ln w="12700">
            <a:solidFill>
              <a:srgbClr val="000000"/>
            </a:solidFill>
            <a:prstDash val="solid"/>
          </a:ln>
        </p:spPr>
      </p:sp>
      <p:sp>
        <p:nvSpPr>
          <p:cNvPr id="49" name="Text 47"/>
          <p:cNvSpPr/>
          <p:nvPr/>
        </p:nvSpPr>
        <p:spPr>
          <a:xfrm>
            <a:off x="7863840" y="4032504"/>
            <a:ext cx="731520" cy="274320"/>
          </a:xfrm>
          <a:prstGeom prst="rect">
            <a:avLst/>
          </a:prstGeom>
          <a:noFill/>
          <a:ln/>
        </p:spPr>
        <p:txBody>
          <a:bodyPr wrap="square" lIns="0" tIns="0" rIns="0" bIns="0" rtlCol="0" anchor="ctr"/>
          <a:lstStyle/>
          <a:p>
            <a:pPr marL="0" indent="0" algn="r">
              <a:buNone/>
            </a:pPr>
            <a:r>
              <a:rPr lang="en-US" sz="1150" b="1" dirty="0">
                <a:solidFill>
                  <a:srgbClr val="00B4D8"/>
                </a:solidFill>
                <a:latin typeface="Calibri" pitchFamily="34" charset="0"/>
                <a:ea typeface="Calibri" pitchFamily="34" charset="-122"/>
                <a:cs typeface="Calibri" pitchFamily="34" charset="-120"/>
              </a:rPr>
              <a:t>3.5/5</a:t>
            </a:r>
            <a:endParaRPr lang="en-US" sz="1150" dirty="0"/>
          </a:p>
        </p:txBody>
      </p:sp>
      <p:sp>
        <p:nvSpPr>
          <p:cNvPr id="50" name="Text 48"/>
          <p:cNvSpPr/>
          <p:nvPr/>
        </p:nvSpPr>
        <p:spPr>
          <a:xfrm>
            <a:off x="3218688" y="4261104"/>
            <a:ext cx="4572000" cy="164592"/>
          </a:xfrm>
          <a:prstGeom prst="rect">
            <a:avLst/>
          </a:prstGeom>
          <a:noFill/>
          <a:ln/>
        </p:spPr>
        <p:txBody>
          <a:bodyPr wrap="square" lIns="0" tIns="0" rIns="0" bIns="0" rtlCol="0" anchor="ctr"/>
          <a:lstStyle/>
          <a:p>
            <a:pPr marL="0" indent="0">
              <a:buNone/>
            </a:pPr>
            <a:r>
              <a:rPr lang="en-US" sz="850" dirty="0">
                <a:solidFill>
                  <a:srgbClr val="8B9DC3"/>
                </a:solidFill>
                <a:latin typeface="Calibri" pitchFamily="34" charset="0"/>
                <a:ea typeface="Calibri" pitchFamily="34" charset="-122"/>
                <a:cs typeface="Calibri" pitchFamily="34" charset="-120"/>
              </a:rPr>
              <a:t>Growing adoption; multi-cloud complexity creates coverage gaps</a:t>
            </a:r>
            <a:endParaRPr lang="en-US" sz="850" dirty="0"/>
          </a:p>
        </p:txBody>
      </p:sp>
      <p:sp>
        <p:nvSpPr>
          <p:cNvPr id="51" name="Shape 49"/>
          <p:cNvSpPr/>
          <p:nvPr/>
        </p:nvSpPr>
        <p:spPr>
          <a:xfrm>
            <a:off x="274320" y="4443984"/>
            <a:ext cx="8595360" cy="402336"/>
          </a:xfrm>
          <a:prstGeom prst="rect">
            <a:avLst/>
          </a:prstGeom>
          <a:solidFill>
            <a:srgbClr val="0D2B55"/>
          </a:solidFill>
          <a:ln w="6350">
            <a:solidFill>
              <a:srgbClr val="0077B6"/>
            </a:solidFill>
            <a:prstDash val="solid"/>
          </a:ln>
        </p:spPr>
      </p:sp>
      <p:sp>
        <p:nvSpPr>
          <p:cNvPr id="52" name="Text 50"/>
          <p:cNvSpPr/>
          <p:nvPr/>
        </p:nvSpPr>
        <p:spPr>
          <a:xfrm>
            <a:off x="384048" y="4507992"/>
            <a:ext cx="27432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ICS/OT Security</a:t>
            </a:r>
            <a:endParaRPr lang="en-US" sz="1150" dirty="0"/>
          </a:p>
        </p:txBody>
      </p:sp>
      <p:sp>
        <p:nvSpPr>
          <p:cNvPr id="53" name="Shape 51"/>
          <p:cNvSpPr/>
          <p:nvPr/>
        </p:nvSpPr>
        <p:spPr>
          <a:xfrm>
            <a:off x="3200400" y="4535424"/>
            <a:ext cx="4572000" cy="228600"/>
          </a:xfrm>
          <a:prstGeom prst="rect">
            <a:avLst/>
          </a:prstGeom>
          <a:solidFill>
            <a:srgbClr val="0A2040"/>
          </a:solidFill>
          <a:ln w="12700">
            <a:solidFill>
              <a:srgbClr val="0A2040"/>
            </a:solidFill>
            <a:prstDash val="solid"/>
          </a:ln>
        </p:spPr>
      </p:sp>
      <p:sp>
        <p:nvSpPr>
          <p:cNvPr id="54" name="Shape 52"/>
          <p:cNvSpPr/>
          <p:nvPr/>
        </p:nvSpPr>
        <p:spPr>
          <a:xfrm>
            <a:off x="3200400" y="4535424"/>
            <a:ext cx="2926080" cy="228600"/>
          </a:xfrm>
          <a:prstGeom prst="rect">
            <a:avLst/>
          </a:prstGeom>
          <a:solidFill>
            <a:srgbClr val="FFD166"/>
          </a:solidFill>
          <a:ln w="12700">
            <a:solidFill>
              <a:srgbClr val="000000"/>
            </a:solidFill>
            <a:prstDash val="solid"/>
          </a:ln>
        </p:spPr>
      </p:sp>
      <p:sp>
        <p:nvSpPr>
          <p:cNvPr id="55" name="Text 53"/>
          <p:cNvSpPr/>
          <p:nvPr/>
        </p:nvSpPr>
        <p:spPr>
          <a:xfrm>
            <a:off x="7863840" y="4507992"/>
            <a:ext cx="731520" cy="274320"/>
          </a:xfrm>
          <a:prstGeom prst="rect">
            <a:avLst/>
          </a:prstGeom>
          <a:noFill/>
          <a:ln/>
        </p:spPr>
        <p:txBody>
          <a:bodyPr wrap="square" lIns="0" tIns="0" rIns="0" bIns="0" rtlCol="0" anchor="ctr"/>
          <a:lstStyle/>
          <a:p>
            <a:pPr marL="0" indent="0" algn="r">
              <a:buNone/>
            </a:pPr>
            <a:r>
              <a:rPr lang="en-US" sz="1150" b="1" dirty="0">
                <a:solidFill>
                  <a:srgbClr val="00B4D8"/>
                </a:solidFill>
                <a:latin typeface="Calibri" pitchFamily="34" charset="0"/>
                <a:ea typeface="Calibri" pitchFamily="34" charset="-122"/>
                <a:cs typeface="Calibri" pitchFamily="34" charset="-120"/>
              </a:rPr>
              <a:t>3.2/5</a:t>
            </a:r>
            <a:endParaRPr lang="en-US" sz="1150" dirty="0"/>
          </a:p>
        </p:txBody>
      </p:sp>
      <p:sp>
        <p:nvSpPr>
          <p:cNvPr id="56" name="Text 54"/>
          <p:cNvSpPr/>
          <p:nvPr/>
        </p:nvSpPr>
        <p:spPr>
          <a:xfrm>
            <a:off x="3218688" y="4736592"/>
            <a:ext cx="4572000" cy="164592"/>
          </a:xfrm>
          <a:prstGeom prst="rect">
            <a:avLst/>
          </a:prstGeom>
          <a:noFill/>
          <a:ln/>
        </p:spPr>
        <p:txBody>
          <a:bodyPr wrap="square" lIns="0" tIns="0" rIns="0" bIns="0" rtlCol="0" anchor="ctr"/>
          <a:lstStyle/>
          <a:p>
            <a:pPr marL="0" indent="0">
              <a:buNone/>
            </a:pPr>
            <a:r>
              <a:rPr lang="en-US" sz="850" dirty="0">
                <a:solidFill>
                  <a:srgbClr val="8B9DC3"/>
                </a:solidFill>
                <a:latin typeface="Calibri" pitchFamily="34" charset="0"/>
                <a:ea typeface="Calibri" pitchFamily="34" charset="-122"/>
                <a:cs typeface="Calibri" pitchFamily="34" charset="-120"/>
              </a:rPr>
              <a:t>Emerging area; specialized models needed; legacy system constraints significant</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Qualitative Analysis — CISO Interview Findings</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32</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Thematic Analysis of 15 CISO Interviews</a:t>
            </a:r>
            <a:endParaRPr lang="en-US" sz="1600" dirty="0"/>
          </a:p>
        </p:txBody>
      </p:sp>
      <p:sp>
        <p:nvSpPr>
          <p:cNvPr id="9" name="Text 7"/>
          <p:cNvSpPr/>
          <p:nvPr/>
        </p:nvSpPr>
        <p:spPr>
          <a:xfrm>
            <a:off x="365760" y="1078992"/>
            <a:ext cx="8412480" cy="594360"/>
          </a:xfrm>
          <a:prstGeom prst="rect">
            <a:avLst/>
          </a:prstGeom>
          <a:noFill/>
          <a:ln/>
        </p:spPr>
        <p:txBody>
          <a:bodyPr wrap="square" rtlCol="0" anchor="ctr"/>
          <a:lstStyle/>
          <a:p>
            <a:pPr marL="0" indent="0">
              <a:buNone/>
            </a:pPr>
            <a:r>
              <a:rPr lang="en-US" sz="1300" dirty="0">
                <a:solidFill>
                  <a:srgbClr val="CAD3E0"/>
                </a:solidFill>
                <a:latin typeface="Calibri" pitchFamily="34" charset="0"/>
                <a:ea typeface="Calibri" pitchFamily="34" charset="-122"/>
                <a:cs typeface="Calibri" pitchFamily="34" charset="-120"/>
              </a:rPr>
              <a:t>Semi-structured interviews with Chief Information Security Officers revealed four dominant themes around AI adoption in cybersecurity. Coding was performed using NVivo with inter-rater reliability (κ = 0.82).</a:t>
            </a:r>
            <a:endParaRPr lang="en-US" sz="1300" dirty="0"/>
          </a:p>
        </p:txBody>
      </p:sp>
      <p:sp>
        <p:nvSpPr>
          <p:cNvPr id="10" name="Shape 8"/>
          <p:cNvSpPr/>
          <p:nvPr/>
        </p:nvSpPr>
        <p:spPr>
          <a:xfrm>
            <a:off x="274320" y="1783080"/>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1" name="Text 9"/>
          <p:cNvSpPr/>
          <p:nvPr/>
        </p:nvSpPr>
        <p:spPr>
          <a:xfrm>
            <a:off x="384048" y="1847088"/>
            <a:ext cx="4114800" cy="256032"/>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Theme 1: AI as Force Multiplier</a:t>
            </a:r>
            <a:endParaRPr lang="en-US" sz="1200" dirty="0"/>
          </a:p>
        </p:txBody>
      </p:sp>
      <p:sp>
        <p:nvSpPr>
          <p:cNvPr id="12" name="Text 10"/>
          <p:cNvSpPr/>
          <p:nvPr/>
        </p:nvSpPr>
        <p:spPr>
          <a:xfrm>
            <a:off x="4754880" y="1847088"/>
            <a:ext cx="1828800" cy="256032"/>
          </a:xfrm>
          <a:prstGeom prst="rect">
            <a:avLst/>
          </a:prstGeom>
          <a:noFill/>
          <a:ln/>
        </p:spPr>
        <p:txBody>
          <a:bodyPr wrap="square" lIns="0" tIns="0" rIns="0" bIns="0" rtlCol="0" anchor="ctr"/>
          <a:lstStyle/>
          <a:p>
            <a:pPr marL="0" indent="0">
              <a:buNone/>
            </a:pPr>
            <a:r>
              <a:rPr lang="en-US" sz="1100" b="1" dirty="0">
                <a:solidFill>
                  <a:srgbClr val="06D6A0"/>
                </a:solidFill>
                <a:latin typeface="Calibri" pitchFamily="34" charset="0"/>
                <a:ea typeface="Calibri" pitchFamily="34" charset="-122"/>
                <a:cs typeface="Calibri" pitchFamily="34" charset="-120"/>
              </a:rPr>
              <a:t>14/15 CISOs</a:t>
            </a:r>
            <a:endParaRPr lang="en-US" sz="1100" dirty="0"/>
          </a:p>
        </p:txBody>
      </p:sp>
      <p:sp>
        <p:nvSpPr>
          <p:cNvPr id="13" name="Text 11"/>
          <p:cNvSpPr/>
          <p:nvPr/>
        </p:nvSpPr>
        <p:spPr>
          <a:xfrm>
            <a:off x="6675120" y="1819656"/>
            <a:ext cx="2103120" cy="320040"/>
          </a:xfrm>
          <a:prstGeom prst="rect">
            <a:avLst/>
          </a:prstGeom>
          <a:noFill/>
          <a:ln/>
        </p:spPr>
        <p:txBody>
          <a:bodyPr wrap="square" lIns="0" tIns="0" rIns="0" bIns="0" rtlCol="0" anchor="ctr"/>
          <a:lstStyle/>
          <a:p>
            <a:pPr marL="0" indent="0">
              <a:buNone/>
            </a:pPr>
            <a:r>
              <a:rPr lang="en-US" sz="1000" i="1" dirty="0">
                <a:solidFill>
                  <a:srgbClr val="FFD166"/>
                </a:solidFill>
                <a:latin typeface="Calibri" pitchFamily="34" charset="0"/>
                <a:ea typeface="Calibri" pitchFamily="34" charset="-122"/>
                <a:cs typeface="Calibri" pitchFamily="34" charset="-120"/>
              </a:rPr>
              <a:t>"AI gave us the ability to see what we were always missing."</a:t>
            </a:r>
            <a:endParaRPr lang="en-US" sz="1000" dirty="0"/>
          </a:p>
        </p:txBody>
      </p:sp>
      <p:sp>
        <p:nvSpPr>
          <p:cNvPr id="14" name="Text 12"/>
          <p:cNvSpPr/>
          <p:nvPr/>
        </p:nvSpPr>
        <p:spPr>
          <a:xfrm>
            <a:off x="384048" y="2148840"/>
            <a:ext cx="822960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AI is not replacing human analysts but amplifying their capabilities. 'With AI, my team of 8 does the work of 25.' The consensus is that AI handles tier-1 triage while humans focus on strategic threat hunting.</a:t>
            </a:r>
            <a:endParaRPr lang="en-US" sz="1100" dirty="0"/>
          </a:p>
        </p:txBody>
      </p:sp>
      <p:sp>
        <p:nvSpPr>
          <p:cNvPr id="15" name="Shape 13"/>
          <p:cNvSpPr/>
          <p:nvPr/>
        </p:nvSpPr>
        <p:spPr>
          <a:xfrm>
            <a:off x="274320" y="2542032"/>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6" name="Text 14"/>
          <p:cNvSpPr/>
          <p:nvPr/>
        </p:nvSpPr>
        <p:spPr>
          <a:xfrm>
            <a:off x="384048" y="2606040"/>
            <a:ext cx="4114800" cy="256032"/>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Theme 2: Trust &amp; Explainability Barriers</a:t>
            </a:r>
            <a:endParaRPr lang="en-US" sz="1200" dirty="0"/>
          </a:p>
        </p:txBody>
      </p:sp>
      <p:sp>
        <p:nvSpPr>
          <p:cNvPr id="17" name="Text 15"/>
          <p:cNvSpPr/>
          <p:nvPr/>
        </p:nvSpPr>
        <p:spPr>
          <a:xfrm>
            <a:off x="4754880" y="2606040"/>
            <a:ext cx="1828800" cy="256032"/>
          </a:xfrm>
          <a:prstGeom prst="rect">
            <a:avLst/>
          </a:prstGeom>
          <a:noFill/>
          <a:ln/>
        </p:spPr>
        <p:txBody>
          <a:bodyPr wrap="square" lIns="0" tIns="0" rIns="0" bIns="0" rtlCol="0" anchor="ctr"/>
          <a:lstStyle/>
          <a:p>
            <a:pPr marL="0" indent="0">
              <a:buNone/>
            </a:pPr>
            <a:r>
              <a:rPr lang="en-US" sz="1100" b="1" dirty="0">
                <a:solidFill>
                  <a:srgbClr val="06D6A0"/>
                </a:solidFill>
                <a:latin typeface="Calibri" pitchFamily="34" charset="0"/>
                <a:ea typeface="Calibri" pitchFamily="34" charset="-122"/>
                <a:cs typeface="Calibri" pitchFamily="34" charset="-120"/>
              </a:rPr>
              <a:t>12/15 CISOs</a:t>
            </a:r>
            <a:endParaRPr lang="en-US" sz="1100" dirty="0"/>
          </a:p>
        </p:txBody>
      </p:sp>
      <p:sp>
        <p:nvSpPr>
          <p:cNvPr id="18" name="Text 16"/>
          <p:cNvSpPr/>
          <p:nvPr/>
        </p:nvSpPr>
        <p:spPr>
          <a:xfrm>
            <a:off x="6675120" y="2578608"/>
            <a:ext cx="2103120" cy="320040"/>
          </a:xfrm>
          <a:prstGeom prst="rect">
            <a:avLst/>
          </a:prstGeom>
          <a:noFill/>
          <a:ln/>
        </p:spPr>
        <p:txBody>
          <a:bodyPr wrap="square" lIns="0" tIns="0" rIns="0" bIns="0" rtlCol="0" anchor="ctr"/>
          <a:lstStyle/>
          <a:p>
            <a:pPr marL="0" indent="0">
              <a:buNone/>
            </a:pPr>
            <a:r>
              <a:rPr lang="en-US" sz="1000" i="1" dirty="0">
                <a:solidFill>
                  <a:srgbClr val="FFD166"/>
                </a:solidFill>
                <a:latin typeface="Calibri" pitchFamily="34" charset="0"/>
                <a:ea typeface="Calibri" pitchFamily="34" charset="-122"/>
                <a:cs typeface="Calibri" pitchFamily="34" charset="-120"/>
              </a:rPr>
              <a:t>"I need to explain to regulators WHY the AI blocked that transaction."</a:t>
            </a:r>
            <a:endParaRPr lang="en-US" sz="1000" dirty="0"/>
          </a:p>
        </p:txBody>
      </p:sp>
      <p:sp>
        <p:nvSpPr>
          <p:cNvPr id="19" name="Text 17"/>
          <p:cNvSpPr/>
          <p:nvPr/>
        </p:nvSpPr>
        <p:spPr>
          <a:xfrm>
            <a:off x="384048" y="2907792"/>
            <a:ext cx="822960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A consistent challenge is getting security boards and compliance teams to trust AI-autonomous decisions. Without XAI capabilities, organizations hesitate to enable full autonomous response, preferring human-in-the-loop models.</a:t>
            </a:r>
            <a:endParaRPr lang="en-US" sz="1100" dirty="0"/>
          </a:p>
        </p:txBody>
      </p:sp>
      <p:sp>
        <p:nvSpPr>
          <p:cNvPr id="20" name="Shape 18"/>
          <p:cNvSpPr/>
          <p:nvPr/>
        </p:nvSpPr>
        <p:spPr>
          <a:xfrm>
            <a:off x="274320" y="3300984"/>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1" name="Text 19"/>
          <p:cNvSpPr/>
          <p:nvPr/>
        </p:nvSpPr>
        <p:spPr>
          <a:xfrm>
            <a:off x="384048" y="3364992"/>
            <a:ext cx="4114800" cy="256032"/>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Theme 3: Integration Complexity</a:t>
            </a:r>
            <a:endParaRPr lang="en-US" sz="1200" dirty="0"/>
          </a:p>
        </p:txBody>
      </p:sp>
      <p:sp>
        <p:nvSpPr>
          <p:cNvPr id="22" name="Text 20"/>
          <p:cNvSpPr/>
          <p:nvPr/>
        </p:nvSpPr>
        <p:spPr>
          <a:xfrm>
            <a:off x="4754880" y="3364992"/>
            <a:ext cx="1828800" cy="256032"/>
          </a:xfrm>
          <a:prstGeom prst="rect">
            <a:avLst/>
          </a:prstGeom>
          <a:noFill/>
          <a:ln/>
        </p:spPr>
        <p:txBody>
          <a:bodyPr wrap="square" lIns="0" tIns="0" rIns="0" bIns="0" rtlCol="0" anchor="ctr"/>
          <a:lstStyle/>
          <a:p>
            <a:pPr marL="0" indent="0">
              <a:buNone/>
            </a:pPr>
            <a:r>
              <a:rPr lang="en-US" sz="1100" b="1" dirty="0">
                <a:solidFill>
                  <a:srgbClr val="06D6A0"/>
                </a:solidFill>
                <a:latin typeface="Calibri" pitchFamily="34" charset="0"/>
                <a:ea typeface="Calibri" pitchFamily="34" charset="-122"/>
                <a:cs typeface="Calibri" pitchFamily="34" charset="-120"/>
              </a:rPr>
              <a:t>11/15 CISOs</a:t>
            </a:r>
            <a:endParaRPr lang="en-US" sz="1100" dirty="0"/>
          </a:p>
        </p:txBody>
      </p:sp>
      <p:sp>
        <p:nvSpPr>
          <p:cNvPr id="23" name="Text 21"/>
          <p:cNvSpPr/>
          <p:nvPr/>
        </p:nvSpPr>
        <p:spPr>
          <a:xfrm>
            <a:off x="6675120" y="3337560"/>
            <a:ext cx="2103120" cy="320040"/>
          </a:xfrm>
          <a:prstGeom prst="rect">
            <a:avLst/>
          </a:prstGeom>
          <a:noFill/>
          <a:ln/>
        </p:spPr>
        <p:txBody>
          <a:bodyPr wrap="square" lIns="0" tIns="0" rIns="0" bIns="0" rtlCol="0" anchor="ctr"/>
          <a:lstStyle/>
          <a:p>
            <a:pPr marL="0" indent="0">
              <a:buNone/>
            </a:pPr>
            <a:r>
              <a:rPr lang="en-US" sz="1000" i="1" dirty="0">
                <a:solidFill>
                  <a:srgbClr val="FFD166"/>
                </a:solidFill>
                <a:latin typeface="Calibri" pitchFamily="34" charset="0"/>
                <a:ea typeface="Calibri" pitchFamily="34" charset="-122"/>
                <a:cs typeface="Calibri" pitchFamily="34" charset="-120"/>
              </a:rPr>
              <a:t>"Our biggest challenge wasn't the AI—it was our spaghetti infrastructure."</a:t>
            </a:r>
            <a:endParaRPr lang="en-US" sz="1000" dirty="0"/>
          </a:p>
        </p:txBody>
      </p:sp>
      <p:sp>
        <p:nvSpPr>
          <p:cNvPr id="24" name="Text 22"/>
          <p:cNvSpPr/>
          <p:nvPr/>
        </p:nvSpPr>
        <p:spPr>
          <a:xfrm>
            <a:off x="384048" y="3666744"/>
            <a:ext cx="822960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Legacy SIEM systems, siloed security tools, and vendor lock-in create significant integration challenges. Average enterprise has 45+ security tools; making AI work coherently across all remains a major deployment barrier.</a:t>
            </a:r>
            <a:endParaRPr lang="en-US" sz="1100" dirty="0"/>
          </a:p>
        </p:txBody>
      </p:sp>
      <p:sp>
        <p:nvSpPr>
          <p:cNvPr id="25" name="Shape 23"/>
          <p:cNvSpPr/>
          <p:nvPr/>
        </p:nvSpPr>
        <p:spPr>
          <a:xfrm>
            <a:off x="274320" y="4059936"/>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6" name="Text 24"/>
          <p:cNvSpPr/>
          <p:nvPr/>
        </p:nvSpPr>
        <p:spPr>
          <a:xfrm>
            <a:off x="384048" y="4123944"/>
            <a:ext cx="4114800" cy="256032"/>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Theme 4: Talent &amp; Culture Shift</a:t>
            </a:r>
            <a:endParaRPr lang="en-US" sz="1200" dirty="0"/>
          </a:p>
        </p:txBody>
      </p:sp>
      <p:sp>
        <p:nvSpPr>
          <p:cNvPr id="27" name="Text 25"/>
          <p:cNvSpPr/>
          <p:nvPr/>
        </p:nvSpPr>
        <p:spPr>
          <a:xfrm>
            <a:off x="4754880" y="4123944"/>
            <a:ext cx="1828800" cy="256032"/>
          </a:xfrm>
          <a:prstGeom prst="rect">
            <a:avLst/>
          </a:prstGeom>
          <a:noFill/>
          <a:ln/>
        </p:spPr>
        <p:txBody>
          <a:bodyPr wrap="square" lIns="0" tIns="0" rIns="0" bIns="0" rtlCol="0" anchor="ctr"/>
          <a:lstStyle/>
          <a:p>
            <a:pPr marL="0" indent="0">
              <a:buNone/>
            </a:pPr>
            <a:r>
              <a:rPr lang="en-US" sz="1100" b="1" dirty="0">
                <a:solidFill>
                  <a:srgbClr val="06D6A0"/>
                </a:solidFill>
                <a:latin typeface="Calibri" pitchFamily="34" charset="0"/>
                <a:ea typeface="Calibri" pitchFamily="34" charset="-122"/>
                <a:cs typeface="Calibri" pitchFamily="34" charset="-120"/>
              </a:rPr>
              <a:t>13/15 CISOs</a:t>
            </a:r>
            <a:endParaRPr lang="en-US" sz="1100" dirty="0"/>
          </a:p>
        </p:txBody>
      </p:sp>
      <p:sp>
        <p:nvSpPr>
          <p:cNvPr id="28" name="Text 26"/>
          <p:cNvSpPr/>
          <p:nvPr/>
        </p:nvSpPr>
        <p:spPr>
          <a:xfrm>
            <a:off x="6675120" y="4096512"/>
            <a:ext cx="2103120" cy="320040"/>
          </a:xfrm>
          <a:prstGeom prst="rect">
            <a:avLst/>
          </a:prstGeom>
          <a:noFill/>
          <a:ln/>
        </p:spPr>
        <p:txBody>
          <a:bodyPr wrap="square" lIns="0" tIns="0" rIns="0" bIns="0" rtlCol="0" anchor="ctr"/>
          <a:lstStyle/>
          <a:p>
            <a:pPr marL="0" indent="0">
              <a:buNone/>
            </a:pPr>
            <a:r>
              <a:rPr lang="en-US" sz="1000" i="1" dirty="0">
                <a:solidFill>
                  <a:srgbClr val="FFD166"/>
                </a:solidFill>
                <a:latin typeface="Calibri" pitchFamily="34" charset="0"/>
                <a:ea typeface="Calibri" pitchFamily="34" charset="-122"/>
                <a:cs typeface="Calibri" pitchFamily="34" charset="-120"/>
              </a:rPr>
              <a:t>"We hired data scientists and trained them in security, not vice versa."</a:t>
            </a:r>
            <a:endParaRPr lang="en-US" sz="1000" dirty="0"/>
          </a:p>
        </p:txBody>
      </p:sp>
      <p:sp>
        <p:nvSpPr>
          <p:cNvPr id="29" name="Text 27"/>
          <p:cNvSpPr/>
          <p:nvPr/>
        </p:nvSpPr>
        <p:spPr>
          <a:xfrm>
            <a:off x="384048" y="4425696"/>
            <a:ext cx="822960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Successful AI security deployments require security teams to develop data science literacy. Culture shift from reactive incident response to proactive AI-augmented threat hunting requires sustained investment in training.</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Statistical Analysis Results</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33</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Quantitative Findings: Hypothesis Testing &amp; Correlation Analysis</a:t>
            </a:r>
            <a:endParaRPr lang="en-US" sz="1600" dirty="0"/>
          </a:p>
        </p:txBody>
      </p:sp>
      <p:sp>
        <p:nvSpPr>
          <p:cNvPr id="9" name="Shape 7"/>
          <p:cNvSpPr/>
          <p:nvPr/>
        </p:nvSpPr>
        <p:spPr>
          <a:xfrm>
            <a:off x="274320" y="1115568"/>
            <a:ext cx="8595360" cy="80467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0" name="Shape 8"/>
          <p:cNvSpPr/>
          <p:nvPr/>
        </p:nvSpPr>
        <p:spPr>
          <a:xfrm>
            <a:off x="274320" y="1115568"/>
            <a:ext cx="1188720" cy="804672"/>
          </a:xfrm>
          <a:prstGeom prst="rect">
            <a:avLst/>
          </a:prstGeom>
          <a:solidFill>
            <a:srgbClr val="0A3020"/>
          </a:solidFill>
          <a:ln w="12700">
            <a:solidFill>
              <a:srgbClr val="06D6A0"/>
            </a:solidFill>
            <a:prstDash val="solid"/>
          </a:ln>
        </p:spPr>
      </p:sp>
      <p:sp>
        <p:nvSpPr>
          <p:cNvPr id="11" name="Text 9"/>
          <p:cNvSpPr/>
          <p:nvPr/>
        </p:nvSpPr>
        <p:spPr>
          <a:xfrm>
            <a:off x="274320" y="1115568"/>
            <a:ext cx="1188720" cy="804672"/>
          </a:xfrm>
          <a:prstGeom prst="rect">
            <a:avLst/>
          </a:prstGeom>
          <a:noFill/>
          <a:ln/>
        </p:spPr>
        <p:txBody>
          <a:bodyPr wrap="square" rtlCol="0" anchor="ctr"/>
          <a:lstStyle/>
          <a:p>
            <a:pPr marL="0" indent="0" algn="ctr">
              <a:buNone/>
            </a:pPr>
            <a:r>
              <a:rPr lang="en-US" sz="1000" b="1" dirty="0">
                <a:solidFill>
                  <a:srgbClr val="06D6A0"/>
                </a:solidFill>
                <a:latin typeface="Calibri" pitchFamily="34" charset="0"/>
                <a:ea typeface="Calibri" pitchFamily="34" charset="-122"/>
                <a:cs typeface="Calibri" pitchFamily="34" charset="-120"/>
              </a:rPr>
              <a:t>SUPPORTED</a:t>
            </a:r>
            <a:endParaRPr lang="en-US" sz="1000" dirty="0"/>
          </a:p>
        </p:txBody>
      </p:sp>
      <p:sp>
        <p:nvSpPr>
          <p:cNvPr id="12" name="Text 10"/>
          <p:cNvSpPr/>
          <p:nvPr/>
        </p:nvSpPr>
        <p:spPr>
          <a:xfrm>
            <a:off x="1585434" y="1170432"/>
            <a:ext cx="740664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H1: AI deployment significantly reduces mean-time-to-detect (MTTD) cyberattacks.</a:t>
            </a:r>
            <a:endParaRPr lang="en-US" sz="1150" dirty="0"/>
          </a:p>
        </p:txBody>
      </p:sp>
      <p:sp>
        <p:nvSpPr>
          <p:cNvPr id="13" name="Text 11"/>
          <p:cNvSpPr/>
          <p:nvPr/>
        </p:nvSpPr>
        <p:spPr>
          <a:xfrm>
            <a:off x="1585434" y="1472184"/>
            <a:ext cx="2286000" cy="201168"/>
          </a:xfrm>
          <a:prstGeom prst="rect">
            <a:avLst/>
          </a:prstGeom>
          <a:noFill/>
          <a:ln/>
        </p:spPr>
        <p:txBody>
          <a:bodyPr wrap="square" lIns="0" tIns="0" rIns="0" bIns="0" rtlCol="0" anchor="ctr"/>
          <a:lstStyle/>
          <a:p>
            <a:pPr marL="0" indent="0">
              <a:buNone/>
            </a:pPr>
            <a:r>
              <a:rPr lang="en-US" sz="1050" b="1" dirty="0">
                <a:solidFill>
                  <a:srgbClr val="00B4D8"/>
                </a:solidFill>
                <a:latin typeface="Calibri" pitchFamily="34" charset="0"/>
                <a:ea typeface="Calibri" pitchFamily="34" charset="-122"/>
                <a:cs typeface="Calibri" pitchFamily="34" charset="-120"/>
              </a:rPr>
              <a:t>t(118)=8.43, p&lt;0.001</a:t>
            </a:r>
            <a:endParaRPr lang="en-US" sz="1050" dirty="0"/>
          </a:p>
        </p:txBody>
      </p:sp>
      <p:sp>
        <p:nvSpPr>
          <p:cNvPr id="14" name="Text 12"/>
          <p:cNvSpPr/>
          <p:nvPr/>
        </p:nvSpPr>
        <p:spPr>
          <a:xfrm>
            <a:off x="1585434" y="1682496"/>
            <a:ext cx="7406640" cy="201168"/>
          </a:xfrm>
          <a:prstGeom prst="rect">
            <a:avLst/>
          </a:prstGeom>
          <a:noFill/>
          <a:ln/>
        </p:spPr>
        <p:txBody>
          <a:bodyPr wrap="square" lIns="0" tIns="0" rIns="0" bIns="0" rtlCol="0" anchor="ctr"/>
          <a:lstStyle/>
          <a:p>
            <a:pPr marL="0" indent="0">
              <a:buNone/>
            </a:pPr>
            <a:r>
              <a:rPr lang="en-US" sz="1050" dirty="0">
                <a:solidFill>
                  <a:srgbClr val="CAD3E0"/>
                </a:solidFill>
                <a:latin typeface="Calibri" pitchFamily="34" charset="0"/>
                <a:ea typeface="Calibri" pitchFamily="34" charset="-122"/>
                <a:cs typeface="Calibri" pitchFamily="34" charset="-120"/>
              </a:rPr>
              <a:t>Mean MTTD reduced from 197 to 51 days post-AI implementation (Cohen's d=1.24, large effect)</a:t>
            </a:r>
            <a:endParaRPr lang="en-US" sz="1050" dirty="0"/>
          </a:p>
        </p:txBody>
      </p:sp>
      <p:sp>
        <p:nvSpPr>
          <p:cNvPr id="15" name="Shape 13"/>
          <p:cNvSpPr/>
          <p:nvPr/>
        </p:nvSpPr>
        <p:spPr>
          <a:xfrm>
            <a:off x="274320" y="2011680"/>
            <a:ext cx="8595360" cy="80467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6" name="Shape 14"/>
          <p:cNvSpPr/>
          <p:nvPr/>
        </p:nvSpPr>
        <p:spPr>
          <a:xfrm>
            <a:off x="274320" y="2011680"/>
            <a:ext cx="1188720" cy="804672"/>
          </a:xfrm>
          <a:prstGeom prst="rect">
            <a:avLst/>
          </a:prstGeom>
          <a:solidFill>
            <a:srgbClr val="0A3020"/>
          </a:solidFill>
          <a:ln w="12700">
            <a:solidFill>
              <a:srgbClr val="06D6A0"/>
            </a:solidFill>
            <a:prstDash val="solid"/>
          </a:ln>
        </p:spPr>
      </p:sp>
      <p:sp>
        <p:nvSpPr>
          <p:cNvPr id="17" name="Text 15"/>
          <p:cNvSpPr/>
          <p:nvPr/>
        </p:nvSpPr>
        <p:spPr>
          <a:xfrm>
            <a:off x="274320" y="2011680"/>
            <a:ext cx="1188720" cy="804672"/>
          </a:xfrm>
          <a:prstGeom prst="rect">
            <a:avLst/>
          </a:prstGeom>
          <a:noFill/>
          <a:ln/>
        </p:spPr>
        <p:txBody>
          <a:bodyPr wrap="square" rtlCol="0" anchor="ctr"/>
          <a:lstStyle/>
          <a:p>
            <a:pPr marL="0" indent="0" algn="ctr">
              <a:buNone/>
            </a:pPr>
            <a:r>
              <a:rPr lang="en-US" sz="1000" b="1" dirty="0">
                <a:solidFill>
                  <a:srgbClr val="06D6A0"/>
                </a:solidFill>
                <a:latin typeface="Calibri" pitchFamily="34" charset="0"/>
                <a:ea typeface="Calibri" pitchFamily="34" charset="-122"/>
                <a:cs typeface="Calibri" pitchFamily="34" charset="-120"/>
              </a:rPr>
              <a:t>SUPPORTED</a:t>
            </a:r>
            <a:endParaRPr lang="en-US" sz="1000" dirty="0"/>
          </a:p>
        </p:txBody>
      </p:sp>
      <p:sp>
        <p:nvSpPr>
          <p:cNvPr id="18" name="Text 16"/>
          <p:cNvSpPr/>
          <p:nvPr/>
        </p:nvSpPr>
        <p:spPr>
          <a:xfrm>
            <a:off x="1585434" y="2066544"/>
            <a:ext cx="740664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H2: ML-based IDS significantly outperforms signature-based IDS in detection accuracy.</a:t>
            </a:r>
            <a:endParaRPr lang="en-US" sz="1150" dirty="0"/>
          </a:p>
        </p:txBody>
      </p:sp>
      <p:sp>
        <p:nvSpPr>
          <p:cNvPr id="19" name="Text 17"/>
          <p:cNvSpPr/>
          <p:nvPr/>
        </p:nvSpPr>
        <p:spPr>
          <a:xfrm>
            <a:off x="1585434" y="2368296"/>
            <a:ext cx="2286000" cy="201168"/>
          </a:xfrm>
          <a:prstGeom prst="rect">
            <a:avLst/>
          </a:prstGeom>
          <a:noFill/>
          <a:ln/>
        </p:spPr>
        <p:txBody>
          <a:bodyPr wrap="square" lIns="0" tIns="0" rIns="0" bIns="0" rtlCol="0" anchor="ctr"/>
          <a:lstStyle/>
          <a:p>
            <a:pPr marL="0" indent="0">
              <a:buNone/>
            </a:pPr>
            <a:r>
              <a:rPr lang="en-US" sz="1050" b="1" dirty="0">
                <a:solidFill>
                  <a:srgbClr val="00B4D8"/>
                </a:solidFill>
                <a:latin typeface="Calibri" pitchFamily="34" charset="0"/>
                <a:ea typeface="Calibri" pitchFamily="34" charset="-122"/>
                <a:cs typeface="Calibri" pitchFamily="34" charset="-120"/>
              </a:rPr>
              <a:t>F(2,117)=156.4, p&lt;0.001</a:t>
            </a:r>
            <a:endParaRPr lang="en-US" sz="1050" dirty="0"/>
          </a:p>
        </p:txBody>
      </p:sp>
      <p:sp>
        <p:nvSpPr>
          <p:cNvPr id="20" name="Text 18"/>
          <p:cNvSpPr/>
          <p:nvPr/>
        </p:nvSpPr>
        <p:spPr>
          <a:xfrm>
            <a:off x="1585434" y="2578608"/>
            <a:ext cx="7406640" cy="201168"/>
          </a:xfrm>
          <a:prstGeom prst="rect">
            <a:avLst/>
          </a:prstGeom>
          <a:noFill/>
          <a:ln/>
        </p:spPr>
        <p:txBody>
          <a:bodyPr wrap="square" lIns="0" tIns="0" rIns="0" bIns="0" rtlCol="0" anchor="ctr"/>
          <a:lstStyle/>
          <a:p>
            <a:pPr marL="0" indent="0">
              <a:buNone/>
            </a:pPr>
            <a:r>
              <a:rPr lang="en-US" sz="1050" dirty="0">
                <a:solidFill>
                  <a:srgbClr val="CAD3E0"/>
                </a:solidFill>
                <a:latin typeface="Calibri" pitchFamily="34" charset="0"/>
                <a:ea typeface="Calibri" pitchFamily="34" charset="-122"/>
                <a:cs typeface="Calibri" pitchFamily="34" charset="-120"/>
              </a:rPr>
              <a:t>ML: 96.8% vs. Signature: 72.3% vs. Hybrid: 94.1%. Bonferroni post-hoc confirmed all pairwise differences</a:t>
            </a:r>
            <a:endParaRPr lang="en-US" sz="1050" dirty="0"/>
          </a:p>
        </p:txBody>
      </p:sp>
      <p:sp>
        <p:nvSpPr>
          <p:cNvPr id="21" name="Shape 19"/>
          <p:cNvSpPr/>
          <p:nvPr/>
        </p:nvSpPr>
        <p:spPr>
          <a:xfrm>
            <a:off x="274320" y="2907792"/>
            <a:ext cx="8595360" cy="80467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2" name="Shape 20"/>
          <p:cNvSpPr/>
          <p:nvPr/>
        </p:nvSpPr>
        <p:spPr>
          <a:xfrm>
            <a:off x="274320" y="2907792"/>
            <a:ext cx="1188720" cy="804672"/>
          </a:xfrm>
          <a:prstGeom prst="rect">
            <a:avLst/>
          </a:prstGeom>
          <a:solidFill>
            <a:srgbClr val="0A3020"/>
          </a:solidFill>
          <a:ln w="12700">
            <a:solidFill>
              <a:srgbClr val="06D6A0"/>
            </a:solidFill>
            <a:prstDash val="solid"/>
          </a:ln>
        </p:spPr>
      </p:sp>
      <p:sp>
        <p:nvSpPr>
          <p:cNvPr id="23" name="Text 21"/>
          <p:cNvSpPr/>
          <p:nvPr/>
        </p:nvSpPr>
        <p:spPr>
          <a:xfrm>
            <a:off x="274320" y="2907792"/>
            <a:ext cx="1188720" cy="804672"/>
          </a:xfrm>
          <a:prstGeom prst="rect">
            <a:avLst/>
          </a:prstGeom>
          <a:noFill/>
          <a:ln/>
        </p:spPr>
        <p:txBody>
          <a:bodyPr wrap="square" rtlCol="0" anchor="ctr"/>
          <a:lstStyle/>
          <a:p>
            <a:pPr marL="0" indent="0" algn="ctr">
              <a:buNone/>
            </a:pPr>
            <a:r>
              <a:rPr lang="en-US" sz="1000" b="1" dirty="0">
                <a:solidFill>
                  <a:srgbClr val="06D6A0"/>
                </a:solidFill>
                <a:latin typeface="Calibri" pitchFamily="34" charset="0"/>
                <a:ea typeface="Calibri" pitchFamily="34" charset="-122"/>
                <a:cs typeface="Calibri" pitchFamily="34" charset="-120"/>
              </a:rPr>
              <a:t>SUPPORTED</a:t>
            </a:r>
            <a:endParaRPr lang="en-US" sz="1000" dirty="0"/>
          </a:p>
        </p:txBody>
      </p:sp>
      <p:sp>
        <p:nvSpPr>
          <p:cNvPr id="24" name="Text 22"/>
          <p:cNvSpPr/>
          <p:nvPr/>
        </p:nvSpPr>
        <p:spPr>
          <a:xfrm>
            <a:off x="1585434" y="2962656"/>
            <a:ext cx="740664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H3: AI adoption level is positively correlated with organizational cybersecurity maturity.</a:t>
            </a:r>
            <a:endParaRPr lang="en-US" sz="1150" dirty="0"/>
          </a:p>
        </p:txBody>
      </p:sp>
      <p:sp>
        <p:nvSpPr>
          <p:cNvPr id="25" name="Text 23"/>
          <p:cNvSpPr/>
          <p:nvPr/>
        </p:nvSpPr>
        <p:spPr>
          <a:xfrm>
            <a:off x="1585434" y="3264408"/>
            <a:ext cx="2286000" cy="201168"/>
          </a:xfrm>
          <a:prstGeom prst="rect">
            <a:avLst/>
          </a:prstGeom>
          <a:noFill/>
          <a:ln/>
        </p:spPr>
        <p:txBody>
          <a:bodyPr wrap="square" lIns="0" tIns="0" rIns="0" bIns="0" rtlCol="0" anchor="ctr"/>
          <a:lstStyle/>
          <a:p>
            <a:pPr marL="0" indent="0">
              <a:buNone/>
            </a:pPr>
            <a:r>
              <a:rPr lang="en-US" sz="1050" b="1" dirty="0">
                <a:solidFill>
                  <a:srgbClr val="00B4D8"/>
                </a:solidFill>
                <a:latin typeface="Calibri" pitchFamily="34" charset="0"/>
                <a:ea typeface="Calibri" pitchFamily="34" charset="-122"/>
                <a:cs typeface="Calibri" pitchFamily="34" charset="-120"/>
              </a:rPr>
              <a:t>r(120)=0.73, p&lt;0.001</a:t>
            </a:r>
            <a:endParaRPr lang="en-US" sz="1050" dirty="0"/>
          </a:p>
        </p:txBody>
      </p:sp>
      <p:sp>
        <p:nvSpPr>
          <p:cNvPr id="26" name="Text 24"/>
          <p:cNvSpPr/>
          <p:nvPr/>
        </p:nvSpPr>
        <p:spPr>
          <a:xfrm>
            <a:off x="1585434" y="3474720"/>
            <a:ext cx="7406640" cy="201168"/>
          </a:xfrm>
          <a:prstGeom prst="rect">
            <a:avLst/>
          </a:prstGeom>
          <a:noFill/>
          <a:ln/>
        </p:spPr>
        <p:txBody>
          <a:bodyPr wrap="square" lIns="0" tIns="0" rIns="0" bIns="0" rtlCol="0" anchor="ctr"/>
          <a:lstStyle/>
          <a:p>
            <a:pPr marL="0" indent="0">
              <a:buNone/>
            </a:pPr>
            <a:r>
              <a:rPr lang="en-US" sz="1050" dirty="0">
                <a:solidFill>
                  <a:srgbClr val="CAD3E0"/>
                </a:solidFill>
                <a:latin typeface="Calibri" pitchFamily="34" charset="0"/>
                <a:ea typeface="Calibri" pitchFamily="34" charset="-122"/>
                <a:cs typeface="Calibri" pitchFamily="34" charset="-120"/>
              </a:rPr>
              <a:t>Strong positive correlation. Organizations with Maturity Level 3+ showed 2.8x higher AI adoption rates</a:t>
            </a:r>
            <a:endParaRPr lang="en-US" sz="1050" dirty="0"/>
          </a:p>
        </p:txBody>
      </p:sp>
      <p:sp>
        <p:nvSpPr>
          <p:cNvPr id="27" name="Shape 25"/>
          <p:cNvSpPr/>
          <p:nvPr/>
        </p:nvSpPr>
        <p:spPr>
          <a:xfrm>
            <a:off x="274320" y="3803904"/>
            <a:ext cx="8595360" cy="804672"/>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8" name="Shape 26"/>
          <p:cNvSpPr/>
          <p:nvPr/>
        </p:nvSpPr>
        <p:spPr>
          <a:xfrm>
            <a:off x="274320" y="3803904"/>
            <a:ext cx="1188720" cy="804672"/>
          </a:xfrm>
          <a:prstGeom prst="rect">
            <a:avLst/>
          </a:prstGeom>
          <a:solidFill>
            <a:srgbClr val="3A2A00"/>
          </a:solidFill>
          <a:ln w="12700">
            <a:solidFill>
              <a:srgbClr val="FFD166"/>
            </a:solidFill>
            <a:prstDash val="solid"/>
          </a:ln>
        </p:spPr>
      </p:sp>
      <p:sp>
        <p:nvSpPr>
          <p:cNvPr id="29" name="Text 27"/>
          <p:cNvSpPr/>
          <p:nvPr/>
        </p:nvSpPr>
        <p:spPr>
          <a:xfrm>
            <a:off x="274320" y="3803904"/>
            <a:ext cx="1188720" cy="804672"/>
          </a:xfrm>
          <a:prstGeom prst="rect">
            <a:avLst/>
          </a:prstGeom>
          <a:noFill/>
          <a:ln/>
        </p:spPr>
        <p:txBody>
          <a:bodyPr wrap="square" rtlCol="0" anchor="ctr"/>
          <a:lstStyle/>
          <a:p>
            <a:pPr marL="0" indent="0" algn="ctr">
              <a:buNone/>
            </a:pPr>
            <a:r>
              <a:rPr lang="en-US" sz="1000" b="1" dirty="0">
                <a:solidFill>
                  <a:srgbClr val="FFD166"/>
                </a:solidFill>
                <a:latin typeface="Calibri" pitchFamily="34" charset="0"/>
                <a:ea typeface="Calibri" pitchFamily="34" charset="-122"/>
                <a:cs typeface="Calibri" pitchFamily="34" charset="-120"/>
              </a:rPr>
              <a:t>PARTIALLY SUPPORTED</a:t>
            </a:r>
            <a:endParaRPr lang="en-US" sz="1000" dirty="0"/>
          </a:p>
        </p:txBody>
      </p:sp>
      <p:sp>
        <p:nvSpPr>
          <p:cNvPr id="30" name="Text 28"/>
          <p:cNvSpPr/>
          <p:nvPr/>
        </p:nvSpPr>
        <p:spPr>
          <a:xfrm>
            <a:off x="1585434" y="3858768"/>
            <a:ext cx="740664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H4: Skill gap is the primary barrier to AI adoption across all organization sizes.</a:t>
            </a:r>
            <a:endParaRPr lang="en-US" sz="1150" dirty="0"/>
          </a:p>
        </p:txBody>
      </p:sp>
      <p:sp>
        <p:nvSpPr>
          <p:cNvPr id="31" name="Text 29"/>
          <p:cNvSpPr/>
          <p:nvPr/>
        </p:nvSpPr>
        <p:spPr>
          <a:xfrm>
            <a:off x="1585434" y="4160520"/>
            <a:ext cx="2286000" cy="201168"/>
          </a:xfrm>
          <a:prstGeom prst="rect">
            <a:avLst/>
          </a:prstGeom>
          <a:noFill/>
          <a:ln/>
        </p:spPr>
        <p:txBody>
          <a:bodyPr wrap="square" lIns="0" tIns="0" rIns="0" bIns="0" rtlCol="0" anchor="ctr"/>
          <a:lstStyle/>
          <a:p>
            <a:pPr marL="0" indent="0">
              <a:buNone/>
            </a:pPr>
            <a:r>
              <a:rPr lang="en-US" sz="1050" b="1" dirty="0">
                <a:solidFill>
                  <a:srgbClr val="00B4D8"/>
                </a:solidFill>
                <a:latin typeface="Calibri" pitchFamily="34" charset="0"/>
                <a:ea typeface="Calibri" pitchFamily="34" charset="-122"/>
                <a:cs typeface="Calibri" pitchFamily="34" charset="-120"/>
              </a:rPr>
              <a:t>χ²(8)=24.3, p&lt;0.01</a:t>
            </a:r>
            <a:endParaRPr lang="en-US" sz="1050" dirty="0"/>
          </a:p>
        </p:txBody>
      </p:sp>
      <p:sp>
        <p:nvSpPr>
          <p:cNvPr id="32" name="Text 30"/>
          <p:cNvSpPr/>
          <p:nvPr/>
        </p:nvSpPr>
        <p:spPr>
          <a:xfrm>
            <a:off x="1585434" y="4370832"/>
            <a:ext cx="7406640" cy="201168"/>
          </a:xfrm>
          <a:prstGeom prst="rect">
            <a:avLst/>
          </a:prstGeom>
          <a:noFill/>
          <a:ln/>
        </p:spPr>
        <p:txBody>
          <a:bodyPr wrap="square" lIns="0" tIns="0" rIns="0" bIns="0" rtlCol="0" anchor="ctr"/>
          <a:lstStyle/>
          <a:p>
            <a:pPr marL="0" indent="0">
              <a:buNone/>
            </a:pPr>
            <a:r>
              <a:rPr lang="en-US" sz="1050" dirty="0">
                <a:solidFill>
                  <a:srgbClr val="CAD3E0"/>
                </a:solidFill>
                <a:latin typeface="Calibri" pitchFamily="34" charset="0"/>
                <a:ea typeface="Calibri" pitchFamily="34" charset="-122"/>
                <a:cs typeface="Calibri" pitchFamily="34" charset="-120"/>
              </a:rPr>
              <a:t>Skill gap was #1 barrier overall but SMEs ranked 'cost' equally. Large enterprises prioritized integration complexity</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Research Findings</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34</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Summary of Major Findings from This Study</a:t>
            </a:r>
            <a:endParaRPr lang="en-US" sz="1600" dirty="0"/>
          </a:p>
        </p:txBody>
      </p:sp>
      <p:sp>
        <p:nvSpPr>
          <p:cNvPr id="9" name="Shape 7"/>
          <p:cNvSpPr/>
          <p:nvPr/>
        </p:nvSpPr>
        <p:spPr>
          <a:xfrm>
            <a:off x="274320" y="1115568"/>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0" name="Shape 8"/>
          <p:cNvSpPr/>
          <p:nvPr/>
        </p:nvSpPr>
        <p:spPr>
          <a:xfrm>
            <a:off x="274320" y="1115568"/>
            <a:ext cx="566928" cy="658368"/>
          </a:xfrm>
          <a:prstGeom prst="rect">
            <a:avLst/>
          </a:prstGeom>
          <a:solidFill>
            <a:srgbClr val="00B4D8"/>
          </a:solidFill>
          <a:ln w="12700">
            <a:solidFill>
              <a:srgbClr val="00B4D8"/>
            </a:solidFill>
            <a:prstDash val="solid"/>
          </a:ln>
        </p:spPr>
      </p:sp>
      <p:sp>
        <p:nvSpPr>
          <p:cNvPr id="11" name="Text 9"/>
          <p:cNvSpPr/>
          <p:nvPr/>
        </p:nvSpPr>
        <p:spPr>
          <a:xfrm>
            <a:off x="274320" y="1115568"/>
            <a:ext cx="566928" cy="658368"/>
          </a:xfrm>
          <a:prstGeom prst="rect">
            <a:avLst/>
          </a:prstGeom>
          <a:noFill/>
          <a:ln/>
        </p:spPr>
        <p:txBody>
          <a:bodyPr wrap="square" rtlCol="0" anchor="ctr"/>
          <a:lstStyle/>
          <a:p>
            <a:pPr marL="0" indent="0" algn="ctr">
              <a:buNone/>
            </a:pPr>
            <a:r>
              <a:rPr lang="en-US" sz="1500" b="1" dirty="0">
                <a:solidFill>
                  <a:srgbClr val="0A1628"/>
                </a:solidFill>
                <a:latin typeface="Calibri" pitchFamily="34" charset="0"/>
                <a:ea typeface="Calibri" pitchFamily="34" charset="-122"/>
                <a:cs typeface="Calibri" pitchFamily="34" charset="-120"/>
              </a:rPr>
              <a:t>F1</a:t>
            </a:r>
            <a:endParaRPr lang="en-US" sz="1500" dirty="0"/>
          </a:p>
        </p:txBody>
      </p:sp>
      <p:sp>
        <p:nvSpPr>
          <p:cNvPr id="12" name="Text 10"/>
          <p:cNvSpPr/>
          <p:nvPr/>
        </p:nvSpPr>
        <p:spPr>
          <a:xfrm>
            <a:off x="914400" y="1179576"/>
            <a:ext cx="786384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AI significantly reduces MTTD and MTTR</a:t>
            </a:r>
            <a:endParaRPr lang="en-US" sz="1250" dirty="0"/>
          </a:p>
        </p:txBody>
      </p:sp>
      <p:sp>
        <p:nvSpPr>
          <p:cNvPr id="13" name="Text 11"/>
          <p:cNvSpPr/>
          <p:nvPr/>
        </p:nvSpPr>
        <p:spPr>
          <a:xfrm>
            <a:off x="914400" y="1481328"/>
            <a:ext cx="7863840" cy="256032"/>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Organizations deploying AI security tools reduced breach detection time by 74% and response time by 60%, validated by both primary survey data and secondary industry benchmarks.</a:t>
            </a:r>
            <a:endParaRPr lang="en-US" sz="1150" dirty="0"/>
          </a:p>
        </p:txBody>
      </p:sp>
      <p:sp>
        <p:nvSpPr>
          <p:cNvPr id="14" name="Shape 12"/>
          <p:cNvSpPr/>
          <p:nvPr/>
        </p:nvSpPr>
        <p:spPr>
          <a:xfrm>
            <a:off x="274320" y="1874520"/>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5" name="Shape 13"/>
          <p:cNvSpPr/>
          <p:nvPr/>
        </p:nvSpPr>
        <p:spPr>
          <a:xfrm>
            <a:off x="274320" y="1874520"/>
            <a:ext cx="566928" cy="658368"/>
          </a:xfrm>
          <a:prstGeom prst="rect">
            <a:avLst/>
          </a:prstGeom>
          <a:solidFill>
            <a:srgbClr val="00B4D8"/>
          </a:solidFill>
          <a:ln w="12700">
            <a:solidFill>
              <a:srgbClr val="00B4D8"/>
            </a:solidFill>
            <a:prstDash val="solid"/>
          </a:ln>
        </p:spPr>
      </p:sp>
      <p:sp>
        <p:nvSpPr>
          <p:cNvPr id="16" name="Text 14"/>
          <p:cNvSpPr/>
          <p:nvPr/>
        </p:nvSpPr>
        <p:spPr>
          <a:xfrm>
            <a:off x="274320" y="1874520"/>
            <a:ext cx="566928" cy="658368"/>
          </a:xfrm>
          <a:prstGeom prst="rect">
            <a:avLst/>
          </a:prstGeom>
          <a:noFill/>
          <a:ln/>
        </p:spPr>
        <p:txBody>
          <a:bodyPr wrap="square" rtlCol="0" anchor="ctr"/>
          <a:lstStyle/>
          <a:p>
            <a:pPr marL="0" indent="0" algn="ctr">
              <a:buNone/>
            </a:pPr>
            <a:r>
              <a:rPr lang="en-US" sz="1500" b="1" dirty="0">
                <a:solidFill>
                  <a:srgbClr val="0A1628"/>
                </a:solidFill>
                <a:latin typeface="Calibri" pitchFamily="34" charset="0"/>
                <a:ea typeface="Calibri" pitchFamily="34" charset="-122"/>
                <a:cs typeface="Calibri" pitchFamily="34" charset="-120"/>
              </a:rPr>
              <a:t>F2</a:t>
            </a:r>
            <a:endParaRPr lang="en-US" sz="1500" dirty="0"/>
          </a:p>
        </p:txBody>
      </p:sp>
      <p:sp>
        <p:nvSpPr>
          <p:cNvPr id="17" name="Text 15"/>
          <p:cNvSpPr/>
          <p:nvPr/>
        </p:nvSpPr>
        <p:spPr>
          <a:xfrm>
            <a:off x="914400" y="1938528"/>
            <a:ext cx="786384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Deep learning outperforms traditional IDS</a:t>
            </a:r>
            <a:endParaRPr lang="en-US" sz="1250" dirty="0"/>
          </a:p>
        </p:txBody>
      </p:sp>
      <p:sp>
        <p:nvSpPr>
          <p:cNvPr id="18" name="Text 16"/>
          <p:cNvSpPr/>
          <p:nvPr/>
        </p:nvSpPr>
        <p:spPr>
          <a:xfrm>
            <a:off x="914400" y="2240280"/>
            <a:ext cx="7863840" cy="256032"/>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LSTM and CNN models achieved 96.8–98.5% detection accuracy compared to 72.3% for signature-based systems, with significantly lower false positive rates in controlled testing.</a:t>
            </a:r>
            <a:endParaRPr lang="en-US" sz="1150" dirty="0"/>
          </a:p>
        </p:txBody>
      </p:sp>
      <p:sp>
        <p:nvSpPr>
          <p:cNvPr id="19" name="Shape 17"/>
          <p:cNvSpPr/>
          <p:nvPr/>
        </p:nvSpPr>
        <p:spPr>
          <a:xfrm>
            <a:off x="274320" y="2633472"/>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0" name="Shape 18"/>
          <p:cNvSpPr/>
          <p:nvPr/>
        </p:nvSpPr>
        <p:spPr>
          <a:xfrm>
            <a:off x="274320" y="2633472"/>
            <a:ext cx="566928" cy="658368"/>
          </a:xfrm>
          <a:prstGeom prst="rect">
            <a:avLst/>
          </a:prstGeom>
          <a:solidFill>
            <a:srgbClr val="00B4D8"/>
          </a:solidFill>
          <a:ln w="12700">
            <a:solidFill>
              <a:srgbClr val="00B4D8"/>
            </a:solidFill>
            <a:prstDash val="solid"/>
          </a:ln>
        </p:spPr>
      </p:sp>
      <p:sp>
        <p:nvSpPr>
          <p:cNvPr id="21" name="Text 19"/>
          <p:cNvSpPr/>
          <p:nvPr/>
        </p:nvSpPr>
        <p:spPr>
          <a:xfrm>
            <a:off x="274320" y="2633472"/>
            <a:ext cx="566928" cy="658368"/>
          </a:xfrm>
          <a:prstGeom prst="rect">
            <a:avLst/>
          </a:prstGeom>
          <a:noFill/>
          <a:ln/>
        </p:spPr>
        <p:txBody>
          <a:bodyPr wrap="square" rtlCol="0" anchor="ctr"/>
          <a:lstStyle/>
          <a:p>
            <a:pPr marL="0" indent="0" algn="ctr">
              <a:buNone/>
            </a:pPr>
            <a:r>
              <a:rPr lang="en-US" sz="1500" b="1" dirty="0">
                <a:solidFill>
                  <a:srgbClr val="0A1628"/>
                </a:solidFill>
                <a:latin typeface="Calibri" pitchFamily="34" charset="0"/>
                <a:ea typeface="Calibri" pitchFamily="34" charset="-122"/>
                <a:cs typeface="Calibri" pitchFamily="34" charset="-120"/>
              </a:rPr>
              <a:t>F3</a:t>
            </a:r>
            <a:endParaRPr lang="en-US" sz="1500" dirty="0"/>
          </a:p>
        </p:txBody>
      </p:sp>
      <p:sp>
        <p:nvSpPr>
          <p:cNvPr id="22" name="Text 20"/>
          <p:cNvSpPr/>
          <p:nvPr/>
        </p:nvSpPr>
        <p:spPr>
          <a:xfrm>
            <a:off x="914400" y="2697480"/>
            <a:ext cx="786384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Human-AI collaboration is the optimal model</a:t>
            </a:r>
            <a:endParaRPr lang="en-US" sz="1250" dirty="0"/>
          </a:p>
        </p:txBody>
      </p:sp>
      <p:sp>
        <p:nvSpPr>
          <p:cNvPr id="23" name="Text 21"/>
          <p:cNvSpPr/>
          <p:nvPr/>
        </p:nvSpPr>
        <p:spPr>
          <a:xfrm>
            <a:off x="914400" y="2999232"/>
            <a:ext cx="7863840" cy="256032"/>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92% of surveyed organizations found hybrid human-AI SOC models most effective. Fully autonomous systems faced trust and compliance barriers; fully manual systems were overwhelmed.</a:t>
            </a:r>
            <a:endParaRPr lang="en-US" sz="1150" dirty="0"/>
          </a:p>
        </p:txBody>
      </p:sp>
      <p:sp>
        <p:nvSpPr>
          <p:cNvPr id="24" name="Shape 22"/>
          <p:cNvSpPr/>
          <p:nvPr/>
        </p:nvSpPr>
        <p:spPr>
          <a:xfrm>
            <a:off x="274320" y="3392424"/>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5" name="Shape 23"/>
          <p:cNvSpPr/>
          <p:nvPr/>
        </p:nvSpPr>
        <p:spPr>
          <a:xfrm>
            <a:off x="274320" y="3392424"/>
            <a:ext cx="566928" cy="658368"/>
          </a:xfrm>
          <a:prstGeom prst="rect">
            <a:avLst/>
          </a:prstGeom>
          <a:solidFill>
            <a:srgbClr val="00B4D8"/>
          </a:solidFill>
          <a:ln w="12700">
            <a:solidFill>
              <a:srgbClr val="00B4D8"/>
            </a:solidFill>
            <a:prstDash val="solid"/>
          </a:ln>
        </p:spPr>
      </p:sp>
      <p:sp>
        <p:nvSpPr>
          <p:cNvPr id="26" name="Text 24"/>
          <p:cNvSpPr/>
          <p:nvPr/>
        </p:nvSpPr>
        <p:spPr>
          <a:xfrm>
            <a:off x="274320" y="3392424"/>
            <a:ext cx="566928" cy="658368"/>
          </a:xfrm>
          <a:prstGeom prst="rect">
            <a:avLst/>
          </a:prstGeom>
          <a:noFill/>
          <a:ln/>
        </p:spPr>
        <p:txBody>
          <a:bodyPr wrap="square" rtlCol="0" anchor="ctr"/>
          <a:lstStyle/>
          <a:p>
            <a:pPr marL="0" indent="0" algn="ctr">
              <a:buNone/>
            </a:pPr>
            <a:r>
              <a:rPr lang="en-US" sz="1500" b="1" dirty="0">
                <a:solidFill>
                  <a:srgbClr val="0A1628"/>
                </a:solidFill>
                <a:latin typeface="Calibri" pitchFamily="34" charset="0"/>
                <a:ea typeface="Calibri" pitchFamily="34" charset="-122"/>
                <a:cs typeface="Calibri" pitchFamily="34" charset="-120"/>
              </a:rPr>
              <a:t>F4</a:t>
            </a:r>
            <a:endParaRPr lang="en-US" sz="1500" dirty="0"/>
          </a:p>
        </p:txBody>
      </p:sp>
      <p:sp>
        <p:nvSpPr>
          <p:cNvPr id="27" name="Text 25"/>
          <p:cNvSpPr/>
          <p:nvPr/>
        </p:nvSpPr>
        <p:spPr>
          <a:xfrm>
            <a:off x="914400" y="3456432"/>
            <a:ext cx="786384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Skill gap is the primary adoption barrier</a:t>
            </a:r>
            <a:endParaRPr lang="en-US" sz="1250" dirty="0"/>
          </a:p>
        </p:txBody>
      </p:sp>
      <p:sp>
        <p:nvSpPr>
          <p:cNvPr id="28" name="Text 26"/>
          <p:cNvSpPr/>
          <p:nvPr/>
        </p:nvSpPr>
        <p:spPr>
          <a:xfrm>
            <a:off x="914400" y="3758184"/>
            <a:ext cx="7863840" cy="256032"/>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78% of organizations have deployed AI tools, but 84% cite talent shortage as the main obstacle to deeper integration. Data science + security expertise remains critically scarce.</a:t>
            </a:r>
            <a:endParaRPr lang="en-US" sz="1150" dirty="0"/>
          </a:p>
        </p:txBody>
      </p:sp>
      <p:sp>
        <p:nvSpPr>
          <p:cNvPr id="29" name="Shape 27"/>
          <p:cNvSpPr/>
          <p:nvPr/>
        </p:nvSpPr>
        <p:spPr>
          <a:xfrm>
            <a:off x="274320" y="4151376"/>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30" name="Shape 28"/>
          <p:cNvSpPr/>
          <p:nvPr/>
        </p:nvSpPr>
        <p:spPr>
          <a:xfrm>
            <a:off x="274320" y="4151376"/>
            <a:ext cx="566928" cy="658368"/>
          </a:xfrm>
          <a:prstGeom prst="rect">
            <a:avLst/>
          </a:prstGeom>
          <a:solidFill>
            <a:srgbClr val="00B4D8"/>
          </a:solidFill>
          <a:ln w="12700">
            <a:solidFill>
              <a:srgbClr val="00B4D8"/>
            </a:solidFill>
            <a:prstDash val="solid"/>
          </a:ln>
        </p:spPr>
      </p:sp>
      <p:sp>
        <p:nvSpPr>
          <p:cNvPr id="31" name="Text 29"/>
          <p:cNvSpPr/>
          <p:nvPr/>
        </p:nvSpPr>
        <p:spPr>
          <a:xfrm>
            <a:off x="274320" y="4151376"/>
            <a:ext cx="566928" cy="658368"/>
          </a:xfrm>
          <a:prstGeom prst="rect">
            <a:avLst/>
          </a:prstGeom>
          <a:noFill/>
          <a:ln/>
        </p:spPr>
        <p:txBody>
          <a:bodyPr wrap="square" rtlCol="0" anchor="ctr"/>
          <a:lstStyle/>
          <a:p>
            <a:pPr marL="0" indent="0" algn="ctr">
              <a:buNone/>
            </a:pPr>
            <a:r>
              <a:rPr lang="en-US" sz="1500" b="1" dirty="0">
                <a:solidFill>
                  <a:srgbClr val="0A1628"/>
                </a:solidFill>
                <a:latin typeface="Calibri" pitchFamily="34" charset="0"/>
                <a:ea typeface="Calibri" pitchFamily="34" charset="-122"/>
                <a:cs typeface="Calibri" pitchFamily="34" charset="-120"/>
              </a:rPr>
              <a:t>F5</a:t>
            </a:r>
            <a:endParaRPr lang="en-US" sz="1500" dirty="0"/>
          </a:p>
        </p:txBody>
      </p:sp>
      <p:sp>
        <p:nvSpPr>
          <p:cNvPr id="32" name="Text 30"/>
          <p:cNvSpPr/>
          <p:nvPr/>
        </p:nvSpPr>
        <p:spPr>
          <a:xfrm>
            <a:off x="914400" y="4215384"/>
            <a:ext cx="786384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Adversarial AI poses emerging dual threats</a:t>
            </a:r>
            <a:endParaRPr lang="en-US" sz="1250" dirty="0"/>
          </a:p>
        </p:txBody>
      </p:sp>
      <p:sp>
        <p:nvSpPr>
          <p:cNvPr id="33" name="Text 31"/>
          <p:cNvSpPr/>
          <p:nvPr/>
        </p:nvSpPr>
        <p:spPr>
          <a:xfrm>
            <a:off x="914400" y="4517136"/>
            <a:ext cx="7863840" cy="256032"/>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AI-powered offensive tools (FraudGPT, WormGPT) are increasingly accessible on dark web markets, requiring AI defenses to incorporate adversarial robustness from the design stage.</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Discussion &amp; Interpretation of Findings</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35</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Connecting Findings to Theoretical Frameworks</a:t>
            </a:r>
            <a:endParaRPr lang="en-US" sz="1600" dirty="0"/>
          </a:p>
        </p:txBody>
      </p:sp>
      <p:sp>
        <p:nvSpPr>
          <p:cNvPr id="9" name="Text 7"/>
          <p:cNvSpPr/>
          <p:nvPr/>
        </p:nvSpPr>
        <p:spPr>
          <a:xfrm>
            <a:off x="365760" y="1078992"/>
            <a:ext cx="8412480" cy="594360"/>
          </a:xfrm>
          <a:prstGeom prst="rect">
            <a:avLst/>
          </a:prstGeom>
          <a:noFill/>
          <a:ln/>
        </p:spPr>
        <p:txBody>
          <a:bodyPr wrap="square" rtlCol="0" anchor="ctr"/>
          <a:lstStyle/>
          <a:p>
            <a:pPr marL="0" indent="0">
              <a:buNone/>
            </a:pPr>
            <a:r>
              <a:rPr lang="en-US" sz="1300" dirty="0">
                <a:solidFill>
                  <a:srgbClr val="CAD3E0"/>
                </a:solidFill>
                <a:latin typeface="Calibri" pitchFamily="34" charset="0"/>
                <a:ea typeface="Calibri" pitchFamily="34" charset="-122"/>
                <a:cs typeface="Calibri" pitchFamily="34" charset="-120"/>
              </a:rPr>
              <a:t>The findings of this study reinforce and extend existing theoretical frameworks while revealing important nuances for practitioners. The results are interpreted through the lens of the four frameworks established in the literature review.</a:t>
            </a:r>
            <a:endParaRPr lang="en-US" sz="1300" dirty="0"/>
          </a:p>
        </p:txBody>
      </p:sp>
      <p:sp>
        <p:nvSpPr>
          <p:cNvPr id="10" name="Shape 8"/>
          <p:cNvSpPr/>
          <p:nvPr/>
        </p:nvSpPr>
        <p:spPr>
          <a:xfrm>
            <a:off x="274320" y="1783080"/>
            <a:ext cx="8595360" cy="658368"/>
          </a:xfrm>
          <a:prstGeom prst="rect">
            <a:avLst/>
          </a:prstGeom>
          <a:solidFill>
            <a:srgbClr val="0D2B55"/>
          </a:solidFill>
          <a:ln w="6350">
            <a:solidFill>
              <a:srgbClr val="0077B6"/>
            </a:solidFill>
            <a:prstDash val="solid"/>
          </a:ln>
        </p:spPr>
      </p:sp>
      <p:sp>
        <p:nvSpPr>
          <p:cNvPr id="11" name="Shape 9"/>
          <p:cNvSpPr/>
          <p:nvPr/>
        </p:nvSpPr>
        <p:spPr>
          <a:xfrm>
            <a:off x="274320" y="1783080"/>
            <a:ext cx="73152" cy="658368"/>
          </a:xfrm>
          <a:prstGeom prst="rect">
            <a:avLst/>
          </a:prstGeom>
          <a:solidFill>
            <a:srgbClr val="00B4D8"/>
          </a:solidFill>
          <a:ln w="12700">
            <a:solidFill>
              <a:srgbClr val="00B4D8"/>
            </a:solidFill>
            <a:prstDash val="solid"/>
          </a:ln>
        </p:spPr>
      </p:sp>
      <p:sp>
        <p:nvSpPr>
          <p:cNvPr id="12" name="Text 10"/>
          <p:cNvSpPr/>
          <p:nvPr/>
        </p:nvSpPr>
        <p:spPr>
          <a:xfrm>
            <a:off x="438912" y="1847088"/>
            <a:ext cx="2194560" cy="256032"/>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Defense-in-Depth:</a:t>
            </a:r>
            <a:endParaRPr lang="en-US" sz="1200" dirty="0"/>
          </a:p>
        </p:txBody>
      </p:sp>
      <p:sp>
        <p:nvSpPr>
          <p:cNvPr id="13" name="Text 11"/>
          <p:cNvSpPr/>
          <p:nvPr/>
        </p:nvSpPr>
        <p:spPr>
          <a:xfrm>
            <a:off x="438912" y="2148840"/>
            <a:ext cx="8321040" cy="256032"/>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AI amplifies each DiD layer independently but creates the greatest value when intelligence is shared across layers, enabling holistic threat correlation that manual monitoring cannot achieve.</a:t>
            </a:r>
            <a:endParaRPr lang="en-US" sz="1150" dirty="0"/>
          </a:p>
        </p:txBody>
      </p:sp>
      <p:sp>
        <p:nvSpPr>
          <p:cNvPr id="14" name="Shape 12"/>
          <p:cNvSpPr/>
          <p:nvPr/>
        </p:nvSpPr>
        <p:spPr>
          <a:xfrm>
            <a:off x="274320" y="2532888"/>
            <a:ext cx="8595360" cy="658368"/>
          </a:xfrm>
          <a:prstGeom prst="rect">
            <a:avLst/>
          </a:prstGeom>
          <a:solidFill>
            <a:srgbClr val="0D2B55"/>
          </a:solidFill>
          <a:ln w="6350">
            <a:solidFill>
              <a:srgbClr val="0077B6"/>
            </a:solidFill>
            <a:prstDash val="solid"/>
          </a:ln>
        </p:spPr>
      </p:sp>
      <p:sp>
        <p:nvSpPr>
          <p:cNvPr id="15" name="Shape 13"/>
          <p:cNvSpPr/>
          <p:nvPr/>
        </p:nvSpPr>
        <p:spPr>
          <a:xfrm>
            <a:off x="274320" y="2532888"/>
            <a:ext cx="73152" cy="658368"/>
          </a:xfrm>
          <a:prstGeom prst="rect">
            <a:avLst/>
          </a:prstGeom>
          <a:solidFill>
            <a:srgbClr val="00B4D8"/>
          </a:solidFill>
          <a:ln w="12700">
            <a:solidFill>
              <a:srgbClr val="00B4D8"/>
            </a:solidFill>
            <a:prstDash val="solid"/>
          </a:ln>
        </p:spPr>
      </p:sp>
      <p:sp>
        <p:nvSpPr>
          <p:cNvPr id="16" name="Text 14"/>
          <p:cNvSpPr/>
          <p:nvPr/>
        </p:nvSpPr>
        <p:spPr>
          <a:xfrm>
            <a:off x="438912" y="2596896"/>
            <a:ext cx="2194560" cy="256032"/>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Zero Trust Architecture:</a:t>
            </a:r>
            <a:endParaRPr lang="en-US" sz="1200" dirty="0"/>
          </a:p>
        </p:txBody>
      </p:sp>
      <p:sp>
        <p:nvSpPr>
          <p:cNvPr id="17" name="Text 15"/>
          <p:cNvSpPr/>
          <p:nvPr/>
        </p:nvSpPr>
        <p:spPr>
          <a:xfrm>
            <a:off x="438912" y="2898648"/>
            <a:ext cx="8321040" cy="256032"/>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AI's continuous behavioral verification capabilities are the technological enabler making ZTA practically feasible at enterprise scale. Without AI, continuous verification creates unacceptable operational overhead.</a:t>
            </a:r>
            <a:endParaRPr lang="en-US" sz="1150" dirty="0"/>
          </a:p>
        </p:txBody>
      </p:sp>
      <p:sp>
        <p:nvSpPr>
          <p:cNvPr id="18" name="Shape 16"/>
          <p:cNvSpPr/>
          <p:nvPr/>
        </p:nvSpPr>
        <p:spPr>
          <a:xfrm>
            <a:off x="274320" y="3282696"/>
            <a:ext cx="8595360" cy="658368"/>
          </a:xfrm>
          <a:prstGeom prst="rect">
            <a:avLst/>
          </a:prstGeom>
          <a:solidFill>
            <a:srgbClr val="0D2B55"/>
          </a:solidFill>
          <a:ln w="6350">
            <a:solidFill>
              <a:srgbClr val="0077B6"/>
            </a:solidFill>
            <a:prstDash val="solid"/>
          </a:ln>
        </p:spPr>
      </p:sp>
      <p:sp>
        <p:nvSpPr>
          <p:cNvPr id="19" name="Shape 17"/>
          <p:cNvSpPr/>
          <p:nvPr/>
        </p:nvSpPr>
        <p:spPr>
          <a:xfrm>
            <a:off x="274320" y="3282696"/>
            <a:ext cx="73152" cy="658368"/>
          </a:xfrm>
          <a:prstGeom prst="rect">
            <a:avLst/>
          </a:prstGeom>
          <a:solidFill>
            <a:srgbClr val="00B4D8"/>
          </a:solidFill>
          <a:ln w="12700">
            <a:solidFill>
              <a:srgbClr val="00B4D8"/>
            </a:solidFill>
            <a:prstDash val="solid"/>
          </a:ln>
        </p:spPr>
      </p:sp>
      <p:sp>
        <p:nvSpPr>
          <p:cNvPr id="20" name="Text 18"/>
          <p:cNvSpPr/>
          <p:nvPr/>
        </p:nvSpPr>
        <p:spPr>
          <a:xfrm>
            <a:off x="438912" y="3346704"/>
            <a:ext cx="2194560" cy="256032"/>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Adaptive Security Architecture:</a:t>
            </a:r>
            <a:endParaRPr lang="en-US" sz="1200" dirty="0"/>
          </a:p>
        </p:txBody>
      </p:sp>
      <p:sp>
        <p:nvSpPr>
          <p:cNvPr id="21" name="Text 19"/>
          <p:cNvSpPr/>
          <p:nvPr/>
        </p:nvSpPr>
        <p:spPr>
          <a:xfrm>
            <a:off x="438912" y="3648456"/>
            <a:ext cx="8321040" cy="256032"/>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AI completes Gartner's adaptive security loop by enabling real-time learning. The gap between 'detect' and 'respond' — identified as the most impactful improvement area — narrows dramatically with AI automation.</a:t>
            </a:r>
            <a:endParaRPr lang="en-US" sz="1150" dirty="0"/>
          </a:p>
        </p:txBody>
      </p:sp>
      <p:sp>
        <p:nvSpPr>
          <p:cNvPr id="22" name="Shape 20"/>
          <p:cNvSpPr/>
          <p:nvPr/>
        </p:nvSpPr>
        <p:spPr>
          <a:xfrm>
            <a:off x="274320" y="4032504"/>
            <a:ext cx="8595360" cy="658368"/>
          </a:xfrm>
          <a:prstGeom prst="rect">
            <a:avLst/>
          </a:prstGeom>
          <a:solidFill>
            <a:srgbClr val="0D2B55"/>
          </a:solidFill>
          <a:ln w="6350">
            <a:solidFill>
              <a:srgbClr val="0077B6"/>
            </a:solidFill>
            <a:prstDash val="solid"/>
          </a:ln>
        </p:spPr>
      </p:sp>
      <p:sp>
        <p:nvSpPr>
          <p:cNvPr id="23" name="Shape 21"/>
          <p:cNvSpPr/>
          <p:nvPr/>
        </p:nvSpPr>
        <p:spPr>
          <a:xfrm>
            <a:off x="274320" y="4032504"/>
            <a:ext cx="73152" cy="658368"/>
          </a:xfrm>
          <a:prstGeom prst="rect">
            <a:avLst/>
          </a:prstGeom>
          <a:solidFill>
            <a:srgbClr val="00B4D8"/>
          </a:solidFill>
          <a:ln w="12700">
            <a:solidFill>
              <a:srgbClr val="00B4D8"/>
            </a:solidFill>
            <a:prstDash val="solid"/>
          </a:ln>
        </p:spPr>
      </p:sp>
      <p:sp>
        <p:nvSpPr>
          <p:cNvPr id="24" name="Text 22"/>
          <p:cNvSpPr/>
          <p:nvPr/>
        </p:nvSpPr>
        <p:spPr>
          <a:xfrm>
            <a:off x="438912" y="4096512"/>
            <a:ext cx="2194560" cy="256032"/>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NIST CSF Alignment:</a:t>
            </a:r>
            <a:endParaRPr lang="en-US" sz="1200" dirty="0"/>
          </a:p>
        </p:txBody>
      </p:sp>
      <p:sp>
        <p:nvSpPr>
          <p:cNvPr id="25" name="Text 23"/>
          <p:cNvSpPr/>
          <p:nvPr/>
        </p:nvSpPr>
        <p:spPr>
          <a:xfrm>
            <a:off x="438912" y="4398264"/>
            <a:ext cx="8321040" cy="256032"/>
          </a:xfrm>
          <a:prstGeom prst="rect">
            <a:avLst/>
          </a:prstGeom>
          <a:noFill/>
          <a:ln/>
        </p:spPr>
        <p:txBody>
          <a:bodyPr wrap="square" lIns="0" tIns="0" rIns="0" bIns="0" rtlCol="0" anchor="ctr"/>
          <a:lstStyle/>
          <a:p>
            <a:pPr marL="0" indent="0">
              <a:buNone/>
            </a:pPr>
            <a:r>
              <a:rPr lang="en-US" sz="1150" dirty="0">
                <a:solidFill>
                  <a:srgbClr val="CAD3E0"/>
                </a:solidFill>
                <a:latin typeface="Calibri" pitchFamily="34" charset="0"/>
                <a:ea typeface="Calibri" pitchFamily="34" charset="-122"/>
                <a:cs typeface="Calibri" pitchFamily="34" charset="-120"/>
              </a:rPr>
              <a:t>AI shows strongest impact in Detect and Respond functions, supporting H1 and H2. The Identify function (AI-driven asset discovery) shows growing value. Recover function automation remains least mature.</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Recommendations for Organizations</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36</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Strategic &amp; Operational AI Security Recommendations</a:t>
            </a:r>
            <a:endParaRPr lang="en-US" sz="1600" dirty="0"/>
          </a:p>
        </p:txBody>
      </p:sp>
      <p:sp>
        <p:nvSpPr>
          <p:cNvPr id="9" name="Shape 7"/>
          <p:cNvSpPr/>
          <p:nvPr/>
        </p:nvSpPr>
        <p:spPr>
          <a:xfrm>
            <a:off x="274320" y="1115568"/>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0" name="Text 8"/>
          <p:cNvSpPr/>
          <p:nvPr/>
        </p:nvSpPr>
        <p:spPr>
          <a:xfrm>
            <a:off x="292608" y="1207008"/>
            <a:ext cx="457200" cy="475488"/>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1" name="Shape 9"/>
          <p:cNvSpPr/>
          <p:nvPr/>
        </p:nvSpPr>
        <p:spPr>
          <a:xfrm>
            <a:off x="777240" y="1243584"/>
            <a:ext cx="594360" cy="228600"/>
          </a:xfrm>
          <a:prstGeom prst="rect">
            <a:avLst/>
          </a:prstGeom>
          <a:solidFill>
            <a:srgbClr val="EF233C"/>
          </a:solidFill>
          <a:ln w="12700">
            <a:solidFill>
              <a:srgbClr val="000000"/>
            </a:solidFill>
            <a:prstDash val="solid"/>
          </a:ln>
        </p:spPr>
      </p:sp>
      <p:sp>
        <p:nvSpPr>
          <p:cNvPr id="12" name="Text 10"/>
          <p:cNvSpPr/>
          <p:nvPr/>
        </p:nvSpPr>
        <p:spPr>
          <a:xfrm>
            <a:off x="777240" y="1243584"/>
            <a:ext cx="594360" cy="228600"/>
          </a:xfrm>
          <a:prstGeom prst="rect">
            <a:avLst/>
          </a:prstGeom>
          <a:noFill/>
          <a:ln/>
        </p:spPr>
        <p:txBody>
          <a:bodyPr wrap="square" rtlCol="0" anchor="ctr"/>
          <a:lstStyle/>
          <a:p>
            <a:pPr marL="0" indent="0" algn="ctr">
              <a:buNone/>
            </a:pPr>
            <a:r>
              <a:rPr lang="en-US" sz="850" b="1" dirty="0">
                <a:solidFill>
                  <a:srgbClr val="0A1628"/>
                </a:solidFill>
                <a:latin typeface="Calibri" pitchFamily="34" charset="0"/>
                <a:ea typeface="Calibri" pitchFamily="34" charset="-122"/>
                <a:cs typeface="Calibri" pitchFamily="34" charset="-120"/>
              </a:rPr>
              <a:t>HIGH</a:t>
            </a:r>
            <a:endParaRPr lang="en-US" sz="850" dirty="0"/>
          </a:p>
        </p:txBody>
      </p:sp>
      <p:sp>
        <p:nvSpPr>
          <p:cNvPr id="13" name="Text 11"/>
          <p:cNvSpPr/>
          <p:nvPr/>
        </p:nvSpPr>
        <p:spPr>
          <a:xfrm>
            <a:off x="1463040" y="1179576"/>
            <a:ext cx="726948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Adopt AI-Native EDR &amp; NDR</a:t>
            </a:r>
            <a:endParaRPr lang="en-US" sz="1250" dirty="0"/>
          </a:p>
        </p:txBody>
      </p:sp>
      <p:sp>
        <p:nvSpPr>
          <p:cNvPr id="14" name="Text 12"/>
          <p:cNvSpPr/>
          <p:nvPr/>
        </p:nvSpPr>
        <p:spPr>
          <a:xfrm>
            <a:off x="1463040" y="1481328"/>
            <a:ext cx="726948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Replace legacy signature-based endpoint and network security tools with AI-powered EDR/NDR platforms. Prioritize vendors with XAI capabilities for compliance and trust requirements.</a:t>
            </a:r>
            <a:endParaRPr lang="en-US" sz="1100" dirty="0"/>
          </a:p>
        </p:txBody>
      </p:sp>
      <p:sp>
        <p:nvSpPr>
          <p:cNvPr id="15" name="Shape 13"/>
          <p:cNvSpPr/>
          <p:nvPr/>
        </p:nvSpPr>
        <p:spPr>
          <a:xfrm>
            <a:off x="274320" y="1874520"/>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6" name="Text 14"/>
          <p:cNvSpPr/>
          <p:nvPr/>
        </p:nvSpPr>
        <p:spPr>
          <a:xfrm>
            <a:off x="292608" y="1965960"/>
            <a:ext cx="457200" cy="475488"/>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7" name="Shape 15"/>
          <p:cNvSpPr/>
          <p:nvPr/>
        </p:nvSpPr>
        <p:spPr>
          <a:xfrm>
            <a:off x="777240" y="2002536"/>
            <a:ext cx="594360" cy="228600"/>
          </a:xfrm>
          <a:prstGeom prst="rect">
            <a:avLst/>
          </a:prstGeom>
          <a:solidFill>
            <a:srgbClr val="EF233C"/>
          </a:solidFill>
          <a:ln w="12700">
            <a:solidFill>
              <a:srgbClr val="000000"/>
            </a:solidFill>
            <a:prstDash val="solid"/>
          </a:ln>
        </p:spPr>
      </p:sp>
      <p:sp>
        <p:nvSpPr>
          <p:cNvPr id="18" name="Text 16"/>
          <p:cNvSpPr/>
          <p:nvPr/>
        </p:nvSpPr>
        <p:spPr>
          <a:xfrm>
            <a:off x="777240" y="2002536"/>
            <a:ext cx="594360" cy="228600"/>
          </a:xfrm>
          <a:prstGeom prst="rect">
            <a:avLst/>
          </a:prstGeom>
          <a:noFill/>
          <a:ln/>
        </p:spPr>
        <p:txBody>
          <a:bodyPr wrap="square" rtlCol="0" anchor="ctr"/>
          <a:lstStyle/>
          <a:p>
            <a:pPr marL="0" indent="0" algn="ctr">
              <a:buNone/>
            </a:pPr>
            <a:r>
              <a:rPr lang="en-US" sz="850" b="1" dirty="0">
                <a:solidFill>
                  <a:srgbClr val="0A1628"/>
                </a:solidFill>
                <a:latin typeface="Calibri" pitchFamily="34" charset="0"/>
                <a:ea typeface="Calibri" pitchFamily="34" charset="-122"/>
                <a:cs typeface="Calibri" pitchFamily="34" charset="-120"/>
              </a:rPr>
              <a:t>HIGH</a:t>
            </a:r>
            <a:endParaRPr lang="en-US" sz="850" dirty="0"/>
          </a:p>
        </p:txBody>
      </p:sp>
      <p:sp>
        <p:nvSpPr>
          <p:cNvPr id="19" name="Text 17"/>
          <p:cNvSpPr/>
          <p:nvPr/>
        </p:nvSpPr>
        <p:spPr>
          <a:xfrm>
            <a:off x="1463040" y="1938528"/>
            <a:ext cx="726948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Invest in AI Security Talent Pipeline</a:t>
            </a:r>
            <a:endParaRPr lang="en-US" sz="1250" dirty="0"/>
          </a:p>
        </p:txBody>
      </p:sp>
      <p:sp>
        <p:nvSpPr>
          <p:cNvPr id="20" name="Text 18"/>
          <p:cNvSpPr/>
          <p:nvPr/>
        </p:nvSpPr>
        <p:spPr>
          <a:xfrm>
            <a:off x="1463040" y="2240280"/>
            <a:ext cx="726948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Develop internal cybersecurity data science training programs. Partner with universities for applied ML security research. Establish clear AI security career paths to retain talent.</a:t>
            </a:r>
            <a:endParaRPr lang="en-US" sz="1100" dirty="0"/>
          </a:p>
        </p:txBody>
      </p:sp>
      <p:sp>
        <p:nvSpPr>
          <p:cNvPr id="21" name="Shape 19"/>
          <p:cNvSpPr/>
          <p:nvPr/>
        </p:nvSpPr>
        <p:spPr>
          <a:xfrm>
            <a:off x="274320" y="2633472"/>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2" name="Text 20"/>
          <p:cNvSpPr/>
          <p:nvPr/>
        </p:nvSpPr>
        <p:spPr>
          <a:xfrm>
            <a:off x="292608" y="2724912"/>
            <a:ext cx="457200" cy="475488"/>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3" name="Shape 21"/>
          <p:cNvSpPr/>
          <p:nvPr/>
        </p:nvSpPr>
        <p:spPr>
          <a:xfrm>
            <a:off x="777240" y="2761488"/>
            <a:ext cx="594360" cy="228600"/>
          </a:xfrm>
          <a:prstGeom prst="rect">
            <a:avLst/>
          </a:prstGeom>
          <a:solidFill>
            <a:srgbClr val="FFD166"/>
          </a:solidFill>
          <a:ln w="12700">
            <a:solidFill>
              <a:srgbClr val="000000"/>
            </a:solidFill>
            <a:prstDash val="solid"/>
          </a:ln>
        </p:spPr>
      </p:sp>
      <p:sp>
        <p:nvSpPr>
          <p:cNvPr id="24" name="Text 22"/>
          <p:cNvSpPr/>
          <p:nvPr/>
        </p:nvSpPr>
        <p:spPr>
          <a:xfrm>
            <a:off x="777240" y="2761488"/>
            <a:ext cx="594360" cy="228600"/>
          </a:xfrm>
          <a:prstGeom prst="rect">
            <a:avLst/>
          </a:prstGeom>
          <a:noFill/>
          <a:ln/>
        </p:spPr>
        <p:txBody>
          <a:bodyPr wrap="square" rtlCol="0" anchor="ctr"/>
          <a:lstStyle/>
          <a:p>
            <a:pPr marL="0" indent="0" algn="ctr">
              <a:buNone/>
            </a:pPr>
            <a:r>
              <a:rPr lang="en-US" sz="850" b="1" dirty="0">
                <a:solidFill>
                  <a:srgbClr val="0A1628"/>
                </a:solidFill>
                <a:latin typeface="Calibri" pitchFamily="34" charset="0"/>
                <a:ea typeface="Calibri" pitchFamily="34" charset="-122"/>
                <a:cs typeface="Calibri" pitchFamily="34" charset="-120"/>
              </a:rPr>
              <a:t>MED</a:t>
            </a:r>
            <a:endParaRPr lang="en-US" sz="850" dirty="0"/>
          </a:p>
        </p:txBody>
      </p:sp>
      <p:sp>
        <p:nvSpPr>
          <p:cNvPr id="25" name="Text 23"/>
          <p:cNvSpPr/>
          <p:nvPr/>
        </p:nvSpPr>
        <p:spPr>
          <a:xfrm>
            <a:off x="1463040" y="2697480"/>
            <a:ext cx="726948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Implement Phased AI SOC Transformation</a:t>
            </a:r>
            <a:endParaRPr lang="en-US" sz="1250" dirty="0"/>
          </a:p>
        </p:txBody>
      </p:sp>
      <p:sp>
        <p:nvSpPr>
          <p:cNvPr id="26" name="Text 24"/>
          <p:cNvSpPr/>
          <p:nvPr/>
        </p:nvSpPr>
        <p:spPr>
          <a:xfrm>
            <a:off x="1463040" y="2999232"/>
            <a:ext cx="726948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Begin AI integration with alert triage and enrichment (Tier 1). Progressively automate Tier 2 investigation as trust is established. Maintain human oversight for Tier 3 threat hunting.</a:t>
            </a:r>
            <a:endParaRPr lang="en-US" sz="1100" dirty="0"/>
          </a:p>
        </p:txBody>
      </p:sp>
      <p:sp>
        <p:nvSpPr>
          <p:cNvPr id="27" name="Shape 25"/>
          <p:cNvSpPr/>
          <p:nvPr/>
        </p:nvSpPr>
        <p:spPr>
          <a:xfrm>
            <a:off x="274320" y="3392424"/>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8" name="Text 26"/>
          <p:cNvSpPr/>
          <p:nvPr/>
        </p:nvSpPr>
        <p:spPr>
          <a:xfrm>
            <a:off x="292608" y="3483864"/>
            <a:ext cx="457200" cy="475488"/>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9" name="Shape 27"/>
          <p:cNvSpPr/>
          <p:nvPr/>
        </p:nvSpPr>
        <p:spPr>
          <a:xfrm>
            <a:off x="777240" y="3520440"/>
            <a:ext cx="594360" cy="228600"/>
          </a:xfrm>
          <a:prstGeom prst="rect">
            <a:avLst/>
          </a:prstGeom>
          <a:solidFill>
            <a:srgbClr val="FFD166"/>
          </a:solidFill>
          <a:ln w="12700">
            <a:solidFill>
              <a:srgbClr val="000000"/>
            </a:solidFill>
            <a:prstDash val="solid"/>
          </a:ln>
        </p:spPr>
      </p:sp>
      <p:sp>
        <p:nvSpPr>
          <p:cNvPr id="30" name="Text 28"/>
          <p:cNvSpPr/>
          <p:nvPr/>
        </p:nvSpPr>
        <p:spPr>
          <a:xfrm>
            <a:off x="777240" y="3520440"/>
            <a:ext cx="594360" cy="228600"/>
          </a:xfrm>
          <a:prstGeom prst="rect">
            <a:avLst/>
          </a:prstGeom>
          <a:noFill/>
          <a:ln/>
        </p:spPr>
        <p:txBody>
          <a:bodyPr wrap="square" rtlCol="0" anchor="ctr"/>
          <a:lstStyle/>
          <a:p>
            <a:pPr marL="0" indent="0" algn="ctr">
              <a:buNone/>
            </a:pPr>
            <a:r>
              <a:rPr lang="en-US" sz="850" b="1" dirty="0">
                <a:solidFill>
                  <a:srgbClr val="0A1628"/>
                </a:solidFill>
                <a:latin typeface="Calibri" pitchFamily="34" charset="0"/>
                <a:ea typeface="Calibri" pitchFamily="34" charset="-122"/>
                <a:cs typeface="Calibri" pitchFamily="34" charset="-120"/>
              </a:rPr>
              <a:t>MED</a:t>
            </a:r>
            <a:endParaRPr lang="en-US" sz="850" dirty="0"/>
          </a:p>
        </p:txBody>
      </p:sp>
      <p:sp>
        <p:nvSpPr>
          <p:cNvPr id="31" name="Text 29"/>
          <p:cNvSpPr/>
          <p:nvPr/>
        </p:nvSpPr>
        <p:spPr>
          <a:xfrm>
            <a:off x="1463040" y="3456432"/>
            <a:ext cx="726948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Establish AI Security Governance Framework</a:t>
            </a:r>
            <a:endParaRPr lang="en-US" sz="1250" dirty="0"/>
          </a:p>
        </p:txBody>
      </p:sp>
      <p:sp>
        <p:nvSpPr>
          <p:cNvPr id="32" name="Text 30"/>
          <p:cNvSpPr/>
          <p:nvPr/>
        </p:nvSpPr>
        <p:spPr>
          <a:xfrm>
            <a:off x="1463040" y="3758184"/>
            <a:ext cx="726948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Define clear policies for AI autonomous action boundaries, model retraining schedules, bias auditing, explainability requirements, and incident accountability chains.</a:t>
            </a:r>
            <a:endParaRPr lang="en-US" sz="1100" dirty="0"/>
          </a:p>
        </p:txBody>
      </p:sp>
      <p:sp>
        <p:nvSpPr>
          <p:cNvPr id="33" name="Shape 31"/>
          <p:cNvSpPr/>
          <p:nvPr/>
        </p:nvSpPr>
        <p:spPr>
          <a:xfrm>
            <a:off x="274320" y="4151376"/>
            <a:ext cx="8595360" cy="65836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34" name="Text 32"/>
          <p:cNvSpPr/>
          <p:nvPr/>
        </p:nvSpPr>
        <p:spPr>
          <a:xfrm>
            <a:off x="292608" y="4242816"/>
            <a:ext cx="457200" cy="475488"/>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35" name="Shape 33"/>
          <p:cNvSpPr/>
          <p:nvPr/>
        </p:nvSpPr>
        <p:spPr>
          <a:xfrm>
            <a:off x="777240" y="4279392"/>
            <a:ext cx="594360" cy="228600"/>
          </a:xfrm>
          <a:prstGeom prst="rect">
            <a:avLst/>
          </a:prstGeom>
          <a:solidFill>
            <a:srgbClr val="06D6A0"/>
          </a:solidFill>
          <a:ln w="12700">
            <a:solidFill>
              <a:srgbClr val="000000"/>
            </a:solidFill>
            <a:prstDash val="solid"/>
          </a:ln>
        </p:spPr>
      </p:sp>
      <p:sp>
        <p:nvSpPr>
          <p:cNvPr id="36" name="Text 34"/>
          <p:cNvSpPr/>
          <p:nvPr/>
        </p:nvSpPr>
        <p:spPr>
          <a:xfrm>
            <a:off x="777240" y="4279392"/>
            <a:ext cx="594360" cy="228600"/>
          </a:xfrm>
          <a:prstGeom prst="rect">
            <a:avLst/>
          </a:prstGeom>
          <a:noFill/>
          <a:ln/>
        </p:spPr>
        <p:txBody>
          <a:bodyPr wrap="square" rtlCol="0" anchor="ctr"/>
          <a:lstStyle/>
          <a:p>
            <a:pPr marL="0" indent="0" algn="ctr">
              <a:buNone/>
            </a:pPr>
            <a:r>
              <a:rPr lang="en-US" sz="850" b="1" dirty="0">
                <a:solidFill>
                  <a:srgbClr val="0A1628"/>
                </a:solidFill>
                <a:latin typeface="Calibri" pitchFamily="34" charset="0"/>
                <a:ea typeface="Calibri" pitchFamily="34" charset="-122"/>
                <a:cs typeface="Calibri" pitchFamily="34" charset="-120"/>
              </a:rPr>
              <a:t>LOW</a:t>
            </a:r>
            <a:endParaRPr lang="en-US" sz="850" dirty="0"/>
          </a:p>
        </p:txBody>
      </p:sp>
      <p:sp>
        <p:nvSpPr>
          <p:cNvPr id="37" name="Text 35"/>
          <p:cNvSpPr/>
          <p:nvPr/>
        </p:nvSpPr>
        <p:spPr>
          <a:xfrm>
            <a:off x="1463040" y="4215384"/>
            <a:ext cx="726948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Participate in Threat Intelligence Sharing</a:t>
            </a:r>
            <a:endParaRPr lang="en-US" sz="1250" dirty="0"/>
          </a:p>
        </p:txBody>
      </p:sp>
      <p:sp>
        <p:nvSpPr>
          <p:cNvPr id="38" name="Text 36"/>
          <p:cNvSpPr/>
          <p:nvPr/>
        </p:nvSpPr>
        <p:spPr>
          <a:xfrm>
            <a:off x="1463040" y="4517136"/>
            <a:ext cx="726948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Join sector-specific AI-powered threat intelligence sharing platforms (ISACs). Federated learning approaches enable collective intelligence without compromising sensitive data.</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Future Research Directions</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37</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Promising Areas for Future Investigation</a:t>
            </a:r>
            <a:endParaRPr lang="en-US" sz="1600" dirty="0"/>
          </a:p>
        </p:txBody>
      </p:sp>
      <p:sp>
        <p:nvSpPr>
          <p:cNvPr id="9" name="Shape 7"/>
          <p:cNvSpPr/>
          <p:nvPr/>
        </p:nvSpPr>
        <p:spPr>
          <a:xfrm>
            <a:off x="274320" y="1143000"/>
            <a:ext cx="4206240" cy="120700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0" name="Shape 8"/>
          <p:cNvSpPr/>
          <p:nvPr/>
        </p:nvSpPr>
        <p:spPr>
          <a:xfrm>
            <a:off x="274320" y="1143000"/>
            <a:ext cx="4206240" cy="54864"/>
          </a:xfrm>
          <a:prstGeom prst="rect">
            <a:avLst/>
          </a:prstGeom>
          <a:solidFill>
            <a:srgbClr val="00B4D8"/>
          </a:solidFill>
          <a:ln w="12700">
            <a:solidFill>
              <a:srgbClr val="00B4D8"/>
            </a:solidFill>
            <a:prstDash val="solid"/>
          </a:ln>
        </p:spPr>
      </p:sp>
      <p:sp>
        <p:nvSpPr>
          <p:cNvPr id="11" name="Text 9"/>
          <p:cNvSpPr/>
          <p:nvPr/>
        </p:nvSpPr>
        <p:spPr>
          <a:xfrm>
            <a:off x="384048" y="1252728"/>
            <a:ext cx="397764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Quantum Computing &amp; AI Security</a:t>
            </a:r>
            <a:endParaRPr lang="en-US" sz="1200" dirty="0"/>
          </a:p>
        </p:txBody>
      </p:sp>
      <p:sp>
        <p:nvSpPr>
          <p:cNvPr id="12" name="Text 10"/>
          <p:cNvSpPr/>
          <p:nvPr/>
        </p:nvSpPr>
        <p:spPr>
          <a:xfrm>
            <a:off x="384048" y="1581912"/>
            <a:ext cx="3977640" cy="73152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As quantum computers threaten current encryption, research is needed on AI-driven post-quantum cryptography implementation, quantum-safe key management, and AI's role in accelerating cryptographic agility.</a:t>
            </a:r>
            <a:endParaRPr lang="en-US" sz="1100" dirty="0"/>
          </a:p>
        </p:txBody>
      </p:sp>
      <p:sp>
        <p:nvSpPr>
          <p:cNvPr id="13" name="Shape 11"/>
          <p:cNvSpPr/>
          <p:nvPr/>
        </p:nvSpPr>
        <p:spPr>
          <a:xfrm>
            <a:off x="4754880" y="1143000"/>
            <a:ext cx="4206240" cy="120700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4" name="Shape 12"/>
          <p:cNvSpPr/>
          <p:nvPr/>
        </p:nvSpPr>
        <p:spPr>
          <a:xfrm>
            <a:off x="4754880" y="1143000"/>
            <a:ext cx="4206240" cy="54864"/>
          </a:xfrm>
          <a:prstGeom prst="rect">
            <a:avLst/>
          </a:prstGeom>
          <a:solidFill>
            <a:srgbClr val="00B4D8"/>
          </a:solidFill>
          <a:ln w="12700">
            <a:solidFill>
              <a:srgbClr val="00B4D8"/>
            </a:solidFill>
            <a:prstDash val="solid"/>
          </a:ln>
        </p:spPr>
      </p:sp>
      <p:sp>
        <p:nvSpPr>
          <p:cNvPr id="15" name="Text 13"/>
          <p:cNvSpPr/>
          <p:nvPr/>
        </p:nvSpPr>
        <p:spPr>
          <a:xfrm>
            <a:off x="4864608" y="1252728"/>
            <a:ext cx="397764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Generative AI Threat Landscape</a:t>
            </a:r>
            <a:endParaRPr lang="en-US" sz="1200" dirty="0"/>
          </a:p>
        </p:txBody>
      </p:sp>
      <p:sp>
        <p:nvSpPr>
          <p:cNvPr id="16" name="Text 14"/>
          <p:cNvSpPr/>
          <p:nvPr/>
        </p:nvSpPr>
        <p:spPr>
          <a:xfrm>
            <a:off x="4864608" y="1581912"/>
            <a:ext cx="3977640" cy="73152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Systematic study of offensive applications of LLMs (ChatGPT, Claude) for attack generation, and countermeasure development. The defensive use of generative AI for synthetic training data creation also warrants investigation.</a:t>
            </a:r>
            <a:endParaRPr lang="en-US" sz="1100" dirty="0"/>
          </a:p>
        </p:txBody>
      </p:sp>
      <p:sp>
        <p:nvSpPr>
          <p:cNvPr id="17" name="Shape 15"/>
          <p:cNvSpPr/>
          <p:nvPr/>
        </p:nvSpPr>
        <p:spPr>
          <a:xfrm>
            <a:off x="274320" y="2542032"/>
            <a:ext cx="4206240" cy="120700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8" name="Shape 16"/>
          <p:cNvSpPr/>
          <p:nvPr/>
        </p:nvSpPr>
        <p:spPr>
          <a:xfrm>
            <a:off x="274320" y="2542032"/>
            <a:ext cx="4206240" cy="54864"/>
          </a:xfrm>
          <a:prstGeom prst="rect">
            <a:avLst/>
          </a:prstGeom>
          <a:solidFill>
            <a:srgbClr val="00B4D8"/>
          </a:solidFill>
          <a:ln w="12700">
            <a:solidFill>
              <a:srgbClr val="00B4D8"/>
            </a:solidFill>
            <a:prstDash val="solid"/>
          </a:ln>
        </p:spPr>
      </p:sp>
      <p:sp>
        <p:nvSpPr>
          <p:cNvPr id="19" name="Text 17"/>
          <p:cNvSpPr/>
          <p:nvPr/>
        </p:nvSpPr>
        <p:spPr>
          <a:xfrm>
            <a:off x="384048" y="2651760"/>
            <a:ext cx="397764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AI Security for Edge Computing &amp; IoT</a:t>
            </a:r>
            <a:endParaRPr lang="en-US" sz="1200" dirty="0"/>
          </a:p>
        </p:txBody>
      </p:sp>
      <p:sp>
        <p:nvSpPr>
          <p:cNvPr id="20" name="Text 18"/>
          <p:cNvSpPr/>
          <p:nvPr/>
        </p:nvSpPr>
        <p:spPr>
          <a:xfrm>
            <a:off x="384048" y="2980944"/>
            <a:ext cx="3977640" cy="73152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Resource-constrained environments (smartgrid, autonomous vehicles, medical devices) require lightweight AI security models. Federated learning and on-device ML for edge security is a critical emerging research area.</a:t>
            </a:r>
            <a:endParaRPr lang="en-US" sz="1100" dirty="0"/>
          </a:p>
        </p:txBody>
      </p:sp>
      <p:sp>
        <p:nvSpPr>
          <p:cNvPr id="21" name="Shape 19"/>
          <p:cNvSpPr/>
          <p:nvPr/>
        </p:nvSpPr>
        <p:spPr>
          <a:xfrm>
            <a:off x="4754880" y="2542032"/>
            <a:ext cx="4206240" cy="120700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2" name="Shape 20"/>
          <p:cNvSpPr/>
          <p:nvPr/>
        </p:nvSpPr>
        <p:spPr>
          <a:xfrm>
            <a:off x="4754880" y="2542032"/>
            <a:ext cx="4206240" cy="54864"/>
          </a:xfrm>
          <a:prstGeom prst="rect">
            <a:avLst/>
          </a:prstGeom>
          <a:solidFill>
            <a:srgbClr val="00B4D8"/>
          </a:solidFill>
          <a:ln w="12700">
            <a:solidFill>
              <a:srgbClr val="00B4D8"/>
            </a:solidFill>
            <a:prstDash val="solid"/>
          </a:ln>
        </p:spPr>
      </p:sp>
      <p:sp>
        <p:nvSpPr>
          <p:cNvPr id="23" name="Text 21"/>
          <p:cNvSpPr/>
          <p:nvPr/>
        </p:nvSpPr>
        <p:spPr>
          <a:xfrm>
            <a:off x="4864608" y="2651760"/>
            <a:ext cx="397764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Explainable AI (XAI) in Security Compliance</a:t>
            </a:r>
            <a:endParaRPr lang="en-US" sz="1200" dirty="0"/>
          </a:p>
        </p:txBody>
      </p:sp>
      <p:sp>
        <p:nvSpPr>
          <p:cNvPr id="24" name="Text 22"/>
          <p:cNvSpPr/>
          <p:nvPr/>
        </p:nvSpPr>
        <p:spPr>
          <a:xfrm>
            <a:off x="4864608" y="2980944"/>
            <a:ext cx="3977640" cy="73152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Developing XAI frameworks specifically designed for regulatory compliance requirements (GDPR, HIPAA, PCI-DSS). Research on optimal explanation formats for different stakeholder groups (analysts, executives, regulators).</a:t>
            </a:r>
            <a:endParaRPr lang="en-US" sz="1100" dirty="0"/>
          </a:p>
        </p:txBody>
      </p:sp>
      <p:sp>
        <p:nvSpPr>
          <p:cNvPr id="25" name="Shape 23"/>
          <p:cNvSpPr/>
          <p:nvPr/>
        </p:nvSpPr>
        <p:spPr>
          <a:xfrm>
            <a:off x="274320" y="3931920"/>
            <a:ext cx="4206240" cy="120700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26" name="Shape 24"/>
          <p:cNvSpPr/>
          <p:nvPr/>
        </p:nvSpPr>
        <p:spPr>
          <a:xfrm>
            <a:off x="274320" y="3931920"/>
            <a:ext cx="4206240" cy="54864"/>
          </a:xfrm>
          <a:prstGeom prst="rect">
            <a:avLst/>
          </a:prstGeom>
          <a:solidFill>
            <a:srgbClr val="00B4D8"/>
          </a:solidFill>
          <a:ln w="12700">
            <a:solidFill>
              <a:srgbClr val="00B4D8"/>
            </a:solidFill>
            <a:prstDash val="solid"/>
          </a:ln>
        </p:spPr>
      </p:sp>
      <p:sp>
        <p:nvSpPr>
          <p:cNvPr id="27" name="Text 25"/>
          <p:cNvSpPr/>
          <p:nvPr/>
        </p:nvSpPr>
        <p:spPr>
          <a:xfrm>
            <a:off x="384048" y="4041648"/>
            <a:ext cx="397764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Longitudinal ROI Studies</a:t>
            </a:r>
            <a:endParaRPr lang="en-US" sz="1200" dirty="0"/>
          </a:p>
        </p:txBody>
      </p:sp>
      <p:sp>
        <p:nvSpPr>
          <p:cNvPr id="28" name="Text 26"/>
          <p:cNvSpPr/>
          <p:nvPr/>
        </p:nvSpPr>
        <p:spPr>
          <a:xfrm>
            <a:off x="384048" y="4370832"/>
            <a:ext cx="3977640" cy="73152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Long-term empirical studies measuring the financial return on AI cybersecurity investments across different sectors and organization sizes, providing evidence-based guidance for procurement decisions.</a:t>
            </a:r>
            <a:endParaRPr lang="en-US" sz="1100" dirty="0"/>
          </a:p>
        </p:txBody>
      </p:sp>
      <p:sp>
        <p:nvSpPr>
          <p:cNvPr id="29" name="Shape 27"/>
          <p:cNvSpPr/>
          <p:nvPr/>
        </p:nvSpPr>
        <p:spPr>
          <a:xfrm>
            <a:off x="4754880" y="3931920"/>
            <a:ext cx="4206240" cy="1207008"/>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30" name="Shape 28"/>
          <p:cNvSpPr/>
          <p:nvPr/>
        </p:nvSpPr>
        <p:spPr>
          <a:xfrm>
            <a:off x="4754880" y="3931920"/>
            <a:ext cx="4206240" cy="54864"/>
          </a:xfrm>
          <a:prstGeom prst="rect">
            <a:avLst/>
          </a:prstGeom>
          <a:solidFill>
            <a:srgbClr val="00B4D8"/>
          </a:solidFill>
          <a:ln w="12700">
            <a:solidFill>
              <a:srgbClr val="00B4D8"/>
            </a:solidFill>
            <a:prstDash val="solid"/>
          </a:ln>
        </p:spPr>
      </p:sp>
      <p:sp>
        <p:nvSpPr>
          <p:cNvPr id="31" name="Text 29"/>
          <p:cNvSpPr/>
          <p:nvPr/>
        </p:nvSpPr>
        <p:spPr>
          <a:xfrm>
            <a:off x="4864608" y="4041648"/>
            <a:ext cx="397764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AI Ethics in Cyber Defense Autonomy</a:t>
            </a:r>
            <a:endParaRPr lang="en-US" sz="1200" dirty="0"/>
          </a:p>
        </p:txBody>
      </p:sp>
      <p:sp>
        <p:nvSpPr>
          <p:cNvPr id="32" name="Text 30"/>
          <p:cNvSpPr/>
          <p:nvPr/>
        </p:nvSpPr>
        <p:spPr>
          <a:xfrm>
            <a:off x="4864608" y="4370832"/>
            <a:ext cx="3977640" cy="731520"/>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Interdisciplinary research on acceptable autonomy limits for AI security systems, liability frameworks for autonomous AI decisions, and development of internationally recognized AI security governance standards.</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Conclusion</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38</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65760"/>
          </a:xfrm>
          <a:prstGeom prst="rect">
            <a:avLst/>
          </a:prstGeom>
          <a:noFill/>
          <a:ln/>
        </p:spPr>
        <p:txBody>
          <a:bodyPr wrap="square"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Research Summary &amp; Contribution</a:t>
            </a:r>
            <a:endParaRPr lang="en-US" sz="1600" dirty="0"/>
          </a:p>
        </p:txBody>
      </p:sp>
      <p:sp>
        <p:nvSpPr>
          <p:cNvPr id="9" name="Shape 7"/>
          <p:cNvSpPr/>
          <p:nvPr/>
        </p:nvSpPr>
        <p:spPr>
          <a:xfrm>
            <a:off x="274320" y="1115568"/>
            <a:ext cx="8595360" cy="1005840"/>
          </a:xfrm>
          <a:prstGeom prst="rect">
            <a:avLst/>
          </a:prstGeom>
          <a:solidFill>
            <a:srgbClr val="0D2B55"/>
          </a:solidFill>
          <a:ln w="6350">
            <a:solidFill>
              <a:srgbClr val="0077B6"/>
            </a:solidFill>
            <a:prstDash val="solid"/>
          </a:ln>
          <a:effectLst>
            <a:outerShdw blurRad="101600" dist="38100" dir="8100000" algn="bl" rotWithShape="0">
              <a:srgbClr val="000000">
                <a:alpha val="20000"/>
              </a:srgbClr>
            </a:outerShdw>
          </a:effectLst>
        </p:spPr>
      </p:sp>
      <p:sp>
        <p:nvSpPr>
          <p:cNvPr id="10" name="Text 8"/>
          <p:cNvSpPr/>
          <p:nvPr/>
        </p:nvSpPr>
        <p:spPr>
          <a:xfrm>
            <a:off x="438912" y="1170432"/>
            <a:ext cx="8321040" cy="914400"/>
          </a:xfrm>
          <a:prstGeom prst="rect">
            <a:avLst/>
          </a:prstGeom>
          <a:noFill/>
          <a:ln/>
        </p:spPr>
        <p:txBody>
          <a:bodyPr wrap="square" lIns="0" tIns="0" rIns="0" bIns="0" rtlCol="0" anchor="ctr"/>
          <a:lstStyle/>
          <a:p>
            <a:pPr marL="0" indent="0">
              <a:buNone/>
            </a:pPr>
            <a:r>
              <a:rPr lang="en-US" sz="1250" dirty="0">
                <a:solidFill>
                  <a:srgbClr val="CAD3E0"/>
                </a:solidFill>
                <a:latin typeface="Calibri" pitchFamily="34" charset="0"/>
                <a:ea typeface="Calibri" pitchFamily="34" charset="-122"/>
                <a:cs typeface="Calibri" pitchFamily="34" charset="-120"/>
              </a:rPr>
              <a:t>This research has comprehensively demonstrated that Artificial Intelligence is not merely an incremental improvement to cybersecurity — it represents a fundamental paradigm shift. In an era where cyber threats evolve faster than human analysts can respond, AI provides the speed, scale, and adaptability essential for effective digital defense. The transition from reactive, signature-based security to proactive, AI-augmented security operations is no longer optional for organizations managing sensitive data and critical infrastructure.</a:t>
            </a:r>
            <a:endParaRPr lang="en-US" sz="1250" dirty="0"/>
          </a:p>
        </p:txBody>
      </p:sp>
      <p:sp>
        <p:nvSpPr>
          <p:cNvPr id="11" name="Text 9"/>
          <p:cNvSpPr/>
          <p:nvPr/>
        </p:nvSpPr>
        <p:spPr>
          <a:xfrm>
            <a:off x="365760" y="2212848"/>
            <a:ext cx="8412480" cy="2606040"/>
          </a:xfrm>
          <a:prstGeom prst="rect">
            <a:avLst/>
          </a:prstGeom>
          <a:noFill/>
          <a:ln/>
        </p:spPr>
        <p:txBody>
          <a:bodyPr wrap="square" rtlCol="0" anchor="ctr"/>
          <a:lstStyle/>
          <a:p>
            <a:pPr marL="342900" indent="-342900">
              <a:buSzPct val="100000"/>
              <a:buChar char="•"/>
            </a:pPr>
            <a:r>
              <a:rPr lang="en-US" sz="1250" dirty="0">
                <a:solidFill>
                  <a:srgbClr val="CAD3E0"/>
                </a:solidFill>
                <a:latin typeface="Calibri" pitchFamily="34" charset="0"/>
                <a:ea typeface="Calibri" pitchFamily="34" charset="-122"/>
                <a:cs typeface="Calibri" pitchFamily="34" charset="-120"/>
              </a:rPr>
              <a:t>AI technologies — particularly ML, deep learning, and NLP — demonstrably outperform traditional cybersecurity tools across detection accuracy, response speed, and analytical throughput.</a:t>
            </a:r>
            <a:endParaRPr lang="en-US" sz="1250" dirty="0"/>
          </a:p>
          <a:p>
            <a:pPr marL="342900" indent="-342900">
              <a:buSzPct val="100000"/>
              <a:buChar char="•"/>
            </a:pPr>
            <a:r>
              <a:rPr lang="en-US" sz="1250" dirty="0">
                <a:solidFill>
                  <a:srgbClr val="CAD3E0"/>
                </a:solidFill>
                <a:latin typeface="Calibri" pitchFamily="34" charset="0"/>
                <a:ea typeface="Calibri" pitchFamily="34" charset="-122"/>
                <a:cs typeface="Calibri" pitchFamily="34" charset="-120"/>
              </a:rPr>
              <a:t>The optimal security architecture combines AI automation for high-volume, speed-sensitive tasks with human expertise for strategic threat hunting, complex investigations, and ethical oversight.</a:t>
            </a:r>
            <a:endParaRPr lang="en-US" sz="1250" dirty="0"/>
          </a:p>
          <a:p>
            <a:pPr marL="342900" indent="-342900">
              <a:buSzPct val="100000"/>
              <a:buChar char="•"/>
            </a:pPr>
            <a:r>
              <a:rPr lang="en-US" sz="1250" dirty="0">
                <a:solidFill>
                  <a:srgbClr val="CAD3E0"/>
                </a:solidFill>
                <a:latin typeface="Calibri" pitchFamily="34" charset="0"/>
                <a:ea typeface="Calibri" pitchFamily="34" charset="-122"/>
                <a:cs typeface="Calibri" pitchFamily="34" charset="-120"/>
              </a:rPr>
              <a:t>Successful AI security deployment requires concurrent investment in technology, talent development, governance frameworks, and cultural transformation toward data-driven security operations.</a:t>
            </a:r>
            <a:endParaRPr lang="en-US" sz="1250" dirty="0"/>
          </a:p>
          <a:p>
            <a:pPr marL="342900" indent="-342900">
              <a:buSzPct val="100000"/>
              <a:buChar char="•"/>
            </a:pPr>
            <a:r>
              <a:rPr lang="en-US" sz="1250" dirty="0">
                <a:solidFill>
                  <a:srgbClr val="CAD3E0"/>
                </a:solidFill>
                <a:latin typeface="Calibri" pitchFamily="34" charset="0"/>
                <a:ea typeface="Calibri" pitchFamily="34" charset="-122"/>
                <a:cs typeface="Calibri" pitchFamily="34" charset="-120"/>
              </a:rPr>
              <a:t>The AI arms race necessitates continuous research, adversarial robustness testing, and collaborative intelligence sharing to maintain defensive advantage against AI-powered threat actors.</a:t>
            </a:r>
            <a:endParaRPr lang="en-US" sz="1250" dirty="0"/>
          </a:p>
          <a:p>
            <a:pPr marL="0" indent="0">
              <a:buNone/>
            </a:pP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Limitations &amp; Scope of the Study</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39</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4114800" cy="365760"/>
          </a:xfrm>
          <a:prstGeom prst="rect">
            <a:avLst/>
          </a:prstGeom>
          <a:noFill/>
          <a:ln/>
        </p:spPr>
        <p:txBody>
          <a:bodyPr wrap="square" rtlCol="0" anchor="ctr"/>
          <a:lstStyle/>
          <a:p>
            <a:pPr marL="0" indent="0">
              <a:buNone/>
            </a:pPr>
            <a:r>
              <a:rPr lang="en-US" sz="1500" b="1" dirty="0">
                <a:solidFill>
                  <a:srgbClr val="00B4D8"/>
                </a:solidFill>
                <a:latin typeface="Calibri" pitchFamily="34" charset="0"/>
                <a:ea typeface="Calibri" pitchFamily="34" charset="-122"/>
                <a:cs typeface="Calibri" pitchFamily="34" charset="-120"/>
              </a:rPr>
              <a:t>Acknowledging Research Boundaries</a:t>
            </a:r>
            <a:endParaRPr lang="en-US" sz="1500" dirty="0"/>
          </a:p>
        </p:txBody>
      </p:sp>
      <p:sp>
        <p:nvSpPr>
          <p:cNvPr id="9" name="Text 7"/>
          <p:cNvSpPr/>
          <p:nvPr/>
        </p:nvSpPr>
        <p:spPr>
          <a:xfrm>
            <a:off x="4754880" y="685800"/>
            <a:ext cx="4114800" cy="365760"/>
          </a:xfrm>
          <a:prstGeom prst="rect">
            <a:avLst/>
          </a:prstGeom>
          <a:noFill/>
          <a:ln/>
        </p:spPr>
        <p:txBody>
          <a:bodyPr wrap="square" rtlCol="0" anchor="ctr"/>
          <a:lstStyle/>
          <a:p>
            <a:pPr marL="0" indent="0">
              <a:buNone/>
            </a:pPr>
            <a:r>
              <a:rPr lang="en-US" sz="1500" b="1" dirty="0">
                <a:solidFill>
                  <a:srgbClr val="06D6A0"/>
                </a:solidFill>
                <a:latin typeface="Calibri" pitchFamily="34" charset="0"/>
                <a:ea typeface="Calibri" pitchFamily="34" charset="-122"/>
                <a:cs typeface="Calibri" pitchFamily="34" charset="-120"/>
              </a:rPr>
              <a:t>Future Directions Summary</a:t>
            </a:r>
            <a:endParaRPr lang="en-US" sz="1500" dirty="0"/>
          </a:p>
        </p:txBody>
      </p:sp>
      <p:sp>
        <p:nvSpPr>
          <p:cNvPr id="10" name="Shape 8"/>
          <p:cNvSpPr/>
          <p:nvPr/>
        </p:nvSpPr>
        <p:spPr>
          <a:xfrm>
            <a:off x="274320" y="1143000"/>
            <a:ext cx="4114800" cy="621792"/>
          </a:xfrm>
          <a:prstGeom prst="rect">
            <a:avLst/>
          </a:prstGeom>
          <a:solidFill>
            <a:srgbClr val="0D2B55"/>
          </a:solidFill>
          <a:ln w="6350">
            <a:solidFill>
              <a:srgbClr val="0077B6"/>
            </a:solidFill>
            <a:prstDash val="solid"/>
          </a:ln>
        </p:spPr>
      </p:sp>
      <p:sp>
        <p:nvSpPr>
          <p:cNvPr id="11" name="Text 9"/>
          <p:cNvSpPr/>
          <p:nvPr/>
        </p:nvSpPr>
        <p:spPr>
          <a:xfrm>
            <a:off x="384048" y="1207008"/>
            <a:ext cx="3840480" cy="237744"/>
          </a:xfrm>
          <a:prstGeom prst="rect">
            <a:avLst/>
          </a:prstGeom>
          <a:noFill/>
          <a:ln/>
        </p:spPr>
        <p:txBody>
          <a:bodyPr wrap="square" lIns="0" tIns="0" rIns="0" bIns="0" rtlCol="0" anchor="ctr"/>
          <a:lstStyle/>
          <a:p>
            <a:pPr marL="0" indent="0">
              <a:buNone/>
            </a:pPr>
            <a:r>
              <a:rPr lang="en-US" sz="1150" b="1" dirty="0">
                <a:solidFill>
                  <a:srgbClr val="00B4D8"/>
                </a:solidFill>
                <a:latin typeface="Calibri" pitchFamily="34" charset="0"/>
                <a:ea typeface="Calibri" pitchFamily="34" charset="-122"/>
                <a:cs typeface="Calibri" pitchFamily="34" charset="-120"/>
              </a:rPr>
              <a:t>Sample Size</a:t>
            </a:r>
            <a:endParaRPr lang="en-US" sz="1150" dirty="0"/>
          </a:p>
        </p:txBody>
      </p:sp>
      <p:sp>
        <p:nvSpPr>
          <p:cNvPr id="12" name="Text 10"/>
          <p:cNvSpPr/>
          <p:nvPr/>
        </p:nvSpPr>
        <p:spPr>
          <a:xfrm>
            <a:off x="384048" y="1490472"/>
            <a:ext cx="384048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120 respondents from 30 organizations. Findings may not generalize to all industry sectors or SMEs globally.</a:t>
            </a:r>
            <a:endParaRPr lang="en-US" sz="1100" dirty="0"/>
          </a:p>
        </p:txBody>
      </p:sp>
      <p:sp>
        <p:nvSpPr>
          <p:cNvPr id="13" name="Shape 11"/>
          <p:cNvSpPr/>
          <p:nvPr/>
        </p:nvSpPr>
        <p:spPr>
          <a:xfrm>
            <a:off x="274320" y="1874520"/>
            <a:ext cx="4114800" cy="621792"/>
          </a:xfrm>
          <a:prstGeom prst="rect">
            <a:avLst/>
          </a:prstGeom>
          <a:solidFill>
            <a:srgbClr val="0D2B55"/>
          </a:solidFill>
          <a:ln w="6350">
            <a:solidFill>
              <a:srgbClr val="0077B6"/>
            </a:solidFill>
            <a:prstDash val="solid"/>
          </a:ln>
        </p:spPr>
      </p:sp>
      <p:sp>
        <p:nvSpPr>
          <p:cNvPr id="14" name="Text 12"/>
          <p:cNvSpPr/>
          <p:nvPr/>
        </p:nvSpPr>
        <p:spPr>
          <a:xfrm>
            <a:off x="384048" y="1938528"/>
            <a:ext cx="3840480" cy="237744"/>
          </a:xfrm>
          <a:prstGeom prst="rect">
            <a:avLst/>
          </a:prstGeom>
          <a:noFill/>
          <a:ln/>
        </p:spPr>
        <p:txBody>
          <a:bodyPr wrap="square" lIns="0" tIns="0" rIns="0" bIns="0" rtlCol="0" anchor="ctr"/>
          <a:lstStyle/>
          <a:p>
            <a:pPr marL="0" indent="0">
              <a:buNone/>
            </a:pPr>
            <a:r>
              <a:rPr lang="en-US" sz="1150" b="1" dirty="0">
                <a:solidFill>
                  <a:srgbClr val="00B4D8"/>
                </a:solidFill>
                <a:latin typeface="Calibri" pitchFamily="34" charset="0"/>
                <a:ea typeface="Calibri" pitchFamily="34" charset="-122"/>
                <a:cs typeface="Calibri" pitchFamily="34" charset="-120"/>
              </a:rPr>
              <a:t>Geographic Scope</a:t>
            </a:r>
            <a:endParaRPr lang="en-US" sz="1150" dirty="0"/>
          </a:p>
        </p:txBody>
      </p:sp>
      <p:sp>
        <p:nvSpPr>
          <p:cNvPr id="15" name="Text 13"/>
          <p:cNvSpPr/>
          <p:nvPr/>
        </p:nvSpPr>
        <p:spPr>
          <a:xfrm>
            <a:off x="384048" y="2221992"/>
            <a:ext cx="384048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Primarily India-based with limited international comparison. Global AI adoption patterns may differ significantly.</a:t>
            </a:r>
            <a:endParaRPr lang="en-US" sz="1100" dirty="0"/>
          </a:p>
        </p:txBody>
      </p:sp>
      <p:sp>
        <p:nvSpPr>
          <p:cNvPr id="16" name="Shape 14"/>
          <p:cNvSpPr/>
          <p:nvPr/>
        </p:nvSpPr>
        <p:spPr>
          <a:xfrm>
            <a:off x="274320" y="2606040"/>
            <a:ext cx="4114800" cy="621792"/>
          </a:xfrm>
          <a:prstGeom prst="rect">
            <a:avLst/>
          </a:prstGeom>
          <a:solidFill>
            <a:srgbClr val="0D2B55"/>
          </a:solidFill>
          <a:ln w="6350">
            <a:solidFill>
              <a:srgbClr val="0077B6"/>
            </a:solidFill>
            <a:prstDash val="solid"/>
          </a:ln>
        </p:spPr>
      </p:sp>
      <p:sp>
        <p:nvSpPr>
          <p:cNvPr id="17" name="Text 15"/>
          <p:cNvSpPr/>
          <p:nvPr/>
        </p:nvSpPr>
        <p:spPr>
          <a:xfrm>
            <a:off x="384048" y="2670048"/>
            <a:ext cx="3840480" cy="237744"/>
          </a:xfrm>
          <a:prstGeom prst="rect">
            <a:avLst/>
          </a:prstGeom>
          <a:noFill/>
          <a:ln/>
        </p:spPr>
        <p:txBody>
          <a:bodyPr wrap="square" lIns="0" tIns="0" rIns="0" bIns="0" rtlCol="0" anchor="ctr"/>
          <a:lstStyle/>
          <a:p>
            <a:pPr marL="0" indent="0">
              <a:buNone/>
            </a:pPr>
            <a:r>
              <a:rPr lang="en-US" sz="1150" b="1" dirty="0">
                <a:solidFill>
                  <a:srgbClr val="00B4D8"/>
                </a:solidFill>
                <a:latin typeface="Calibri" pitchFamily="34" charset="0"/>
                <a:ea typeface="Calibri" pitchFamily="34" charset="-122"/>
                <a:cs typeface="Calibri" pitchFamily="34" charset="-120"/>
              </a:rPr>
              <a:t>Tool Specificity</a:t>
            </a:r>
            <a:endParaRPr lang="en-US" sz="1150" dirty="0"/>
          </a:p>
        </p:txBody>
      </p:sp>
      <p:sp>
        <p:nvSpPr>
          <p:cNvPr id="18" name="Text 16"/>
          <p:cNvSpPr/>
          <p:nvPr/>
        </p:nvSpPr>
        <p:spPr>
          <a:xfrm>
            <a:off x="384048" y="2953512"/>
            <a:ext cx="384048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Survey covered AI security generically; vendor-specific performance variability not measured in depth.</a:t>
            </a:r>
            <a:endParaRPr lang="en-US" sz="1100" dirty="0"/>
          </a:p>
        </p:txBody>
      </p:sp>
      <p:sp>
        <p:nvSpPr>
          <p:cNvPr id="19" name="Shape 17"/>
          <p:cNvSpPr/>
          <p:nvPr/>
        </p:nvSpPr>
        <p:spPr>
          <a:xfrm>
            <a:off x="274320" y="3337560"/>
            <a:ext cx="4114800" cy="621792"/>
          </a:xfrm>
          <a:prstGeom prst="rect">
            <a:avLst/>
          </a:prstGeom>
          <a:solidFill>
            <a:srgbClr val="0D2B55"/>
          </a:solidFill>
          <a:ln w="6350">
            <a:solidFill>
              <a:srgbClr val="0077B6"/>
            </a:solidFill>
            <a:prstDash val="solid"/>
          </a:ln>
        </p:spPr>
      </p:sp>
      <p:sp>
        <p:nvSpPr>
          <p:cNvPr id="20" name="Text 18"/>
          <p:cNvSpPr/>
          <p:nvPr/>
        </p:nvSpPr>
        <p:spPr>
          <a:xfrm>
            <a:off x="384048" y="3401568"/>
            <a:ext cx="3840480" cy="237744"/>
          </a:xfrm>
          <a:prstGeom prst="rect">
            <a:avLst/>
          </a:prstGeom>
          <a:noFill/>
          <a:ln/>
        </p:spPr>
        <p:txBody>
          <a:bodyPr wrap="square" lIns="0" tIns="0" rIns="0" bIns="0" rtlCol="0" anchor="ctr"/>
          <a:lstStyle/>
          <a:p>
            <a:pPr marL="0" indent="0">
              <a:buNone/>
            </a:pPr>
            <a:r>
              <a:rPr lang="en-US" sz="1150" b="1" dirty="0">
                <a:solidFill>
                  <a:srgbClr val="00B4D8"/>
                </a:solidFill>
                <a:latin typeface="Calibri" pitchFamily="34" charset="0"/>
                <a:ea typeface="Calibri" pitchFamily="34" charset="-122"/>
                <a:cs typeface="Calibri" pitchFamily="34" charset="-120"/>
              </a:rPr>
              <a:t>Temporal Scope</a:t>
            </a:r>
            <a:endParaRPr lang="en-US" sz="1150" dirty="0"/>
          </a:p>
        </p:txBody>
      </p:sp>
      <p:sp>
        <p:nvSpPr>
          <p:cNvPr id="21" name="Text 19"/>
          <p:cNvSpPr/>
          <p:nvPr/>
        </p:nvSpPr>
        <p:spPr>
          <a:xfrm>
            <a:off x="384048" y="3685032"/>
            <a:ext cx="384048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AI cybersecurity technology evolves rapidly; findings reflect the 2023–2024 deployment landscape specifically.</a:t>
            </a:r>
            <a:endParaRPr lang="en-US" sz="1100" dirty="0"/>
          </a:p>
        </p:txBody>
      </p:sp>
      <p:sp>
        <p:nvSpPr>
          <p:cNvPr id="22" name="Shape 20"/>
          <p:cNvSpPr/>
          <p:nvPr/>
        </p:nvSpPr>
        <p:spPr>
          <a:xfrm>
            <a:off x="274320" y="4069080"/>
            <a:ext cx="4114800" cy="621792"/>
          </a:xfrm>
          <a:prstGeom prst="rect">
            <a:avLst/>
          </a:prstGeom>
          <a:solidFill>
            <a:srgbClr val="0D2B55"/>
          </a:solidFill>
          <a:ln w="6350">
            <a:solidFill>
              <a:srgbClr val="0077B6"/>
            </a:solidFill>
            <a:prstDash val="solid"/>
          </a:ln>
        </p:spPr>
      </p:sp>
      <p:sp>
        <p:nvSpPr>
          <p:cNvPr id="23" name="Text 21"/>
          <p:cNvSpPr/>
          <p:nvPr/>
        </p:nvSpPr>
        <p:spPr>
          <a:xfrm>
            <a:off x="384048" y="4133088"/>
            <a:ext cx="3840480" cy="237744"/>
          </a:xfrm>
          <a:prstGeom prst="rect">
            <a:avLst/>
          </a:prstGeom>
          <a:noFill/>
          <a:ln/>
        </p:spPr>
        <p:txBody>
          <a:bodyPr wrap="square" lIns="0" tIns="0" rIns="0" bIns="0" rtlCol="0" anchor="ctr"/>
          <a:lstStyle/>
          <a:p>
            <a:pPr marL="0" indent="0">
              <a:buNone/>
            </a:pPr>
            <a:r>
              <a:rPr lang="en-US" sz="1150" b="1" dirty="0">
                <a:solidFill>
                  <a:srgbClr val="00B4D8"/>
                </a:solidFill>
                <a:latin typeface="Calibri" pitchFamily="34" charset="0"/>
                <a:ea typeface="Calibri" pitchFamily="34" charset="-122"/>
                <a:cs typeface="Calibri" pitchFamily="34" charset="-120"/>
              </a:rPr>
              <a:t>Self-Reporting Bias</a:t>
            </a:r>
            <a:endParaRPr lang="en-US" sz="1150" dirty="0"/>
          </a:p>
        </p:txBody>
      </p:sp>
      <p:sp>
        <p:nvSpPr>
          <p:cNvPr id="24" name="Text 22"/>
          <p:cNvSpPr/>
          <p:nvPr/>
        </p:nvSpPr>
        <p:spPr>
          <a:xfrm>
            <a:off x="384048" y="4416552"/>
            <a:ext cx="384048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Survey data relies on self-assessment by security professionals; actual performance may deviate from reported metrics.</a:t>
            </a:r>
            <a:endParaRPr lang="en-US" sz="1100" dirty="0"/>
          </a:p>
        </p:txBody>
      </p:sp>
      <p:sp>
        <p:nvSpPr>
          <p:cNvPr id="25" name="Shape 23"/>
          <p:cNvSpPr/>
          <p:nvPr/>
        </p:nvSpPr>
        <p:spPr>
          <a:xfrm>
            <a:off x="4754880" y="1143000"/>
            <a:ext cx="4114800" cy="621792"/>
          </a:xfrm>
          <a:prstGeom prst="rect">
            <a:avLst/>
          </a:prstGeom>
          <a:solidFill>
            <a:srgbClr val="0D2B55"/>
          </a:solidFill>
          <a:ln w="6350">
            <a:solidFill>
              <a:srgbClr val="06D6A0"/>
            </a:solidFill>
            <a:prstDash val="solid"/>
          </a:ln>
        </p:spPr>
      </p:sp>
      <p:sp>
        <p:nvSpPr>
          <p:cNvPr id="26" name="Text 24"/>
          <p:cNvSpPr/>
          <p:nvPr/>
        </p:nvSpPr>
        <p:spPr>
          <a:xfrm>
            <a:off x="4864608" y="1207008"/>
            <a:ext cx="3840480" cy="237744"/>
          </a:xfrm>
          <a:prstGeom prst="rect">
            <a:avLst/>
          </a:prstGeom>
          <a:noFill/>
          <a:ln/>
        </p:spPr>
        <p:txBody>
          <a:bodyPr wrap="square" lIns="0" tIns="0" rIns="0" bIns="0" rtlCol="0" anchor="ctr"/>
          <a:lstStyle/>
          <a:p>
            <a:pPr marL="0" indent="0">
              <a:buNone/>
            </a:pPr>
            <a:r>
              <a:rPr lang="en-US" sz="1150" b="1" dirty="0">
                <a:solidFill>
                  <a:srgbClr val="06D6A0"/>
                </a:solidFill>
                <a:latin typeface="Calibri" pitchFamily="34" charset="0"/>
                <a:ea typeface="Calibri" pitchFamily="34" charset="-122"/>
                <a:cs typeface="Calibri" pitchFamily="34" charset="-120"/>
              </a:rPr>
              <a:t>Longitudinal Studies</a:t>
            </a:r>
            <a:endParaRPr lang="en-US" sz="1150" dirty="0"/>
          </a:p>
        </p:txBody>
      </p:sp>
      <p:sp>
        <p:nvSpPr>
          <p:cNvPr id="27" name="Text 25"/>
          <p:cNvSpPr/>
          <p:nvPr/>
        </p:nvSpPr>
        <p:spPr>
          <a:xfrm>
            <a:off x="4864608" y="1490472"/>
            <a:ext cx="384048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Track AI security ROI and effectiveness over 5+ year periods across multiple deployment cycles.</a:t>
            </a:r>
            <a:endParaRPr lang="en-US" sz="1100" dirty="0"/>
          </a:p>
        </p:txBody>
      </p:sp>
      <p:sp>
        <p:nvSpPr>
          <p:cNvPr id="28" name="Shape 26"/>
          <p:cNvSpPr/>
          <p:nvPr/>
        </p:nvSpPr>
        <p:spPr>
          <a:xfrm>
            <a:off x="4754880" y="1874520"/>
            <a:ext cx="4114800" cy="621792"/>
          </a:xfrm>
          <a:prstGeom prst="rect">
            <a:avLst/>
          </a:prstGeom>
          <a:solidFill>
            <a:srgbClr val="0D2B55"/>
          </a:solidFill>
          <a:ln w="6350">
            <a:solidFill>
              <a:srgbClr val="06D6A0"/>
            </a:solidFill>
            <a:prstDash val="solid"/>
          </a:ln>
        </p:spPr>
      </p:sp>
      <p:sp>
        <p:nvSpPr>
          <p:cNvPr id="29" name="Text 27"/>
          <p:cNvSpPr/>
          <p:nvPr/>
        </p:nvSpPr>
        <p:spPr>
          <a:xfrm>
            <a:off x="4864608" y="1938528"/>
            <a:ext cx="3840480" cy="237744"/>
          </a:xfrm>
          <a:prstGeom prst="rect">
            <a:avLst/>
          </a:prstGeom>
          <a:noFill/>
          <a:ln/>
        </p:spPr>
        <p:txBody>
          <a:bodyPr wrap="square" lIns="0" tIns="0" rIns="0" bIns="0" rtlCol="0" anchor="ctr"/>
          <a:lstStyle/>
          <a:p>
            <a:pPr marL="0" indent="0">
              <a:buNone/>
            </a:pPr>
            <a:r>
              <a:rPr lang="en-US" sz="1150" b="1" dirty="0">
                <a:solidFill>
                  <a:srgbClr val="06D6A0"/>
                </a:solidFill>
                <a:latin typeface="Calibri" pitchFamily="34" charset="0"/>
                <a:ea typeface="Calibri" pitchFamily="34" charset="-122"/>
                <a:cs typeface="Calibri" pitchFamily="34" charset="-120"/>
              </a:rPr>
              <a:t>Global Comparative Research</a:t>
            </a:r>
            <a:endParaRPr lang="en-US" sz="1150" dirty="0"/>
          </a:p>
        </p:txBody>
      </p:sp>
      <p:sp>
        <p:nvSpPr>
          <p:cNvPr id="30" name="Text 28"/>
          <p:cNvSpPr/>
          <p:nvPr/>
        </p:nvSpPr>
        <p:spPr>
          <a:xfrm>
            <a:off x="4864608" y="2221992"/>
            <a:ext cx="384048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Cross-national study of AI cybersecurity adoption, regulatory influence, and effectiveness disparities.</a:t>
            </a:r>
            <a:endParaRPr lang="en-US" sz="1100" dirty="0"/>
          </a:p>
        </p:txBody>
      </p:sp>
      <p:sp>
        <p:nvSpPr>
          <p:cNvPr id="31" name="Shape 29"/>
          <p:cNvSpPr/>
          <p:nvPr/>
        </p:nvSpPr>
        <p:spPr>
          <a:xfrm>
            <a:off x="4754880" y="2606040"/>
            <a:ext cx="4114800" cy="621792"/>
          </a:xfrm>
          <a:prstGeom prst="rect">
            <a:avLst/>
          </a:prstGeom>
          <a:solidFill>
            <a:srgbClr val="0D2B55"/>
          </a:solidFill>
          <a:ln w="6350">
            <a:solidFill>
              <a:srgbClr val="06D6A0"/>
            </a:solidFill>
            <a:prstDash val="solid"/>
          </a:ln>
        </p:spPr>
      </p:sp>
      <p:sp>
        <p:nvSpPr>
          <p:cNvPr id="32" name="Text 30"/>
          <p:cNvSpPr/>
          <p:nvPr/>
        </p:nvSpPr>
        <p:spPr>
          <a:xfrm>
            <a:off x="4864608" y="2670048"/>
            <a:ext cx="3840480" cy="237744"/>
          </a:xfrm>
          <a:prstGeom prst="rect">
            <a:avLst/>
          </a:prstGeom>
          <a:noFill/>
          <a:ln/>
        </p:spPr>
        <p:txBody>
          <a:bodyPr wrap="square" lIns="0" tIns="0" rIns="0" bIns="0" rtlCol="0" anchor="ctr"/>
          <a:lstStyle/>
          <a:p>
            <a:pPr marL="0" indent="0">
              <a:buNone/>
            </a:pPr>
            <a:r>
              <a:rPr lang="en-US" sz="1150" b="1" dirty="0">
                <a:solidFill>
                  <a:srgbClr val="06D6A0"/>
                </a:solidFill>
                <a:latin typeface="Calibri" pitchFamily="34" charset="0"/>
                <a:ea typeface="Calibri" pitchFamily="34" charset="-122"/>
                <a:cs typeface="Calibri" pitchFamily="34" charset="-120"/>
              </a:rPr>
              <a:t>Adversarial AI Defense</a:t>
            </a:r>
            <a:endParaRPr lang="en-US" sz="1150" dirty="0"/>
          </a:p>
        </p:txBody>
      </p:sp>
      <p:sp>
        <p:nvSpPr>
          <p:cNvPr id="33" name="Text 31"/>
          <p:cNvSpPr/>
          <p:nvPr/>
        </p:nvSpPr>
        <p:spPr>
          <a:xfrm>
            <a:off x="4864608" y="2953512"/>
            <a:ext cx="384048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Develop and test robust adversarial training frameworks specifically for enterprise security deployments.</a:t>
            </a:r>
            <a:endParaRPr lang="en-US" sz="1100" dirty="0"/>
          </a:p>
        </p:txBody>
      </p:sp>
      <p:sp>
        <p:nvSpPr>
          <p:cNvPr id="34" name="Shape 32"/>
          <p:cNvSpPr/>
          <p:nvPr/>
        </p:nvSpPr>
        <p:spPr>
          <a:xfrm>
            <a:off x="4754880" y="3337560"/>
            <a:ext cx="4114800" cy="621792"/>
          </a:xfrm>
          <a:prstGeom prst="rect">
            <a:avLst/>
          </a:prstGeom>
          <a:solidFill>
            <a:srgbClr val="0D2B55"/>
          </a:solidFill>
          <a:ln w="6350">
            <a:solidFill>
              <a:srgbClr val="06D6A0"/>
            </a:solidFill>
            <a:prstDash val="solid"/>
          </a:ln>
        </p:spPr>
      </p:sp>
      <p:sp>
        <p:nvSpPr>
          <p:cNvPr id="35" name="Text 33"/>
          <p:cNvSpPr/>
          <p:nvPr/>
        </p:nvSpPr>
        <p:spPr>
          <a:xfrm>
            <a:off x="4864608" y="3401568"/>
            <a:ext cx="3840480" cy="237744"/>
          </a:xfrm>
          <a:prstGeom prst="rect">
            <a:avLst/>
          </a:prstGeom>
          <a:noFill/>
          <a:ln/>
        </p:spPr>
        <p:txBody>
          <a:bodyPr wrap="square" lIns="0" tIns="0" rIns="0" bIns="0" rtlCol="0" anchor="ctr"/>
          <a:lstStyle/>
          <a:p>
            <a:pPr marL="0" indent="0">
              <a:buNone/>
            </a:pPr>
            <a:r>
              <a:rPr lang="en-US" sz="1150" b="1" dirty="0">
                <a:solidFill>
                  <a:srgbClr val="06D6A0"/>
                </a:solidFill>
                <a:latin typeface="Calibri" pitchFamily="34" charset="0"/>
                <a:ea typeface="Calibri" pitchFamily="34" charset="-122"/>
                <a:cs typeface="Calibri" pitchFamily="34" charset="-120"/>
              </a:rPr>
              <a:t>SME-Focused Research</a:t>
            </a:r>
            <a:endParaRPr lang="en-US" sz="1150" dirty="0"/>
          </a:p>
        </p:txBody>
      </p:sp>
      <p:sp>
        <p:nvSpPr>
          <p:cNvPr id="36" name="Text 34"/>
          <p:cNvSpPr/>
          <p:nvPr/>
        </p:nvSpPr>
        <p:spPr>
          <a:xfrm>
            <a:off x="4864608" y="3685032"/>
            <a:ext cx="384048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AI security adoption challenges and lightweight solution design tailored for resource-constrained organizations.</a:t>
            </a:r>
            <a:endParaRPr lang="en-US" sz="1100" dirty="0"/>
          </a:p>
        </p:txBody>
      </p:sp>
      <p:sp>
        <p:nvSpPr>
          <p:cNvPr id="37" name="Shape 35"/>
          <p:cNvSpPr/>
          <p:nvPr/>
        </p:nvSpPr>
        <p:spPr>
          <a:xfrm>
            <a:off x="4754880" y="4069080"/>
            <a:ext cx="4114800" cy="621792"/>
          </a:xfrm>
          <a:prstGeom prst="rect">
            <a:avLst/>
          </a:prstGeom>
          <a:solidFill>
            <a:srgbClr val="0D2B55"/>
          </a:solidFill>
          <a:ln w="6350">
            <a:solidFill>
              <a:srgbClr val="06D6A0"/>
            </a:solidFill>
            <a:prstDash val="solid"/>
          </a:ln>
        </p:spPr>
      </p:sp>
      <p:sp>
        <p:nvSpPr>
          <p:cNvPr id="38" name="Text 36"/>
          <p:cNvSpPr/>
          <p:nvPr/>
        </p:nvSpPr>
        <p:spPr>
          <a:xfrm>
            <a:off x="4864608" y="4133088"/>
            <a:ext cx="3840480" cy="237744"/>
          </a:xfrm>
          <a:prstGeom prst="rect">
            <a:avLst/>
          </a:prstGeom>
          <a:noFill/>
          <a:ln/>
        </p:spPr>
        <p:txBody>
          <a:bodyPr wrap="square" lIns="0" tIns="0" rIns="0" bIns="0" rtlCol="0" anchor="ctr"/>
          <a:lstStyle/>
          <a:p>
            <a:pPr marL="0" indent="0">
              <a:buNone/>
            </a:pPr>
            <a:r>
              <a:rPr lang="en-US" sz="1150" b="1" dirty="0">
                <a:solidFill>
                  <a:srgbClr val="06D6A0"/>
                </a:solidFill>
                <a:latin typeface="Calibri" pitchFamily="34" charset="0"/>
                <a:ea typeface="Calibri" pitchFamily="34" charset="-122"/>
                <a:cs typeface="Calibri" pitchFamily="34" charset="-120"/>
              </a:rPr>
              <a:t>Quantum-AI Intersection</a:t>
            </a:r>
            <a:endParaRPr lang="en-US" sz="1150" dirty="0"/>
          </a:p>
        </p:txBody>
      </p:sp>
      <p:sp>
        <p:nvSpPr>
          <p:cNvPr id="39" name="Text 37"/>
          <p:cNvSpPr/>
          <p:nvPr/>
        </p:nvSpPr>
        <p:spPr>
          <a:xfrm>
            <a:off x="4864608" y="4416552"/>
            <a:ext cx="3840480" cy="256032"/>
          </a:xfrm>
          <a:prstGeom prst="rect">
            <a:avLst/>
          </a:prstGeom>
          <a:noFill/>
          <a:ln/>
        </p:spPr>
        <p:txBody>
          <a:bodyPr wrap="square" lIns="0" tIns="0" rIns="0" bIns="0" rtlCol="0" anchor="ctr"/>
          <a:lstStyle/>
          <a:p>
            <a:pPr marL="0" indent="0">
              <a:buNone/>
            </a:pPr>
            <a:r>
              <a:rPr lang="en-US" sz="1100" dirty="0">
                <a:solidFill>
                  <a:srgbClr val="CAD3E0"/>
                </a:solidFill>
                <a:latin typeface="Calibri" pitchFamily="34" charset="0"/>
                <a:ea typeface="Calibri" pitchFamily="34" charset="-122"/>
                <a:cs typeface="Calibri" pitchFamily="34" charset="-120"/>
              </a:rPr>
              <a:t>Investigate AI's role in post-quantum cryptographic transition and quantum-enhanced attack scenarios.</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2B55"/>
          </a:solidFill>
          <a:ln w="12700">
            <a:solidFill>
              <a:srgbClr val="0D2B55"/>
            </a:solidFill>
            <a:prstDash val="solid"/>
          </a:ln>
        </p:spPr>
      </p:sp>
      <p:sp>
        <p:nvSpPr>
          <p:cNvPr id="3" name="Shape 1"/>
          <p:cNvSpPr/>
          <p:nvPr/>
        </p:nvSpPr>
        <p:spPr>
          <a:xfrm>
            <a:off x="0" y="0"/>
            <a:ext cx="73152" cy="566928"/>
          </a:xfrm>
          <a:prstGeom prst="rect">
            <a:avLst/>
          </a:prstGeom>
          <a:solidFill>
            <a:srgbClr val="00B4D8"/>
          </a:solidFill>
          <a:ln w="12700">
            <a:solidFill>
              <a:srgbClr val="00B4D8"/>
            </a:solidFill>
            <a:prstDash val="solid"/>
          </a:ln>
        </p:spPr>
      </p:sp>
      <p:sp>
        <p:nvSpPr>
          <p:cNvPr id="4" name="Text 2"/>
          <p:cNvSpPr/>
          <p:nvPr/>
        </p:nvSpPr>
        <p:spPr>
          <a:xfrm>
            <a:off x="201168" y="36576"/>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References / Bibliography</a:t>
            </a:r>
            <a:endParaRPr lang="en-US" sz="2200" dirty="0"/>
          </a:p>
        </p:txBody>
      </p:sp>
      <p:sp>
        <p:nvSpPr>
          <p:cNvPr id="5" name="Text 3"/>
          <p:cNvSpPr/>
          <p:nvPr/>
        </p:nvSpPr>
        <p:spPr>
          <a:xfrm>
            <a:off x="8503920" y="36576"/>
            <a:ext cx="548640" cy="502920"/>
          </a:xfrm>
          <a:prstGeom prst="rect">
            <a:avLst/>
          </a:prstGeom>
          <a:noFill/>
          <a:ln/>
        </p:spPr>
        <p:txBody>
          <a:bodyPr wrap="square" rtlCol="0" anchor="ctr"/>
          <a:lstStyle/>
          <a:p>
            <a:pPr marL="0" indent="0" algn="r">
              <a:buNone/>
            </a:pPr>
            <a:r>
              <a:rPr lang="en-US" sz="1600" b="1" dirty="0">
                <a:solidFill>
                  <a:srgbClr val="00B4D8"/>
                </a:solidFill>
                <a:latin typeface="Calibri" pitchFamily="34" charset="0"/>
                <a:ea typeface="Calibri" pitchFamily="34" charset="-122"/>
                <a:cs typeface="Calibri" pitchFamily="34" charset="-120"/>
              </a:rPr>
              <a:t>40</a:t>
            </a:r>
            <a:endParaRPr lang="en-US" sz="1600" dirty="0"/>
          </a:p>
        </p:txBody>
      </p:sp>
      <p:sp>
        <p:nvSpPr>
          <p:cNvPr id="6" name="Shape 4"/>
          <p:cNvSpPr/>
          <p:nvPr/>
        </p:nvSpPr>
        <p:spPr>
          <a:xfrm>
            <a:off x="0" y="4983480"/>
            <a:ext cx="9144000" cy="160020"/>
          </a:xfrm>
          <a:prstGeom prst="rect">
            <a:avLst/>
          </a:prstGeom>
          <a:solidFill>
            <a:srgbClr val="0D2B55"/>
          </a:solidFill>
          <a:ln w="12700">
            <a:solidFill>
              <a:srgbClr val="0D2B55"/>
            </a:solidFill>
            <a:prstDash val="solid"/>
          </a:ln>
        </p:spPr>
      </p:sp>
      <p:sp>
        <p:nvSpPr>
          <p:cNvPr id="7" name="Text 5"/>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
        <p:nvSpPr>
          <p:cNvPr id="8" name="Text 6"/>
          <p:cNvSpPr/>
          <p:nvPr/>
        </p:nvSpPr>
        <p:spPr>
          <a:xfrm>
            <a:off x="365760" y="685800"/>
            <a:ext cx="8412480" cy="320040"/>
          </a:xfrm>
          <a:prstGeom prst="rect">
            <a:avLst/>
          </a:prstGeom>
          <a:noFill/>
          <a:ln/>
        </p:spPr>
        <p:txBody>
          <a:bodyPr wrap="square"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APA 7th Edition Format</a:t>
            </a:r>
            <a:endParaRPr lang="en-US" sz="1400" dirty="0"/>
          </a:p>
        </p:txBody>
      </p:sp>
      <p:sp>
        <p:nvSpPr>
          <p:cNvPr id="9" name="Text 7"/>
          <p:cNvSpPr/>
          <p:nvPr/>
        </p:nvSpPr>
        <p:spPr>
          <a:xfrm>
            <a:off x="365760" y="1078992"/>
            <a:ext cx="8412480" cy="292608"/>
          </a:xfrm>
          <a:prstGeom prst="rect">
            <a:avLst/>
          </a:prstGeom>
          <a:noFill/>
          <a:ln/>
        </p:spPr>
        <p:txBody>
          <a:bodyPr wrap="square" lIns="0" tIns="0" rIns="0" bIns="0" rtlCol="0" anchor="ctr"/>
          <a:lstStyle/>
          <a:p>
            <a:pPr marL="0" indent="0">
              <a:buNone/>
            </a:pPr>
            <a:r>
              <a:rPr lang="en-US" sz="1000" dirty="0">
                <a:solidFill>
                  <a:srgbClr val="CAD3E0"/>
                </a:solidFill>
                <a:latin typeface="Calibri" pitchFamily="34" charset="0"/>
                <a:ea typeface="Calibri" pitchFamily="34" charset="-122"/>
                <a:cs typeface="Calibri" pitchFamily="34" charset="-120"/>
              </a:rPr>
              <a:t>Apruzzese, G., Colajanni, M., Ferretti, L., Guido, A., &amp; Marchetti, M. (2019). On the effectiveness of machine and deep learning for cyber security. In 2019 10th International Conference on Cyber Conflict (pp. 371–390). IEEE.</a:t>
            </a:r>
            <a:endParaRPr lang="en-US" sz="1000" dirty="0"/>
          </a:p>
        </p:txBody>
      </p:sp>
      <p:sp>
        <p:nvSpPr>
          <p:cNvPr id="10" name="Shape 8"/>
          <p:cNvSpPr/>
          <p:nvPr/>
        </p:nvSpPr>
        <p:spPr>
          <a:xfrm>
            <a:off x="365760" y="1371600"/>
            <a:ext cx="8412480" cy="0"/>
          </a:xfrm>
          <a:prstGeom prst="line">
            <a:avLst/>
          </a:prstGeom>
          <a:noFill/>
          <a:ln w="3810">
            <a:solidFill>
              <a:srgbClr val="1A3A5C"/>
            </a:solidFill>
            <a:prstDash val="solid"/>
          </a:ln>
        </p:spPr>
      </p:sp>
      <p:sp>
        <p:nvSpPr>
          <p:cNvPr id="11" name="Text 9"/>
          <p:cNvSpPr/>
          <p:nvPr/>
        </p:nvSpPr>
        <p:spPr>
          <a:xfrm>
            <a:off x="365760" y="1399032"/>
            <a:ext cx="8412480" cy="292608"/>
          </a:xfrm>
          <a:prstGeom prst="rect">
            <a:avLst/>
          </a:prstGeom>
          <a:noFill/>
          <a:ln/>
        </p:spPr>
        <p:txBody>
          <a:bodyPr wrap="square" lIns="0" tIns="0" rIns="0" bIns="0" rtlCol="0" anchor="ctr"/>
          <a:lstStyle/>
          <a:p>
            <a:pPr marL="0" indent="0">
              <a:buNone/>
            </a:pPr>
            <a:r>
              <a:rPr lang="en-US" sz="1000" dirty="0">
                <a:solidFill>
                  <a:srgbClr val="8B9DC3"/>
                </a:solidFill>
                <a:latin typeface="Calibri" pitchFamily="34" charset="0"/>
                <a:ea typeface="Calibri" pitchFamily="34" charset="-122"/>
                <a:cs typeface="Calibri" pitchFamily="34" charset="-120"/>
              </a:rPr>
              <a:t>Buczak, A. L., &amp; Guven, E. (2016). A survey of data mining and machine learning methods for cyber security intrusion detection. IEEE Communications Surveys &amp; Tutorials, 18(2), 1153–1176.</a:t>
            </a:r>
            <a:endParaRPr lang="en-US" sz="1000" dirty="0"/>
          </a:p>
        </p:txBody>
      </p:sp>
      <p:sp>
        <p:nvSpPr>
          <p:cNvPr id="12" name="Shape 10"/>
          <p:cNvSpPr/>
          <p:nvPr/>
        </p:nvSpPr>
        <p:spPr>
          <a:xfrm>
            <a:off x="365760" y="1691640"/>
            <a:ext cx="8412480" cy="0"/>
          </a:xfrm>
          <a:prstGeom prst="line">
            <a:avLst/>
          </a:prstGeom>
          <a:noFill/>
          <a:ln w="3810">
            <a:solidFill>
              <a:srgbClr val="1A3A5C"/>
            </a:solidFill>
            <a:prstDash val="solid"/>
          </a:ln>
        </p:spPr>
      </p:sp>
      <p:sp>
        <p:nvSpPr>
          <p:cNvPr id="13" name="Text 11"/>
          <p:cNvSpPr/>
          <p:nvPr/>
        </p:nvSpPr>
        <p:spPr>
          <a:xfrm>
            <a:off x="365760" y="1719072"/>
            <a:ext cx="8412480" cy="292608"/>
          </a:xfrm>
          <a:prstGeom prst="rect">
            <a:avLst/>
          </a:prstGeom>
          <a:noFill/>
          <a:ln/>
        </p:spPr>
        <p:txBody>
          <a:bodyPr wrap="square" lIns="0" tIns="0" rIns="0" bIns="0" rtlCol="0" anchor="ctr"/>
          <a:lstStyle/>
          <a:p>
            <a:pPr marL="0" indent="0">
              <a:buNone/>
            </a:pPr>
            <a:r>
              <a:rPr lang="en-US" sz="1000" dirty="0">
                <a:solidFill>
                  <a:srgbClr val="CAD3E0"/>
                </a:solidFill>
                <a:latin typeface="Calibri" pitchFamily="34" charset="0"/>
                <a:ea typeface="Calibri" pitchFamily="34" charset="-122"/>
                <a:cs typeface="Calibri" pitchFamily="34" charset="-120"/>
              </a:rPr>
              <a:t>Ferrag, M. A., Maglaras, L., Moschoyiannis, S., &amp; Janicke, H. (2020). Deep learning for cyber security intrusion detection: Approaches, datasets, and comparative study. Journal of Information Security and Applications, 50, 102419.</a:t>
            </a:r>
            <a:endParaRPr lang="en-US" sz="1000" dirty="0"/>
          </a:p>
        </p:txBody>
      </p:sp>
      <p:sp>
        <p:nvSpPr>
          <p:cNvPr id="14" name="Shape 12"/>
          <p:cNvSpPr/>
          <p:nvPr/>
        </p:nvSpPr>
        <p:spPr>
          <a:xfrm>
            <a:off x="365760" y="2011680"/>
            <a:ext cx="8412480" cy="0"/>
          </a:xfrm>
          <a:prstGeom prst="line">
            <a:avLst/>
          </a:prstGeom>
          <a:noFill/>
          <a:ln w="3810">
            <a:solidFill>
              <a:srgbClr val="1A3A5C"/>
            </a:solidFill>
            <a:prstDash val="solid"/>
          </a:ln>
        </p:spPr>
      </p:sp>
      <p:sp>
        <p:nvSpPr>
          <p:cNvPr id="15" name="Text 13"/>
          <p:cNvSpPr/>
          <p:nvPr/>
        </p:nvSpPr>
        <p:spPr>
          <a:xfrm>
            <a:off x="365760" y="2039112"/>
            <a:ext cx="8412480" cy="292608"/>
          </a:xfrm>
          <a:prstGeom prst="rect">
            <a:avLst/>
          </a:prstGeom>
          <a:noFill/>
          <a:ln/>
        </p:spPr>
        <p:txBody>
          <a:bodyPr wrap="square" lIns="0" tIns="0" rIns="0" bIns="0" rtlCol="0" anchor="ctr"/>
          <a:lstStyle/>
          <a:p>
            <a:pPr marL="0" indent="0">
              <a:buNone/>
            </a:pPr>
            <a:r>
              <a:rPr lang="en-US" sz="1000" dirty="0">
                <a:solidFill>
                  <a:srgbClr val="8B9DC3"/>
                </a:solidFill>
                <a:latin typeface="Calibri" pitchFamily="34" charset="0"/>
                <a:ea typeface="Calibri" pitchFamily="34" charset="-122"/>
                <a:cs typeface="Calibri" pitchFamily="34" charset="-120"/>
              </a:rPr>
              <a:t>Jiang, W., &amp; Ma, J. (2023). Federated learning for cybersecurity: Privacy-preserving threat intelligence sharing. IEEE Transactions on Information Forensics and Security, 18, 4523–4537.</a:t>
            </a:r>
            <a:endParaRPr lang="en-US" sz="1000" dirty="0"/>
          </a:p>
        </p:txBody>
      </p:sp>
      <p:sp>
        <p:nvSpPr>
          <p:cNvPr id="16" name="Shape 14"/>
          <p:cNvSpPr/>
          <p:nvPr/>
        </p:nvSpPr>
        <p:spPr>
          <a:xfrm>
            <a:off x="365760" y="2331720"/>
            <a:ext cx="8412480" cy="0"/>
          </a:xfrm>
          <a:prstGeom prst="line">
            <a:avLst/>
          </a:prstGeom>
          <a:noFill/>
          <a:ln w="3810">
            <a:solidFill>
              <a:srgbClr val="1A3A5C"/>
            </a:solidFill>
            <a:prstDash val="solid"/>
          </a:ln>
        </p:spPr>
      </p:sp>
      <p:sp>
        <p:nvSpPr>
          <p:cNvPr id="17" name="Text 15"/>
          <p:cNvSpPr/>
          <p:nvPr/>
        </p:nvSpPr>
        <p:spPr>
          <a:xfrm>
            <a:off x="365760" y="2359152"/>
            <a:ext cx="8412480" cy="292608"/>
          </a:xfrm>
          <a:prstGeom prst="rect">
            <a:avLst/>
          </a:prstGeom>
          <a:noFill/>
          <a:ln/>
        </p:spPr>
        <p:txBody>
          <a:bodyPr wrap="square" lIns="0" tIns="0" rIns="0" bIns="0" rtlCol="0" anchor="ctr"/>
          <a:lstStyle/>
          <a:p>
            <a:pPr marL="0" indent="0">
              <a:buNone/>
            </a:pPr>
            <a:r>
              <a:rPr lang="en-US" sz="1000" dirty="0">
                <a:solidFill>
                  <a:srgbClr val="CAD3E0"/>
                </a:solidFill>
                <a:latin typeface="Calibri" pitchFamily="34" charset="0"/>
                <a:ea typeface="Calibri" pitchFamily="34" charset="-122"/>
                <a:cs typeface="Calibri" pitchFamily="34" charset="-120"/>
              </a:rPr>
              <a:t>Mandal, S., Bhatt, D., &amp; Patel, N. (2024). LLM-powered vulnerability assessment: Automating penetration testing with generative AI. Computers &amp; Security, 138, 103645.</a:t>
            </a:r>
            <a:endParaRPr lang="en-US" sz="1000" dirty="0"/>
          </a:p>
        </p:txBody>
      </p:sp>
      <p:sp>
        <p:nvSpPr>
          <p:cNvPr id="18" name="Shape 16"/>
          <p:cNvSpPr/>
          <p:nvPr/>
        </p:nvSpPr>
        <p:spPr>
          <a:xfrm>
            <a:off x="365760" y="2651760"/>
            <a:ext cx="8412480" cy="0"/>
          </a:xfrm>
          <a:prstGeom prst="line">
            <a:avLst/>
          </a:prstGeom>
          <a:noFill/>
          <a:ln w="3810">
            <a:solidFill>
              <a:srgbClr val="1A3A5C"/>
            </a:solidFill>
            <a:prstDash val="solid"/>
          </a:ln>
        </p:spPr>
      </p:sp>
      <p:sp>
        <p:nvSpPr>
          <p:cNvPr id="19" name="Text 17"/>
          <p:cNvSpPr/>
          <p:nvPr/>
        </p:nvSpPr>
        <p:spPr>
          <a:xfrm>
            <a:off x="365760" y="2679192"/>
            <a:ext cx="8412480" cy="292608"/>
          </a:xfrm>
          <a:prstGeom prst="rect">
            <a:avLst/>
          </a:prstGeom>
          <a:noFill/>
          <a:ln/>
        </p:spPr>
        <p:txBody>
          <a:bodyPr wrap="square" lIns="0" tIns="0" rIns="0" bIns="0" rtlCol="0" anchor="ctr"/>
          <a:lstStyle/>
          <a:p>
            <a:pPr marL="0" indent="0">
              <a:buNone/>
            </a:pPr>
            <a:r>
              <a:rPr lang="en-US" sz="1000" dirty="0">
                <a:solidFill>
                  <a:srgbClr val="8B9DC3"/>
                </a:solidFill>
                <a:latin typeface="Calibri" pitchFamily="34" charset="0"/>
                <a:ea typeface="Calibri" pitchFamily="34" charset="-122"/>
                <a:cs typeface="Calibri" pitchFamily="34" charset="-120"/>
              </a:rPr>
              <a:t>Mirsky, Y., Doitshman, T., Elovici, Y., &amp; Shabtai, A. (2018). Kitsune: An ensemble of autoencoders for online network intrusion detection. Proceedings of NDSS 2018.</a:t>
            </a:r>
            <a:endParaRPr lang="en-US" sz="1000" dirty="0"/>
          </a:p>
        </p:txBody>
      </p:sp>
      <p:sp>
        <p:nvSpPr>
          <p:cNvPr id="20" name="Shape 18"/>
          <p:cNvSpPr/>
          <p:nvPr/>
        </p:nvSpPr>
        <p:spPr>
          <a:xfrm>
            <a:off x="365760" y="2971800"/>
            <a:ext cx="8412480" cy="0"/>
          </a:xfrm>
          <a:prstGeom prst="line">
            <a:avLst/>
          </a:prstGeom>
          <a:noFill/>
          <a:ln w="3810">
            <a:solidFill>
              <a:srgbClr val="1A3A5C"/>
            </a:solidFill>
            <a:prstDash val="solid"/>
          </a:ln>
        </p:spPr>
      </p:sp>
      <p:sp>
        <p:nvSpPr>
          <p:cNvPr id="21" name="Text 19"/>
          <p:cNvSpPr/>
          <p:nvPr/>
        </p:nvSpPr>
        <p:spPr>
          <a:xfrm>
            <a:off x="365760" y="2999232"/>
            <a:ext cx="8412480" cy="292608"/>
          </a:xfrm>
          <a:prstGeom prst="rect">
            <a:avLst/>
          </a:prstGeom>
          <a:noFill/>
          <a:ln/>
        </p:spPr>
        <p:txBody>
          <a:bodyPr wrap="square" lIns="0" tIns="0" rIns="0" bIns="0" rtlCol="0" anchor="ctr"/>
          <a:lstStyle/>
          <a:p>
            <a:pPr marL="0" indent="0">
              <a:buNone/>
            </a:pPr>
            <a:r>
              <a:rPr lang="en-US" sz="1000" dirty="0">
                <a:solidFill>
                  <a:srgbClr val="CAD3E0"/>
                </a:solidFill>
                <a:latin typeface="Calibri" pitchFamily="34" charset="0"/>
                <a:ea typeface="Calibri" pitchFamily="34" charset="-122"/>
                <a:cs typeface="Calibri" pitchFamily="34" charset="-120"/>
              </a:rPr>
              <a:t>Naseer, H., Baig, Z. A., &amp; Fahad, A. (2022). GAN-based synthetic data augmentation for enhanced rare-event detection in cybersecurity. Future Generation Computer Systems, 128, 15–28.</a:t>
            </a:r>
            <a:endParaRPr lang="en-US" sz="1000" dirty="0"/>
          </a:p>
        </p:txBody>
      </p:sp>
      <p:sp>
        <p:nvSpPr>
          <p:cNvPr id="22" name="Shape 20"/>
          <p:cNvSpPr/>
          <p:nvPr/>
        </p:nvSpPr>
        <p:spPr>
          <a:xfrm>
            <a:off x="365760" y="3291840"/>
            <a:ext cx="8412480" cy="0"/>
          </a:xfrm>
          <a:prstGeom prst="line">
            <a:avLst/>
          </a:prstGeom>
          <a:noFill/>
          <a:ln w="3810">
            <a:solidFill>
              <a:srgbClr val="1A3A5C"/>
            </a:solidFill>
            <a:prstDash val="solid"/>
          </a:ln>
        </p:spPr>
      </p:sp>
      <p:sp>
        <p:nvSpPr>
          <p:cNvPr id="23" name="Text 21"/>
          <p:cNvSpPr/>
          <p:nvPr/>
        </p:nvSpPr>
        <p:spPr>
          <a:xfrm>
            <a:off x="365760" y="3319272"/>
            <a:ext cx="8412480" cy="292608"/>
          </a:xfrm>
          <a:prstGeom prst="rect">
            <a:avLst/>
          </a:prstGeom>
          <a:noFill/>
          <a:ln/>
        </p:spPr>
        <p:txBody>
          <a:bodyPr wrap="square" lIns="0" tIns="0" rIns="0" bIns="0" rtlCol="0" anchor="ctr"/>
          <a:lstStyle/>
          <a:p>
            <a:pPr marL="0" indent="0">
              <a:buNone/>
            </a:pPr>
            <a:r>
              <a:rPr lang="en-US" sz="1000" dirty="0">
                <a:solidFill>
                  <a:srgbClr val="8B9DC3"/>
                </a:solidFill>
                <a:latin typeface="Calibri" pitchFamily="34" charset="0"/>
                <a:ea typeface="Calibri" pitchFamily="34" charset="-122"/>
                <a:cs typeface="Calibri" pitchFamily="34" charset="-120"/>
              </a:rPr>
              <a:t>Sommer, R., &amp; Paxson, V. (2010). Outside the closed world: On using machine learning for network intrusion detection. In IEEE Symposium on Security and Privacy (pp. 305–316). IEEE.</a:t>
            </a:r>
            <a:endParaRPr lang="en-US" sz="1000" dirty="0"/>
          </a:p>
        </p:txBody>
      </p:sp>
      <p:sp>
        <p:nvSpPr>
          <p:cNvPr id="24" name="Shape 22"/>
          <p:cNvSpPr/>
          <p:nvPr/>
        </p:nvSpPr>
        <p:spPr>
          <a:xfrm>
            <a:off x="365760" y="3611880"/>
            <a:ext cx="8412480" cy="0"/>
          </a:xfrm>
          <a:prstGeom prst="line">
            <a:avLst/>
          </a:prstGeom>
          <a:noFill/>
          <a:ln w="3810">
            <a:solidFill>
              <a:srgbClr val="1A3A5C"/>
            </a:solidFill>
            <a:prstDash val="solid"/>
          </a:ln>
        </p:spPr>
      </p:sp>
      <p:sp>
        <p:nvSpPr>
          <p:cNvPr id="25" name="Text 23"/>
          <p:cNvSpPr/>
          <p:nvPr/>
        </p:nvSpPr>
        <p:spPr>
          <a:xfrm>
            <a:off x="365760" y="3639312"/>
            <a:ext cx="8412480" cy="292608"/>
          </a:xfrm>
          <a:prstGeom prst="rect">
            <a:avLst/>
          </a:prstGeom>
          <a:noFill/>
          <a:ln/>
        </p:spPr>
        <p:txBody>
          <a:bodyPr wrap="square" lIns="0" tIns="0" rIns="0" bIns="0" rtlCol="0" anchor="ctr"/>
          <a:lstStyle/>
          <a:p>
            <a:pPr marL="0" indent="0">
              <a:buNone/>
            </a:pPr>
            <a:r>
              <a:rPr lang="en-US" sz="1000" dirty="0">
                <a:solidFill>
                  <a:srgbClr val="CAD3E0"/>
                </a:solidFill>
                <a:latin typeface="Calibri" pitchFamily="34" charset="0"/>
                <a:ea typeface="Calibri" pitchFamily="34" charset="-122"/>
                <a:cs typeface="Calibri" pitchFamily="34" charset="-120"/>
              </a:rPr>
              <a:t>Veeramachaneni, K., Arnaldo, I., Korrapati, V., Bassias, C., &amp; Li, K. (2021). AI^2: Training a big data machine to defend. IEEE Security &amp; Privacy, 14(3), 49–55.</a:t>
            </a:r>
            <a:endParaRPr lang="en-US" sz="1000" dirty="0"/>
          </a:p>
        </p:txBody>
      </p:sp>
      <p:sp>
        <p:nvSpPr>
          <p:cNvPr id="26" name="Shape 24"/>
          <p:cNvSpPr/>
          <p:nvPr/>
        </p:nvSpPr>
        <p:spPr>
          <a:xfrm>
            <a:off x="365760" y="3931920"/>
            <a:ext cx="8412480" cy="0"/>
          </a:xfrm>
          <a:prstGeom prst="line">
            <a:avLst/>
          </a:prstGeom>
          <a:noFill/>
          <a:ln w="3810">
            <a:solidFill>
              <a:srgbClr val="1A3A5C"/>
            </a:solidFill>
            <a:prstDash val="solid"/>
          </a:ln>
        </p:spPr>
      </p:sp>
      <p:sp>
        <p:nvSpPr>
          <p:cNvPr id="27" name="Text 25"/>
          <p:cNvSpPr/>
          <p:nvPr/>
        </p:nvSpPr>
        <p:spPr>
          <a:xfrm>
            <a:off x="365760" y="3959352"/>
            <a:ext cx="8412480" cy="292608"/>
          </a:xfrm>
          <a:prstGeom prst="rect">
            <a:avLst/>
          </a:prstGeom>
          <a:noFill/>
          <a:ln/>
        </p:spPr>
        <p:txBody>
          <a:bodyPr wrap="square" lIns="0" tIns="0" rIns="0" bIns="0" rtlCol="0" anchor="ctr"/>
          <a:lstStyle/>
          <a:p>
            <a:pPr marL="0" indent="0">
              <a:buNone/>
            </a:pPr>
            <a:r>
              <a:rPr lang="en-US" sz="1000" dirty="0">
                <a:solidFill>
                  <a:srgbClr val="8B9DC3"/>
                </a:solidFill>
                <a:latin typeface="Calibri" pitchFamily="34" charset="0"/>
                <a:ea typeface="Calibri" pitchFamily="34" charset="-122"/>
                <a:cs typeface="Calibri" pitchFamily="34" charset="-120"/>
              </a:rPr>
              <a:t>Cybersecurity Ventures. (2023). Cybercrime magazine — 2023 cybercrime report. https://cybersecurityventures.com/cybercrime-report/</a:t>
            </a:r>
            <a:endParaRPr lang="en-US" sz="1000" dirty="0"/>
          </a:p>
        </p:txBody>
      </p:sp>
      <p:sp>
        <p:nvSpPr>
          <p:cNvPr id="28" name="Shape 26"/>
          <p:cNvSpPr/>
          <p:nvPr/>
        </p:nvSpPr>
        <p:spPr>
          <a:xfrm>
            <a:off x="365760" y="4251960"/>
            <a:ext cx="8412480" cy="0"/>
          </a:xfrm>
          <a:prstGeom prst="line">
            <a:avLst/>
          </a:prstGeom>
          <a:noFill/>
          <a:ln w="3810">
            <a:solidFill>
              <a:srgbClr val="1A3A5C"/>
            </a:solidFill>
            <a:prstDash val="solid"/>
          </a:ln>
        </p:spPr>
      </p:sp>
      <p:sp>
        <p:nvSpPr>
          <p:cNvPr id="29" name="Text 27"/>
          <p:cNvSpPr/>
          <p:nvPr/>
        </p:nvSpPr>
        <p:spPr>
          <a:xfrm>
            <a:off x="365760" y="4279392"/>
            <a:ext cx="8412480" cy="292608"/>
          </a:xfrm>
          <a:prstGeom prst="rect">
            <a:avLst/>
          </a:prstGeom>
          <a:noFill/>
          <a:ln/>
        </p:spPr>
        <p:txBody>
          <a:bodyPr wrap="square" lIns="0" tIns="0" rIns="0" bIns="0" rtlCol="0" anchor="ctr"/>
          <a:lstStyle/>
          <a:p>
            <a:pPr marL="0" indent="0">
              <a:buNone/>
            </a:pPr>
            <a:r>
              <a:rPr lang="en-US" sz="1000" dirty="0">
                <a:solidFill>
                  <a:srgbClr val="CAD3E0"/>
                </a:solidFill>
                <a:latin typeface="Calibri" pitchFamily="34" charset="0"/>
                <a:ea typeface="Calibri" pitchFamily="34" charset="-122"/>
                <a:cs typeface="Calibri" pitchFamily="34" charset="-120"/>
              </a:rPr>
              <a:t>National Institute of Standards and Technology. (2018). Framework for improving critical infrastructure cybersecurity (Version 1.1). U.S. Department of Commerce.</a:t>
            </a:r>
            <a:endParaRPr lang="en-US" sz="1000" dirty="0"/>
          </a:p>
        </p:txBody>
      </p:sp>
      <p:sp>
        <p:nvSpPr>
          <p:cNvPr id="30" name="Shape 28"/>
          <p:cNvSpPr/>
          <p:nvPr/>
        </p:nvSpPr>
        <p:spPr>
          <a:xfrm>
            <a:off x="365760" y="4572000"/>
            <a:ext cx="8412480" cy="0"/>
          </a:xfrm>
          <a:prstGeom prst="line">
            <a:avLst/>
          </a:prstGeom>
          <a:noFill/>
          <a:ln w="3810">
            <a:solidFill>
              <a:srgbClr val="1A3A5C"/>
            </a:solidFill>
            <a:prstDash val="solid"/>
          </a:ln>
        </p:spPr>
      </p:sp>
      <p:sp>
        <p:nvSpPr>
          <p:cNvPr id="31" name="Text 29"/>
          <p:cNvSpPr/>
          <p:nvPr/>
        </p:nvSpPr>
        <p:spPr>
          <a:xfrm>
            <a:off x="365760" y="4599432"/>
            <a:ext cx="8412480" cy="292608"/>
          </a:xfrm>
          <a:prstGeom prst="rect">
            <a:avLst/>
          </a:prstGeom>
          <a:noFill/>
          <a:ln/>
        </p:spPr>
        <p:txBody>
          <a:bodyPr wrap="square" lIns="0" tIns="0" rIns="0" bIns="0" rtlCol="0" anchor="ctr"/>
          <a:lstStyle/>
          <a:p>
            <a:pPr marL="0" indent="0">
              <a:buNone/>
            </a:pPr>
            <a:r>
              <a:rPr lang="en-US" sz="1000" dirty="0">
                <a:solidFill>
                  <a:srgbClr val="8B9DC3"/>
                </a:solidFill>
                <a:latin typeface="Calibri" pitchFamily="34" charset="0"/>
                <a:ea typeface="Calibri" pitchFamily="34" charset="-122"/>
                <a:cs typeface="Calibri" pitchFamily="34" charset="-120"/>
              </a:rPr>
              <a:t>Gartner. (2023). Market guide for AI-based cybersecurity products. Gartner Research.</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5B4D8D8C-DC6E-0F47-3A68-C2EA8B27F3EC}"/>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8AAE88B6-C5E3-ADB3-3AA4-1232FFE5914E}"/>
              </a:ext>
            </a:extLst>
          </p:cNvPr>
          <p:cNvSpPr/>
          <p:nvPr/>
        </p:nvSpPr>
        <p:spPr>
          <a:xfrm>
            <a:off x="2821063" y="1798423"/>
            <a:ext cx="3102359" cy="505289"/>
          </a:xfrm>
          <a:prstGeom prst="rect">
            <a:avLst/>
          </a:prstGeom>
          <a:noFill/>
          <a:ln/>
        </p:spPr>
        <p:txBody>
          <a:bodyPr wrap="square" lIns="0" tIns="0" rIns="0" bIns="0" rtlCol="0" anchor="ctr"/>
          <a:lstStyle/>
          <a:p>
            <a:pPr marL="0" indent="0" algn="ctr">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6" name="Shape 4">
            <a:extLst>
              <a:ext uri="{FF2B5EF4-FFF2-40B4-BE49-F238E27FC236}">
                <a16:creationId xmlns:a16="http://schemas.microsoft.com/office/drawing/2014/main" id="{1CC5F94A-3506-F623-002D-B102020C9371}"/>
              </a:ext>
            </a:extLst>
          </p:cNvPr>
          <p:cNvSpPr/>
          <p:nvPr/>
        </p:nvSpPr>
        <p:spPr>
          <a:xfrm>
            <a:off x="0" y="4983480"/>
            <a:ext cx="9144000" cy="160020"/>
          </a:xfrm>
          <a:prstGeom prst="rect">
            <a:avLst/>
          </a:prstGeom>
          <a:solidFill>
            <a:srgbClr val="0D2B55"/>
          </a:solidFill>
          <a:ln w="12700">
            <a:solidFill>
              <a:srgbClr val="0D2B55"/>
            </a:solidFill>
            <a:prstDash val="solid"/>
          </a:ln>
        </p:spPr>
      </p:sp>
      <p:sp>
        <p:nvSpPr>
          <p:cNvPr id="7" name="Text 5">
            <a:extLst>
              <a:ext uri="{FF2B5EF4-FFF2-40B4-BE49-F238E27FC236}">
                <a16:creationId xmlns:a16="http://schemas.microsoft.com/office/drawing/2014/main" id="{94A67C23-03D5-4EC0-58B9-7273DBA8A8CC}"/>
              </a:ext>
            </a:extLst>
          </p:cNvPr>
          <p:cNvSpPr/>
          <p:nvPr/>
        </p:nvSpPr>
        <p:spPr>
          <a:xfrm>
            <a:off x="182880" y="4992624"/>
            <a:ext cx="8778240" cy="137160"/>
          </a:xfrm>
          <a:prstGeom prst="rect">
            <a:avLst/>
          </a:prstGeom>
          <a:noFill/>
          <a:ln/>
        </p:spPr>
        <p:txBody>
          <a:bodyPr wrap="square" rtlCol="0" anchor="ctr"/>
          <a:lstStyle/>
          <a:p>
            <a:pPr marL="0" indent="0" algn="ctr">
              <a:buNone/>
            </a:pPr>
            <a:r>
              <a:rPr lang="en-US" sz="900" dirty="0">
                <a:solidFill>
                  <a:srgbClr val="8B9DC3"/>
                </a:solidFill>
                <a:latin typeface="Calibri" pitchFamily="34" charset="0"/>
                <a:ea typeface="Calibri" pitchFamily="34" charset="-122"/>
                <a:cs typeface="Calibri" pitchFamily="34" charset="-120"/>
              </a:rPr>
              <a:t>The Role of AI in Enhancing Cybersecurity Measures  |  23ONMBR-767</a:t>
            </a:r>
            <a:endParaRPr lang="en-US" sz="900" dirty="0"/>
          </a:p>
        </p:txBody>
      </p:sp>
    </p:spTree>
    <p:extLst>
      <p:ext uri="{BB962C8B-B14F-4D97-AF65-F5344CB8AC3E}">
        <p14:creationId xmlns:p14="http://schemas.microsoft.com/office/powerpoint/2010/main" val="35063165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7021</Words>
  <Application>Microsoft Office PowerPoint</Application>
  <PresentationFormat>On-screen Show (16:9)</PresentationFormat>
  <Paragraphs>801</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Role of AI in Enhancing Cybersecurity Measures</dc:title>
  <dc:subject>PptxGenJS Presentation</dc:subject>
  <dc:creator>Academic Research Project</dc:creator>
  <cp:lastModifiedBy>Neeraj Shrivastava</cp:lastModifiedBy>
  <cp:revision>37</cp:revision>
  <dcterms:created xsi:type="dcterms:W3CDTF">2026-03-22T07:17:53Z</dcterms:created>
  <dcterms:modified xsi:type="dcterms:W3CDTF">2026-04-09T15:42:19Z</dcterms:modified>
</cp:coreProperties>
</file>